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edf269e9-d1cd-fd78-c185-118ff34b4033}">
          <p14:sldIdLst>
            <p14:sldId id="256"/>
            <p14:sldId id="257"/>
            <p14:sldId id="258"/>
            <p14:sldId id="259"/>
          </p14:sldIdLst>
        </p14:section>
        <p14:section name="Chương 1" id="{c61f798b-d9ab-de0f-b74f-dfeb8e059a0a}">
          <p14:sldIdLst>
            <p14:sldId id="260"/>
            <p14:sldId id="261"/>
            <p14:sldId id="262"/>
            <p14:sldId id="263"/>
            <p14:sldId id="264"/>
            <p14:sldId id="265"/>
          </p14:sldIdLst>
        </p14:section>
        <p14:section name="Chương 2" id="{55c0bf3f-8a0b-38f6-1802-865b2d7418a6}">
          <p14:sldIdLst>
            <p14:sldId id="266"/>
            <p14:sldId id="267"/>
            <p14:sldId id="268"/>
            <p14:sldId id="269"/>
            <p14:sldId id="270"/>
            <p14:sldId id="271"/>
            <p14:sldId id="272"/>
            <p14:sldId id="273"/>
          </p14:sldIdLst>
        </p14:section>
        <p14:section name="Kế hoạch tiếp theo" id="{9e6925da-4164-7837-ca2b-2b7bf0ac4266}">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Cô và các bạn. Nhóm em xin trình bày đề tài: Hệ hỗ trợ quyết định dựa trên tri thức cho định giá xe ô tô cũ tại thị trường Việt Nam. Phần trình bày tập trung vào Chương 1 (cơ sở lý thuyết) và Chương 2 (phân tích, thiết kế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trình bày gồm bốn phần: đặt vấn đề, Chương 1 về cơ sở lý thuyết, Chương 2 về phân tích thiết kế, và kế hoạch cho Chương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Thị trường xe cũ sôi động nhưng định giá còn khó vì ba lý do: giá phân tán, định giá dựa vào kinh nghiệm cá nhân, và mô hình học máy không giải thích được. Vì vậy nhóm hướng tới một hệ hỗ trợ quyết định dựa trên tri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dùng nhập thông tin xe; hệ thống kết hợp ba kênh suy luận và trả về khoảng giá, độ tin cậy, cảnh báo và lời giải thích. Phạm vi là xe du lịch dưới 9 chỗ.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 đã giới thiệu sáu mô hình hệ thống thông minh dựa trên tri thức. Đề tài chọn kiến trúc lai: hệ chuyên gia và CBR là hai trục chính, khai phá dữ liệu hỗ trợ; ba mô hình còn lại là hướng mở rộng.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chuyên gia gồm cơ sở tri thức, máy suy diễn, giao diện cùng bộ phận giải thích và thu nhận tri thức. Tri thức biểu diễn bằng luật IF–THEN. Suy diễn tiến dùng để tính giá; suy diễn lùi để hỏi bổ sung và giải thích.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CBR giải bài toán mới bằng tình huống cũ tương tự theo chu trình 4R của Aamodt và Plaza. Điểm kết hợp của đề tài: bước Reuse dùng chính hệ số của tập luật để điều chỉnh giá xe tương tự.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Khai phá dữ liệu giúp làm sạch dữ liệu, hiệu chỉnh hệ số luật và xây dựng mô hình đối chứng. DSS gồm bốn hệ thống con; khi tri thức giữ vai trò trung tâm ta có KB-DSS – phù hợp vì người dùng cần biết vì sao có mức giá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tổng hợp tám nhóm yếu tố ảnh hưởng đến giá xe cũ – cơ sở cho các khe của khung tri thức và các nhóm luật ở Chương 2. Các phương pháp hiện nay chưa đồng thời nhanh, nhất quán và giải thích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Chương 1, nhóm chọn hướng tiếp cận lai: luật chuyên gia đảm bảo minh bạch, CBR bám sát thị trường, khai phá dữ liệu để hiệu chỉnh và kiểm chứng chéo. Đây là cầu nối sang Chương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có ba tác nhân. Use case trọng tâm là Định giá xe, bao gồm Nhập thông tin xe và được mở rộng bởi Xem giải thích, Xem xe tương tự. Mỗi lần sửa luật, hệ thống tự kiểm tra mâu thuẫn, trùng lặp.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ba tầng. Tầng xử lý có bộ suy luận lai: máy suy diễn luật cung cấp hệ số cho CBR; Random Forest chạy song song để đối chứng; bộ tổng hợp hợp nhất kết quả. Tri thức lưu tách khỏi mã nguồn.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xe được biểu diễn bằng khung XE; các khe dẫn xuất như tuổi xe, km chuẩn tính bằng thủ tục if-needed. Giá theo luật = giá xe mới nhân các hệ số do 25 luật suy ra. Hệ số hiện là giá trị khởi tạo, sẽ hiệu chỉnh bằng dữ liệu ở Chương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số luật tiêu biểu; hai dòng tô màu là luật rủi ro và cảnh báo. Siêu luật: luật cùng nhóm tuổi, km loại trừ nhau; luật rủi ro ưu tiên cao nhất và không nhân dồn; luật trần giá xét sau cùng. Luật lưu dạng JSON nên sửa được mà không lập trình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tình huống là một xe đã rao bán hoặc giao dịch. Độ tương tự dùng 8 thuộc tính có trọng số. Sau khi truy hồi 5 xe gần nhất, giá từng xe được điều chỉnh về điều kiện xe cần định giá bằng hệ số của tập luật, rồi lấy trung bình có trọng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Giá đề xuất là tổ hợp của giá theo luật và giá theo CBR. α phụ thuộc chất lượng tình huống. Khoảng giá tính theo độ phân tán; mức độ tin cậy có ba bậc; Random Forest dùng để kiểm chứng chéo.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chiếc Vios 2019: tuổi xe 7, km chuẩn 105.000 nên số km bình thường. Năm luật kích hoạt cho giá theo luật khoảng 353,7 triệu. CBR truy hồi 5 xe tương tự, cho 364,1 triệu. Độ tương tự trung bình 0,93 nên α = 0,4; giá đề xuất khoảng 360 triệu, khoảng giá 342–378 triệu, độ tin cậy cao. Số liệu là giả định để minh họa.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Luồng định giá gồm năm bước. Nếu thiếu thông tin bắt buộc, hệ thống dùng suy diễn lùi để hỏi thêm. Ba kênh suy luận chạy song song. Kết quả luôn kèm giải thích; khi có giá giao dịch thực tế, xe được lưu thành tình huống mới.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sẽ cài đặt bằng Python với các thư viện phổ biến. Chương 3 gồm năm bước, từ thu thập dữ liệu đến demo. Chỉ tiêu: sai số phần trăm dưới 12%, mọi kết quả có giải thích, phản hồi dưới 2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em xin cảm ơn Cô và các bạn đã lắng nghe. Nhóm rất mong nhận được góp ý để hoàn thiện đề tài.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411480"/>
            <a:ext cx="10817352" cy="365760"/>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685800" y="777240"/>
            <a:ext cx="10817352"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TI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411480"/>
            <a:ext cx="10817352" cy="365760"/>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685800" y="777240"/>
            <a:ext cx="10817352"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828800"/>
            <a:ext cx="10817352" cy="20116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463040"/>
            <a:ext cx="10817352" cy="17373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685800"/>
            <a:ext cx="10817352" cy="365760"/>
          </a:xfrm>
          <a:prstGeom prst="rect">
            <a:avLst/>
          </a:prstGeom>
          <a:noFill/>
          <a:ln/>
        </p:spPr>
        <p:txBody>
          <a:bodyPr wrap="square" lIns="0" tIns="0" rIns="0" bIns="0" rtlCol="0" anchor="t"/>
          <a:lstStyle/>
          <a:p>
            <a:pPr indent="0" marL="0">
              <a:buNone/>
            </a:pPr>
            <a:r>
              <a:rPr lang="en-US" sz="1300" b="1" spc="200" kern="0" dirty="0">
                <a:solidFill>
                  <a:schemeClr val="accent4"/>
                </a:solidFill>
              </a:rPr>
              <a:t>BÁO CÁO BÀI TẬP LỚN · HỌC PHẦN CÔNG NGHỆ TRI THỨC</a:t>
            </a:r>
            <a:endParaRPr lang="en-US" sz="1300" dirty="0"/>
          </a:p>
        </p:txBody>
      </p:sp>
      <p:sp>
        <p:nvSpPr>
          <p:cNvPr id="3" name="Text 0"/>
          <p:cNvSpPr/>
          <p:nvPr>
            <p:ph idx="100" type="title" hasCustomPrompt="1"/>
          </p:nvPr>
        </p:nvSpPr>
        <p:spPr>
          <a:xfrm>
            <a:off x="685800" y="1828800"/>
            <a:ext cx="10817352" cy="2011680"/>
          </a:xfrm>
          <a:prstGeom prst="rect">
            <a:avLst/>
          </a:prstGeom>
          <a:noFill/>
          <a:ln/>
        </p:spPr>
        <p:txBody>
          <a:bodyPr wrap="square" lIns="0" tIns="0" rIns="0" bIns="0" rtlCol="0" anchor="ctr"/>
          <a:lstStyle/>
          <a:p>
            <a:pPr algn="l" indent="0" marL="0">
              <a:buNone/>
            </a:pPr>
            <a:r>
              <a:rPr lang="en-US" sz="4000" b="1" dirty="0">
                <a:solidFill>
                  <a:schemeClr val="bg1"/>
                </a:solidFill>
              </a:rPr>
              <a:t>Hệ hỗ trợ quyết định dựa trên tri thức cho định giá xe ô tô cũ tại thị trường Việt Nam</a:t>
            </a:r>
            <a:endParaRPr lang="en-US" sz="4000" dirty="0"/>
          </a:p>
        </p:txBody>
      </p:sp>
      <p:sp>
        <p:nvSpPr>
          <p:cNvPr id="4" name="Text 2"/>
          <p:cNvSpPr txBox="1"/>
          <p:nvPr/>
        </p:nvSpPr>
        <p:spPr>
          <a:xfrm>
            <a:off x="685800" y="3977640"/>
            <a:ext cx="10817352" cy="457200"/>
          </a:xfrm>
          <a:prstGeom prst="rect">
            <a:avLst/>
          </a:prstGeom>
          <a:noFill/>
          <a:ln/>
        </p:spPr>
        <p:txBody>
          <a:bodyPr wrap="square" lIns="0" tIns="0" rIns="0" bIns="0" rtlCol="0" anchor="t"/>
          <a:lstStyle/>
          <a:p>
            <a:pPr indent="0" marL="0">
              <a:buNone/>
            </a:pPr>
            <a:r>
              <a:rPr lang="en-US" sz="1800" dirty="0">
                <a:solidFill>
                  <a:schemeClr val="accent5"/>
                </a:solidFill>
              </a:rPr>
              <a:t>Kết hợp hệ chuyên gia, lập luận dựa trên tình huống và khai phá dữ liệu</a:t>
            </a:r>
            <a:endParaRPr lang="en-US" sz="1800" dirty="0"/>
          </a:p>
        </p:txBody>
      </p:sp>
      <p:sp>
        <p:nvSpPr>
          <p:cNvPr id="5" name="Text 3"/>
          <p:cNvSpPr txBox="1"/>
          <p:nvPr/>
        </p:nvSpPr>
        <p:spPr>
          <a:xfrm>
            <a:off x="685800" y="5349240"/>
            <a:ext cx="6858000" cy="777240"/>
          </a:xfrm>
          <a:prstGeom prst="rect">
            <a:avLst/>
          </a:prstGeom>
          <a:noFill/>
          <a:ln/>
        </p:spPr>
        <p:txBody>
          <a:bodyPr wrap="square" lIns="0" tIns="0" rIns="0" bIns="0" rtlCol="0" anchor="b"/>
          <a:lstStyle/>
          <a:p>
            <a:pPr indent="0" marL="0">
              <a:spcAft>
                <a:spcPts val="400"/>
              </a:spcAft>
              <a:buNone/>
            </a:pPr>
            <a:r>
              <a:rPr lang="en-US" sz="1600" dirty="0">
                <a:solidFill>
                  <a:schemeClr val="bg1"/>
                </a:solidFill>
              </a:rPr>
              <a:t>Giảng viên hướng dẫn: </a:t>
            </a:r>
            <a:pPr indent="0" marL="0">
              <a:spcAft>
                <a:spcPts val="400"/>
              </a:spcAft>
              <a:buNone/>
            </a:pPr>
            <a:r>
              <a:rPr lang="en-US" sz="1600" b="1" dirty="0">
                <a:solidFill>
                  <a:schemeClr val="bg1"/>
                </a:solidFill>
              </a:rPr>
              <a:t>TS. Nguyễn Thị Mỹ Bình</a:t>
            </a:r>
            <a:endParaRPr lang="en-US" sz="1600" dirty="0"/>
          </a:p>
          <a:p>
            <a:pPr indent="0" marL="0">
              <a:spcAft>
                <a:spcPts val="400"/>
              </a:spcAft>
              <a:buNone/>
            </a:pPr>
            <a:r>
              <a:rPr lang="en-US" sz="1400" dirty="0">
                <a:solidFill>
                  <a:schemeClr val="accent5"/>
                </a:solidFill>
              </a:rPr>
              <a:t>Nhóm [__] · Lớp [__] · [Họ tên các thành viên]</a:t>
            </a:r>
            <a:endParaRPr lang="en-US" sz="1600" dirty="0"/>
          </a:p>
        </p:txBody>
      </p:sp>
      <p:sp>
        <p:nvSpPr>
          <p:cNvPr id="6" name="Text 4"/>
          <p:cNvSpPr txBox="1"/>
          <p:nvPr/>
        </p:nvSpPr>
        <p:spPr>
          <a:xfrm>
            <a:off x="7863840" y="5349240"/>
            <a:ext cx="3639312" cy="777240"/>
          </a:xfrm>
          <a:prstGeom prst="rect">
            <a:avLst/>
          </a:prstGeom>
          <a:noFill/>
          <a:ln/>
        </p:spPr>
        <p:txBody>
          <a:bodyPr wrap="square" lIns="0" tIns="0" rIns="0" bIns="0" rtlCol="0" anchor="b"/>
          <a:lstStyle/>
          <a:p>
            <a:pPr algn="r" indent="0" marL="0">
              <a:buNone/>
            </a:pPr>
            <a:r>
              <a:rPr lang="en-US" sz="1400" dirty="0">
                <a:solidFill>
                  <a:schemeClr val="accent5"/>
                </a:solidFill>
              </a:rPr>
              <a:t>Trường Đại học Công nghiệp Hà Nội</a:t>
            </a:r>
            <a:endParaRPr lang="en-US" sz="1400" dirty="0"/>
          </a:p>
          <a:p>
            <a:pPr algn="r" indent="0" marL="0">
              <a:buNone/>
            </a:pPr>
            <a:r>
              <a:rPr lang="en-US" sz="1400" dirty="0">
                <a:solidFill>
                  <a:schemeClr val="accent5"/>
                </a:solidFill>
              </a:rPr>
              <a:t>Hà Nội,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411480"/>
            <a:ext cx="10817352" cy="36576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NỘI DUNG TRÌNH BÀY</a:t>
            </a:r>
            <a:endParaRPr lang="en-US" sz="1200" dirty="0"/>
          </a:p>
        </p:txBody>
      </p:sp>
      <p:sp>
        <p:nvSpPr>
          <p:cNvPr id="3" name="Text 0"/>
          <p:cNvSpPr/>
          <p:nvPr>
            <p:ph idx="101" type="title" hasCustomPrompt="1"/>
          </p:nvPr>
        </p:nvSpPr>
        <p:spPr>
          <a:xfrm>
            <a:off x="685800" y="777240"/>
            <a:ext cx="10817352" cy="731520"/>
          </a:xfrm>
          <a:prstGeom prst="rect">
            <a:avLst/>
          </a:prstGeom>
          <a:noFill/>
          <a:ln/>
        </p:spPr>
        <p:txBody>
          <a:bodyPr wrap="square" lIns="0" tIns="0" rIns="0" bIns="0" rtlCol="0" anchor="ctr"/>
          <a:lstStyle/>
          <a:p>
            <a:pPr algn="l" indent="0" marL="0">
              <a:buNone/>
            </a:pPr>
            <a:r>
              <a:rPr lang="en-US" sz="3000" b="1" dirty="0">
                <a:solidFill>
                  <a:schemeClr val="tx1"/>
                </a:solidFill>
              </a:rPr>
              <a:t>Bốn phần chính</a:t>
            </a:r>
            <a:endParaRPr lang="en-US" sz="3000" dirty="0"/>
          </a:p>
        </p:txBody>
      </p:sp>
      <p:sp>
        <p:nvSpPr>
          <p:cNvPr id="4" name="Muc 1"/>
          <p:cNvSpPr/>
          <p:nvPr/>
        </p:nvSpPr>
        <p:spPr>
          <a:xfrm>
            <a:off x="685800" y="1783080"/>
            <a:ext cx="10817352" cy="914400"/>
          </a:xfrm>
          <a:prstGeom prst="roundRect">
            <a:avLst>
              <a:gd name="adj" fmla="val 8000"/>
            </a:avLst>
          </a:prstGeom>
          <a:solidFill>
            <a:schemeClr val="bg2"/>
          </a:solidFill>
          <a:ln/>
        </p:spPr>
      </p:sp>
      <p:sp>
        <p:nvSpPr>
          <p:cNvPr id="5" name="So 01"/>
          <p:cNvSpPr/>
          <p:nvPr/>
        </p:nvSpPr>
        <p:spPr>
          <a:xfrm>
            <a:off x="960120" y="1965960"/>
            <a:ext cx="548640" cy="548640"/>
          </a:xfrm>
          <a:prstGeom prst="ellipse">
            <a:avLst/>
          </a:prstGeom>
          <a:solidFill>
            <a:schemeClr val="accent1"/>
          </a:solidFill>
          <a:ln/>
        </p:spPr>
      </p:sp>
      <p:sp>
        <p:nvSpPr>
          <p:cNvPr id="6" name="Text 4"/>
          <p:cNvSpPr txBox="1"/>
          <p:nvPr/>
        </p:nvSpPr>
        <p:spPr>
          <a:xfrm>
            <a:off x="960120" y="196596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01</a:t>
            </a:r>
            <a:endParaRPr lang="en-US" sz="1500" dirty="0"/>
          </a:p>
        </p:txBody>
      </p:sp>
      <p:sp>
        <p:nvSpPr>
          <p:cNvPr id="7" name="Text 5"/>
          <p:cNvSpPr txBox="1"/>
          <p:nvPr/>
        </p:nvSpPr>
        <p:spPr>
          <a:xfrm>
            <a:off x="1783080" y="1911096"/>
            <a:ext cx="9418320" cy="365760"/>
          </a:xfrm>
          <a:prstGeom prst="rect">
            <a:avLst/>
          </a:prstGeom>
          <a:noFill/>
          <a:ln/>
        </p:spPr>
        <p:txBody>
          <a:bodyPr wrap="square" lIns="0" tIns="0" rIns="0" bIns="0" rtlCol="0" anchor="ctr"/>
          <a:lstStyle/>
          <a:p>
            <a:pPr indent="0" marL="0">
              <a:buNone/>
            </a:pPr>
            <a:r>
              <a:rPr lang="en-US" sz="1900" b="1" dirty="0">
                <a:solidFill>
                  <a:schemeClr val="tx1"/>
                </a:solidFill>
              </a:rPr>
              <a:t>Đặt vấn đề</a:t>
            </a:r>
            <a:endParaRPr lang="en-US" sz="1900" dirty="0"/>
          </a:p>
        </p:txBody>
      </p:sp>
      <p:sp>
        <p:nvSpPr>
          <p:cNvPr id="8" name="Text 6"/>
          <p:cNvSpPr txBox="1"/>
          <p:nvPr/>
        </p:nvSpPr>
        <p:spPr>
          <a:xfrm>
            <a:off x="1783080" y="2276856"/>
            <a:ext cx="9418320" cy="320040"/>
          </a:xfrm>
          <a:prstGeom prst="rect">
            <a:avLst/>
          </a:prstGeom>
          <a:noFill/>
          <a:ln/>
        </p:spPr>
        <p:txBody>
          <a:bodyPr wrap="square" lIns="0" tIns="0" rIns="0" bIns="0" rtlCol="0" anchor="t"/>
          <a:lstStyle/>
          <a:p>
            <a:pPr indent="0" marL="0">
              <a:buNone/>
            </a:pPr>
            <a:r>
              <a:rPr lang="en-US" sz="1500" dirty="0">
                <a:solidFill>
                  <a:schemeClr val="tx2"/>
                </a:solidFill>
              </a:rPr>
              <a:t>Bài toán định giá xe ô tô cũ, mục tiêu và phạm vi đề tài</a:t>
            </a:r>
            <a:endParaRPr lang="en-US" sz="1500" dirty="0"/>
          </a:p>
        </p:txBody>
      </p:sp>
      <p:sp>
        <p:nvSpPr>
          <p:cNvPr id="9" name="Muc 2"/>
          <p:cNvSpPr/>
          <p:nvPr/>
        </p:nvSpPr>
        <p:spPr>
          <a:xfrm>
            <a:off x="685800" y="2880360"/>
            <a:ext cx="10817352" cy="914400"/>
          </a:xfrm>
          <a:prstGeom prst="roundRect">
            <a:avLst>
              <a:gd name="adj" fmla="val 8000"/>
            </a:avLst>
          </a:prstGeom>
          <a:solidFill>
            <a:schemeClr val="bg2"/>
          </a:solidFill>
          <a:ln/>
        </p:spPr>
      </p:sp>
      <p:sp>
        <p:nvSpPr>
          <p:cNvPr id="10" name="So 02"/>
          <p:cNvSpPr/>
          <p:nvPr/>
        </p:nvSpPr>
        <p:spPr>
          <a:xfrm>
            <a:off x="960120" y="3063240"/>
            <a:ext cx="548640" cy="548640"/>
          </a:xfrm>
          <a:prstGeom prst="ellipse">
            <a:avLst/>
          </a:prstGeom>
          <a:solidFill>
            <a:schemeClr val="accent1"/>
          </a:solidFill>
          <a:ln/>
        </p:spPr>
      </p:sp>
      <p:sp>
        <p:nvSpPr>
          <p:cNvPr id="11" name="Text 9"/>
          <p:cNvSpPr txBox="1"/>
          <p:nvPr/>
        </p:nvSpPr>
        <p:spPr>
          <a:xfrm>
            <a:off x="960120" y="306324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02</a:t>
            </a:r>
            <a:endParaRPr lang="en-US" sz="1500" dirty="0"/>
          </a:p>
        </p:txBody>
      </p:sp>
      <p:sp>
        <p:nvSpPr>
          <p:cNvPr id="12" name="Text 10"/>
          <p:cNvSpPr txBox="1"/>
          <p:nvPr/>
        </p:nvSpPr>
        <p:spPr>
          <a:xfrm>
            <a:off x="1783080" y="3008376"/>
            <a:ext cx="9418320" cy="365760"/>
          </a:xfrm>
          <a:prstGeom prst="rect">
            <a:avLst/>
          </a:prstGeom>
          <a:noFill/>
          <a:ln/>
        </p:spPr>
        <p:txBody>
          <a:bodyPr wrap="square" lIns="0" tIns="0" rIns="0" bIns="0" rtlCol="0" anchor="ctr"/>
          <a:lstStyle/>
          <a:p>
            <a:pPr indent="0" marL="0">
              <a:buNone/>
            </a:pPr>
            <a:r>
              <a:rPr lang="en-US" sz="1900" b="1" dirty="0">
                <a:solidFill>
                  <a:schemeClr val="tx1"/>
                </a:solidFill>
              </a:rPr>
              <a:t>Chương 1 – Tìm hiểu công nghệ tri thức và ứng dụng</a:t>
            </a:r>
            <a:endParaRPr lang="en-US" sz="1900" dirty="0"/>
          </a:p>
        </p:txBody>
      </p:sp>
      <p:sp>
        <p:nvSpPr>
          <p:cNvPr id="13" name="Text 11"/>
          <p:cNvSpPr txBox="1"/>
          <p:nvPr/>
        </p:nvSpPr>
        <p:spPr>
          <a:xfrm>
            <a:off x="1783080" y="3374136"/>
            <a:ext cx="9418320" cy="320040"/>
          </a:xfrm>
          <a:prstGeom prst="rect">
            <a:avLst/>
          </a:prstGeom>
          <a:noFill/>
          <a:ln/>
        </p:spPr>
        <p:txBody>
          <a:bodyPr wrap="square" lIns="0" tIns="0" rIns="0" bIns="0" rtlCol="0" anchor="t"/>
          <a:lstStyle/>
          <a:p>
            <a:pPr indent="0" marL="0">
              <a:buNone/>
            </a:pPr>
            <a:r>
              <a:rPr lang="en-US" sz="1500" dirty="0">
                <a:solidFill>
                  <a:schemeClr val="tx2"/>
                </a:solidFill>
              </a:rPr>
              <a:t>Hệ chuyên gia, CBR, khai phá dữ liệu, DSS và khảo sát miền bài toán</a:t>
            </a:r>
            <a:endParaRPr lang="en-US" sz="1500" dirty="0"/>
          </a:p>
        </p:txBody>
      </p:sp>
      <p:sp>
        <p:nvSpPr>
          <p:cNvPr id="14" name="Muc 3"/>
          <p:cNvSpPr/>
          <p:nvPr/>
        </p:nvSpPr>
        <p:spPr>
          <a:xfrm>
            <a:off x="685800" y="3977640"/>
            <a:ext cx="10817352" cy="914400"/>
          </a:xfrm>
          <a:prstGeom prst="roundRect">
            <a:avLst>
              <a:gd name="adj" fmla="val 8000"/>
            </a:avLst>
          </a:prstGeom>
          <a:solidFill>
            <a:schemeClr val="bg2"/>
          </a:solidFill>
          <a:ln/>
        </p:spPr>
      </p:sp>
      <p:sp>
        <p:nvSpPr>
          <p:cNvPr id="15" name="So 03"/>
          <p:cNvSpPr/>
          <p:nvPr/>
        </p:nvSpPr>
        <p:spPr>
          <a:xfrm>
            <a:off x="960120" y="4160520"/>
            <a:ext cx="548640" cy="548640"/>
          </a:xfrm>
          <a:prstGeom prst="ellipse">
            <a:avLst/>
          </a:prstGeom>
          <a:solidFill>
            <a:schemeClr val="accent1"/>
          </a:solidFill>
          <a:ln/>
        </p:spPr>
      </p:sp>
      <p:sp>
        <p:nvSpPr>
          <p:cNvPr id="16" name="Text 14"/>
          <p:cNvSpPr txBox="1"/>
          <p:nvPr/>
        </p:nvSpPr>
        <p:spPr>
          <a:xfrm>
            <a:off x="960120" y="416052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03</a:t>
            </a:r>
            <a:endParaRPr lang="en-US" sz="1500" dirty="0"/>
          </a:p>
        </p:txBody>
      </p:sp>
      <p:sp>
        <p:nvSpPr>
          <p:cNvPr id="17" name="Text 15"/>
          <p:cNvSpPr txBox="1"/>
          <p:nvPr/>
        </p:nvSpPr>
        <p:spPr>
          <a:xfrm>
            <a:off x="1783080" y="4105656"/>
            <a:ext cx="9418320" cy="365760"/>
          </a:xfrm>
          <a:prstGeom prst="rect">
            <a:avLst/>
          </a:prstGeom>
          <a:noFill/>
          <a:ln/>
        </p:spPr>
        <p:txBody>
          <a:bodyPr wrap="square" lIns="0" tIns="0" rIns="0" bIns="0" rtlCol="0" anchor="ctr"/>
          <a:lstStyle/>
          <a:p>
            <a:pPr indent="0" marL="0">
              <a:buNone/>
            </a:pPr>
            <a:r>
              <a:rPr lang="en-US" sz="1900" b="1" dirty="0">
                <a:solidFill>
                  <a:schemeClr val="tx1"/>
                </a:solidFill>
              </a:rPr>
              <a:t>Chương 2 – Phân tích và thiết kế hệ thống</a:t>
            </a:r>
            <a:endParaRPr lang="en-US" sz="1900" dirty="0"/>
          </a:p>
        </p:txBody>
      </p:sp>
      <p:sp>
        <p:nvSpPr>
          <p:cNvPr id="18" name="Text 16"/>
          <p:cNvSpPr txBox="1"/>
          <p:nvPr/>
        </p:nvSpPr>
        <p:spPr>
          <a:xfrm>
            <a:off x="1783080" y="4471416"/>
            <a:ext cx="9418320" cy="320040"/>
          </a:xfrm>
          <a:prstGeom prst="rect">
            <a:avLst/>
          </a:prstGeom>
          <a:noFill/>
          <a:ln/>
        </p:spPr>
        <p:txBody>
          <a:bodyPr wrap="square" lIns="0" tIns="0" rIns="0" bIns="0" rtlCol="0" anchor="t"/>
          <a:lstStyle/>
          <a:p>
            <a:pPr indent="0" marL="0">
              <a:buNone/>
            </a:pPr>
            <a:r>
              <a:rPr lang="en-US" sz="1500" dirty="0">
                <a:solidFill>
                  <a:schemeClr val="tx2"/>
                </a:solidFill>
              </a:rPr>
              <a:t>Use case, kiến trúc, cơ sở tri thức, máy suy diễn và ví dụ minh họa</a:t>
            </a:r>
            <a:endParaRPr lang="en-US" sz="1500" dirty="0"/>
          </a:p>
        </p:txBody>
      </p:sp>
      <p:sp>
        <p:nvSpPr>
          <p:cNvPr id="19" name="Muc 4"/>
          <p:cNvSpPr/>
          <p:nvPr/>
        </p:nvSpPr>
        <p:spPr>
          <a:xfrm>
            <a:off x="685800" y="5074920"/>
            <a:ext cx="10817352" cy="914400"/>
          </a:xfrm>
          <a:prstGeom prst="roundRect">
            <a:avLst>
              <a:gd name="adj" fmla="val 8000"/>
            </a:avLst>
          </a:prstGeom>
          <a:solidFill>
            <a:schemeClr val="bg2"/>
          </a:solidFill>
          <a:ln/>
        </p:spPr>
      </p:sp>
      <p:sp>
        <p:nvSpPr>
          <p:cNvPr id="20" name="So 04"/>
          <p:cNvSpPr/>
          <p:nvPr/>
        </p:nvSpPr>
        <p:spPr>
          <a:xfrm>
            <a:off x="960120" y="5257800"/>
            <a:ext cx="548640" cy="548640"/>
          </a:xfrm>
          <a:prstGeom prst="ellipse">
            <a:avLst/>
          </a:prstGeom>
          <a:solidFill>
            <a:schemeClr val="accent1"/>
          </a:solidFill>
          <a:ln/>
        </p:spPr>
      </p:sp>
      <p:sp>
        <p:nvSpPr>
          <p:cNvPr id="21" name="Text 19"/>
          <p:cNvSpPr txBox="1"/>
          <p:nvPr/>
        </p:nvSpPr>
        <p:spPr>
          <a:xfrm>
            <a:off x="960120" y="525780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04</a:t>
            </a:r>
            <a:endParaRPr lang="en-US" sz="1500" dirty="0"/>
          </a:p>
        </p:txBody>
      </p:sp>
      <p:sp>
        <p:nvSpPr>
          <p:cNvPr id="22" name="Text 20"/>
          <p:cNvSpPr txBox="1"/>
          <p:nvPr/>
        </p:nvSpPr>
        <p:spPr>
          <a:xfrm>
            <a:off x="1783080" y="5202936"/>
            <a:ext cx="9418320" cy="365760"/>
          </a:xfrm>
          <a:prstGeom prst="rect">
            <a:avLst/>
          </a:prstGeom>
          <a:noFill/>
          <a:ln/>
        </p:spPr>
        <p:txBody>
          <a:bodyPr wrap="square" lIns="0" tIns="0" rIns="0" bIns="0" rtlCol="0" anchor="ctr"/>
          <a:lstStyle/>
          <a:p>
            <a:pPr indent="0" marL="0">
              <a:buNone/>
            </a:pPr>
            <a:r>
              <a:rPr lang="en-US" sz="1900" b="1" dirty="0">
                <a:solidFill>
                  <a:schemeClr val="tx1"/>
                </a:solidFill>
              </a:rPr>
              <a:t>Kế hoạch tiếp theo</a:t>
            </a:r>
            <a:endParaRPr lang="en-US" sz="1900" dirty="0"/>
          </a:p>
        </p:txBody>
      </p:sp>
      <p:sp>
        <p:nvSpPr>
          <p:cNvPr id="23" name="Text 21"/>
          <p:cNvSpPr txBox="1"/>
          <p:nvPr/>
        </p:nvSpPr>
        <p:spPr>
          <a:xfrm>
            <a:off x="1783080" y="5568696"/>
            <a:ext cx="9418320" cy="320040"/>
          </a:xfrm>
          <a:prstGeom prst="rect">
            <a:avLst/>
          </a:prstGeom>
          <a:noFill/>
          <a:ln/>
        </p:spPr>
        <p:txBody>
          <a:bodyPr wrap="square" lIns="0" tIns="0" rIns="0" bIns="0" rtlCol="0" anchor="t"/>
          <a:lstStyle/>
          <a:p>
            <a:pPr indent="0" marL="0">
              <a:buNone/>
            </a:pPr>
            <a:r>
              <a:rPr lang="en-US" sz="1500" dirty="0">
                <a:solidFill>
                  <a:schemeClr val="tx2"/>
                </a:solidFill>
              </a:rPr>
              <a:t>Thực nghiệm, đánh giá và demo sản phẩm (Chương 3)</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411480"/>
            <a:ext cx="10817352" cy="36576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ĐẶT VẤN ĐỀ</a:t>
            </a:r>
            <a:endParaRPr lang="en-US" sz="1200" dirty="0"/>
          </a:p>
        </p:txBody>
      </p:sp>
      <p:sp>
        <p:nvSpPr>
          <p:cNvPr id="3" name="Text 0"/>
          <p:cNvSpPr/>
          <p:nvPr>
            <p:ph idx="101" type="title" hasCustomPrompt="1"/>
          </p:nvPr>
        </p:nvSpPr>
        <p:spPr>
          <a:xfrm>
            <a:off x="685800" y="777240"/>
            <a:ext cx="10817352" cy="731520"/>
          </a:xfrm>
          <a:prstGeom prst="rect">
            <a:avLst/>
          </a:prstGeom>
          <a:noFill/>
          <a:ln/>
        </p:spPr>
        <p:txBody>
          <a:bodyPr wrap="square" lIns="0" tIns="0" rIns="0" bIns="0" rtlCol="0" anchor="ctr"/>
          <a:lstStyle/>
          <a:p>
            <a:pPr algn="l" indent="0" marL="0">
              <a:buNone/>
            </a:pPr>
            <a:r>
              <a:rPr lang="en-US" sz="3000" b="1" dirty="0">
                <a:solidFill>
                  <a:schemeClr val="tx1"/>
                </a:solidFill>
              </a:rPr>
              <a:t>Định giá xe cũ là bài toán khó</a:t>
            </a:r>
            <a:endParaRPr lang="en-US" sz="3000" dirty="0"/>
          </a:p>
        </p:txBody>
      </p:sp>
      <p:sp>
        <p:nvSpPr>
          <p:cNvPr id="4" name="The 1"/>
          <p:cNvSpPr/>
          <p:nvPr/>
        </p:nvSpPr>
        <p:spPr>
          <a:xfrm>
            <a:off x="685800" y="1783080"/>
            <a:ext cx="3392424" cy="3108960"/>
          </a:xfrm>
          <a:prstGeom prst="roundRect">
            <a:avLst>
              <a:gd name="adj" fmla="val 2353"/>
            </a:avLst>
          </a:prstGeom>
          <a:solidFill>
            <a:schemeClr val="bg2"/>
          </a:solidFill>
          <a:ln/>
        </p:spPr>
      </p:sp>
      <p:sp>
        <p:nvSpPr>
          <p:cNvPr id="5" name="So 1"/>
          <p:cNvSpPr/>
          <p:nvPr/>
        </p:nvSpPr>
        <p:spPr>
          <a:xfrm>
            <a:off x="1005840" y="2011680"/>
            <a:ext cx="502920" cy="502920"/>
          </a:xfrm>
          <a:prstGeom prst="ellipse">
            <a:avLst/>
          </a:prstGeom>
          <a:solidFill>
            <a:schemeClr val="accent2"/>
          </a:solidFill>
          <a:ln/>
        </p:spPr>
      </p:sp>
      <p:sp>
        <p:nvSpPr>
          <p:cNvPr id="6" name="Text 4"/>
          <p:cNvSpPr txBox="1"/>
          <p:nvPr/>
        </p:nvSpPr>
        <p:spPr>
          <a:xfrm>
            <a:off x="1005840" y="201168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005840" y="2651760"/>
            <a:ext cx="2752344" cy="685800"/>
          </a:xfrm>
          <a:prstGeom prst="rect">
            <a:avLst/>
          </a:prstGeom>
          <a:noFill/>
          <a:ln/>
        </p:spPr>
        <p:txBody>
          <a:bodyPr wrap="square" lIns="0" tIns="0" rIns="0" bIns="0" rtlCol="0" anchor="t"/>
          <a:lstStyle/>
          <a:p>
            <a:pPr indent="0" marL="0">
              <a:buNone/>
            </a:pPr>
            <a:r>
              <a:rPr lang="en-US" sz="1900" b="1" dirty="0">
                <a:solidFill>
                  <a:schemeClr val="tx1"/>
                </a:solidFill>
              </a:rPr>
              <a:t>Giá phân tán mạnh</a:t>
            </a:r>
            <a:endParaRPr lang="en-US" sz="1900" dirty="0"/>
          </a:p>
        </p:txBody>
      </p:sp>
      <p:sp>
        <p:nvSpPr>
          <p:cNvPr id="8" name="Text 6"/>
          <p:cNvSpPr txBox="1"/>
          <p:nvPr/>
        </p:nvSpPr>
        <p:spPr>
          <a:xfrm>
            <a:off x="1005840" y="3383280"/>
            <a:ext cx="2752344" cy="1371600"/>
          </a:xfrm>
          <a:prstGeom prst="rect">
            <a:avLst/>
          </a:prstGeom>
          <a:noFill/>
          <a:ln/>
        </p:spPr>
        <p:txBody>
          <a:bodyPr wrap="square" lIns="0" tIns="0" rIns="0" bIns="0" rtlCol="0" anchor="t"/>
          <a:lstStyle/>
          <a:p>
            <a:pPr indent="0" marL="0">
              <a:lnSpc>
                <a:spcPct val="115000"/>
              </a:lnSpc>
              <a:buNone/>
            </a:pPr>
            <a:r>
              <a:rPr lang="en-US" sz="1500" dirty="0">
                <a:solidFill>
                  <a:schemeClr val="tx2"/>
                </a:solidFill>
              </a:rPr>
              <a:t>Cùng dòng xe, cùng đời nhưng giá rao chênh hàng chục triệu đồng; giá rao khác giá giao dịch thực tế.</a:t>
            </a:r>
            <a:endParaRPr lang="en-US" sz="1500" dirty="0"/>
          </a:p>
        </p:txBody>
      </p:sp>
      <p:sp>
        <p:nvSpPr>
          <p:cNvPr id="9" name="The 2"/>
          <p:cNvSpPr/>
          <p:nvPr/>
        </p:nvSpPr>
        <p:spPr>
          <a:xfrm>
            <a:off x="4398264" y="1783080"/>
            <a:ext cx="3392424" cy="3108960"/>
          </a:xfrm>
          <a:prstGeom prst="roundRect">
            <a:avLst>
              <a:gd name="adj" fmla="val 2353"/>
            </a:avLst>
          </a:prstGeom>
          <a:solidFill>
            <a:schemeClr val="bg2"/>
          </a:solidFill>
          <a:ln/>
        </p:spPr>
      </p:sp>
      <p:sp>
        <p:nvSpPr>
          <p:cNvPr id="10" name="So 2"/>
          <p:cNvSpPr/>
          <p:nvPr/>
        </p:nvSpPr>
        <p:spPr>
          <a:xfrm>
            <a:off x="4718304" y="2011680"/>
            <a:ext cx="502920" cy="502920"/>
          </a:xfrm>
          <a:prstGeom prst="ellipse">
            <a:avLst/>
          </a:prstGeom>
          <a:solidFill>
            <a:schemeClr val="accent2"/>
          </a:solidFill>
          <a:ln/>
        </p:spPr>
      </p:sp>
      <p:sp>
        <p:nvSpPr>
          <p:cNvPr id="11" name="Text 9"/>
          <p:cNvSpPr txBox="1"/>
          <p:nvPr/>
        </p:nvSpPr>
        <p:spPr>
          <a:xfrm>
            <a:off x="4718304" y="201168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4718304" y="2651760"/>
            <a:ext cx="2752344" cy="685800"/>
          </a:xfrm>
          <a:prstGeom prst="rect">
            <a:avLst/>
          </a:prstGeom>
          <a:noFill/>
          <a:ln/>
        </p:spPr>
        <p:txBody>
          <a:bodyPr wrap="square" lIns="0" tIns="0" rIns="0" bIns="0" rtlCol="0" anchor="t"/>
          <a:lstStyle/>
          <a:p>
            <a:pPr indent="0" marL="0">
              <a:buNone/>
            </a:pPr>
            <a:r>
              <a:rPr lang="en-US" sz="1900" b="1" dirty="0">
                <a:solidFill>
                  <a:schemeClr val="tx1"/>
                </a:solidFill>
              </a:rPr>
              <a:t>Định giá theo kinh nghiệm</a:t>
            </a:r>
            <a:endParaRPr lang="en-US" sz="1900" dirty="0"/>
          </a:p>
        </p:txBody>
      </p:sp>
      <p:sp>
        <p:nvSpPr>
          <p:cNvPr id="13" name="Text 11"/>
          <p:cNvSpPr txBox="1"/>
          <p:nvPr/>
        </p:nvSpPr>
        <p:spPr>
          <a:xfrm>
            <a:off x="4718304" y="3383280"/>
            <a:ext cx="2752344" cy="1371600"/>
          </a:xfrm>
          <a:prstGeom prst="rect">
            <a:avLst/>
          </a:prstGeom>
          <a:noFill/>
          <a:ln/>
        </p:spPr>
        <p:txBody>
          <a:bodyPr wrap="square" lIns="0" tIns="0" rIns="0" bIns="0" rtlCol="0" anchor="t"/>
          <a:lstStyle/>
          <a:p>
            <a:pPr indent="0" marL="0">
              <a:lnSpc>
                <a:spcPct val="115000"/>
              </a:lnSpc>
              <a:buNone/>
            </a:pPr>
            <a:r>
              <a:rPr lang="en-US" sz="1500" dirty="0">
                <a:solidFill>
                  <a:schemeClr val="tx2"/>
                </a:solidFill>
              </a:rPr>
              <a:t>Dựa vào tri thức ẩn của thợ định giá: chủ quan, thiếu nhất quán, khó kiểm chứng và không được lưu lại.</a:t>
            </a:r>
            <a:endParaRPr lang="en-US" sz="1500" dirty="0"/>
          </a:p>
        </p:txBody>
      </p:sp>
      <p:sp>
        <p:nvSpPr>
          <p:cNvPr id="14" name="The 3"/>
          <p:cNvSpPr/>
          <p:nvPr/>
        </p:nvSpPr>
        <p:spPr>
          <a:xfrm>
            <a:off x="8110728" y="1783080"/>
            <a:ext cx="3392424" cy="3108960"/>
          </a:xfrm>
          <a:prstGeom prst="roundRect">
            <a:avLst>
              <a:gd name="adj" fmla="val 2353"/>
            </a:avLst>
          </a:prstGeom>
          <a:solidFill>
            <a:schemeClr val="bg2"/>
          </a:solidFill>
          <a:ln/>
        </p:spPr>
      </p:sp>
      <p:sp>
        <p:nvSpPr>
          <p:cNvPr id="15" name="So 3"/>
          <p:cNvSpPr/>
          <p:nvPr/>
        </p:nvSpPr>
        <p:spPr>
          <a:xfrm>
            <a:off x="8430768" y="2011680"/>
            <a:ext cx="502920" cy="502920"/>
          </a:xfrm>
          <a:prstGeom prst="ellipse">
            <a:avLst/>
          </a:prstGeom>
          <a:solidFill>
            <a:schemeClr val="accent2"/>
          </a:solidFill>
          <a:ln/>
        </p:spPr>
      </p:sp>
      <p:sp>
        <p:nvSpPr>
          <p:cNvPr id="16" name="Text 14"/>
          <p:cNvSpPr txBox="1"/>
          <p:nvPr/>
        </p:nvSpPr>
        <p:spPr>
          <a:xfrm>
            <a:off x="8430768" y="201168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5"/>
          <p:cNvSpPr txBox="1"/>
          <p:nvPr/>
        </p:nvSpPr>
        <p:spPr>
          <a:xfrm>
            <a:off x="8430768" y="2651760"/>
            <a:ext cx="2752344" cy="685800"/>
          </a:xfrm>
          <a:prstGeom prst="rect">
            <a:avLst/>
          </a:prstGeom>
          <a:noFill/>
          <a:ln/>
        </p:spPr>
        <p:txBody>
          <a:bodyPr wrap="square" lIns="0" tIns="0" rIns="0" bIns="0" rtlCol="0" anchor="t"/>
          <a:lstStyle/>
          <a:p>
            <a:pPr indent="0" marL="0">
              <a:buNone/>
            </a:pPr>
            <a:r>
              <a:rPr lang="en-US" sz="1900" b="1" dirty="0">
                <a:solidFill>
                  <a:schemeClr val="tx1"/>
                </a:solidFill>
              </a:rPr>
              <a:t>Học máy là “hộp đen”</a:t>
            </a:r>
            <a:endParaRPr lang="en-US" sz="1900" dirty="0"/>
          </a:p>
        </p:txBody>
      </p:sp>
      <p:sp>
        <p:nvSpPr>
          <p:cNvPr id="18" name="Text 16"/>
          <p:cNvSpPr txBox="1"/>
          <p:nvPr/>
        </p:nvSpPr>
        <p:spPr>
          <a:xfrm>
            <a:off x="8430768" y="3383280"/>
            <a:ext cx="2752344" cy="1371600"/>
          </a:xfrm>
          <a:prstGeom prst="rect">
            <a:avLst/>
          </a:prstGeom>
          <a:noFill/>
          <a:ln/>
        </p:spPr>
        <p:txBody>
          <a:bodyPr wrap="square" lIns="0" tIns="0" rIns="0" bIns="0" rtlCol="0" anchor="t"/>
          <a:lstStyle/>
          <a:p>
            <a:pPr indent="0" marL="0">
              <a:lnSpc>
                <a:spcPct val="115000"/>
              </a:lnSpc>
              <a:buNone/>
            </a:pPr>
            <a:r>
              <a:rPr lang="en-US" sz="1500" dirty="0">
                <a:solidFill>
                  <a:schemeClr val="tx2"/>
                </a:solidFill>
              </a:rPr>
              <a:t>Dự đoán được giá nhưng không giải thích vì sao; khó đưa vào tri thức về xe ngập nước, tai nạn.</a:t>
            </a:r>
            <a:endParaRPr lang="en-US" sz="1500" dirty="0"/>
          </a:p>
        </p:txBody>
      </p:sp>
      <p:sp>
        <p:nvSpPr>
          <p:cNvPr id="19" name="Ket luan"/>
          <p:cNvSpPr/>
          <p:nvPr/>
        </p:nvSpPr>
        <p:spPr>
          <a:xfrm>
            <a:off x="685800" y="5120640"/>
            <a:ext cx="10817352" cy="822960"/>
          </a:xfrm>
          <a:prstGeom prst="roundRect">
            <a:avLst>
              <a:gd name="adj" fmla="val 8889"/>
            </a:avLst>
          </a:prstGeom>
          <a:solidFill>
            <a:schemeClr val="tx1"/>
          </a:solidFill>
          <a:ln/>
        </p:spPr>
      </p:sp>
      <p:sp>
        <p:nvSpPr>
          <p:cNvPr id="20" name="Text 18"/>
          <p:cNvSpPr txBox="1"/>
          <p:nvPr/>
        </p:nvSpPr>
        <p:spPr>
          <a:xfrm>
            <a:off x="1051560" y="5120640"/>
            <a:ext cx="10085832" cy="822960"/>
          </a:xfrm>
          <a:prstGeom prst="rect">
            <a:avLst/>
          </a:prstGeom>
          <a:noFill/>
          <a:ln/>
        </p:spPr>
        <p:txBody>
          <a:bodyPr wrap="square" lIns="0" tIns="0" rIns="0" bIns="0" rtlCol="0" anchor="ctr"/>
          <a:lstStyle/>
          <a:p>
            <a:pPr indent="0" marL="0">
              <a:buNone/>
            </a:pPr>
            <a:r>
              <a:rPr lang="en-US" sz="1800" b="1" dirty="0">
                <a:solidFill>
                  <a:schemeClr val="bg1"/>
                </a:solidFill>
              </a:rPr>
              <a:t>Cần một hệ hỗ trợ quyết định dựa trên tri thức: khoảng giá + mức độ tin cậy + lời giải thích.</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411480"/>
            <a:ext cx="10817352" cy="36576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ĐẶT VẤN ĐỀ</a:t>
            </a:r>
            <a:endParaRPr lang="en-US" sz="1200" dirty="0"/>
          </a:p>
        </p:txBody>
      </p:sp>
      <p:sp>
        <p:nvSpPr>
          <p:cNvPr id="3" name="Text 0"/>
          <p:cNvSpPr/>
          <p:nvPr>
            <p:ph idx="101" type="title" hasCustomPrompt="1"/>
          </p:nvPr>
        </p:nvSpPr>
        <p:spPr>
          <a:xfrm>
            <a:off x="685800" y="777240"/>
            <a:ext cx="10817352" cy="731520"/>
          </a:xfrm>
          <a:prstGeom prst="rect">
            <a:avLst/>
          </a:prstGeom>
          <a:noFill/>
          <a:ln/>
        </p:spPr>
        <p:txBody>
          <a:bodyPr wrap="square" lIns="0" tIns="0" rIns="0" bIns="0" rtlCol="0" anchor="ctr"/>
          <a:lstStyle/>
          <a:p>
            <a:pPr algn="l" indent="0" marL="0">
              <a:buNone/>
            </a:pPr>
            <a:r>
              <a:rPr lang="en-US" sz="3000" b="1" dirty="0">
                <a:solidFill>
                  <a:schemeClr val="tx1"/>
                </a:solidFill>
              </a:rPr>
              <a:t>Mục tiêu: khoảng giá kèm lời giải thích</a:t>
            </a:r>
            <a:endParaRPr lang="en-US" sz="3000" dirty="0"/>
          </a:p>
        </p:txBody>
      </p:sp>
      <p:sp>
        <p:nvSpPr>
          <p:cNvPr id="4" name="Dau vao"/>
          <p:cNvSpPr/>
          <p:nvPr/>
        </p:nvSpPr>
        <p:spPr>
          <a:xfrm>
            <a:off x="685800" y="1783080"/>
            <a:ext cx="3337560" cy="3520440"/>
          </a:xfrm>
          <a:prstGeom prst="roundRect">
            <a:avLst>
              <a:gd name="adj" fmla="val 2192"/>
            </a:avLst>
          </a:prstGeom>
          <a:solidFill>
            <a:schemeClr val="bg2"/>
          </a:solidFill>
          <a:ln/>
        </p:spPr>
      </p:sp>
      <p:sp>
        <p:nvSpPr>
          <p:cNvPr id="5" name="Text 3"/>
          <p:cNvSpPr txBox="1"/>
          <p:nvPr/>
        </p:nvSpPr>
        <p:spPr>
          <a:xfrm>
            <a:off x="960120" y="2011680"/>
            <a:ext cx="2788920" cy="411480"/>
          </a:xfrm>
          <a:prstGeom prst="rect">
            <a:avLst/>
          </a:prstGeom>
          <a:noFill/>
          <a:ln/>
        </p:spPr>
        <p:txBody>
          <a:bodyPr wrap="square" lIns="0" tIns="0" rIns="0" bIns="0" rtlCol="0" anchor="t"/>
          <a:lstStyle/>
          <a:p>
            <a:pPr indent="0" marL="0">
              <a:buNone/>
            </a:pPr>
            <a:r>
              <a:rPr lang="en-US" sz="1900" b="1" dirty="0">
                <a:solidFill>
                  <a:schemeClr val="accent2"/>
                </a:solidFill>
              </a:rPr>
              <a:t>Đầu vào</a:t>
            </a:r>
            <a:endParaRPr lang="en-US" sz="1900" dirty="0"/>
          </a:p>
        </p:txBody>
      </p:sp>
      <p:sp>
        <p:nvSpPr>
          <p:cNvPr id="6" name="Text 4"/>
          <p:cNvSpPr txBox="1"/>
          <p:nvPr/>
        </p:nvSpPr>
        <p:spPr>
          <a:xfrm>
            <a:off x="960120" y="2514600"/>
            <a:ext cx="2788920" cy="2606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Hãng, dòng xe, phiên bản</a:t>
            </a:r>
            <a:endParaRPr lang="en-US" sz="1500" dirty="0"/>
          </a:p>
          <a:p>
            <a:pPr marL="342900" indent="-342900">
              <a:spcAft>
                <a:spcPts val="600"/>
              </a:spcAft>
              <a:buSzPct val="100000"/>
              <a:buChar char="•"/>
            </a:pPr>
            <a:r>
              <a:rPr lang="en-US" sz="1500" dirty="0">
                <a:solidFill>
                  <a:schemeClr val="tx2"/>
                </a:solidFill>
              </a:rPr>
              <a:t>Năm sản xuất, số km</a:t>
            </a:r>
            <a:endParaRPr lang="en-US" sz="1500" dirty="0"/>
          </a:p>
          <a:p>
            <a:pPr marL="342900" indent="-342900">
              <a:spcAft>
                <a:spcPts val="600"/>
              </a:spcAft>
              <a:buSzPct val="100000"/>
              <a:buChar char="•"/>
            </a:pPr>
            <a:r>
              <a:rPr lang="en-US" sz="1500" dirty="0">
                <a:solidFill>
                  <a:schemeClr val="tx2"/>
                </a:solidFill>
              </a:rPr>
              <a:t>Hộp số, nhiên liệu, xuất xứ</a:t>
            </a:r>
            <a:endParaRPr lang="en-US" sz="1500" dirty="0"/>
          </a:p>
          <a:p>
            <a:pPr marL="342900" indent="-342900">
              <a:spcAft>
                <a:spcPts val="600"/>
              </a:spcAft>
              <a:buSzPct val="100000"/>
              <a:buChar char="•"/>
            </a:pPr>
            <a:r>
              <a:rPr lang="en-US" sz="1500" dirty="0">
                <a:solidFill>
                  <a:schemeClr val="tx2"/>
                </a:solidFill>
              </a:rPr>
              <a:t>Số chủ, bảo dưỡng, ngập nước, tai nạn</a:t>
            </a:r>
            <a:endParaRPr lang="en-US" sz="1500" dirty="0"/>
          </a:p>
          <a:p>
            <a:pPr marL="342900" indent="-342900">
              <a:spcAft>
                <a:spcPts val="600"/>
              </a:spcAft>
              <a:buSzPct val="100000"/>
              <a:buChar char="•"/>
            </a:pPr>
            <a:r>
              <a:rPr lang="en-US" sz="1500" dirty="0">
                <a:solidFill>
                  <a:schemeClr val="tx2"/>
                </a:solidFill>
              </a:rPr>
              <a:t>Tình trạng, màu sắc, khu vực</a:t>
            </a:r>
            <a:endParaRPr lang="en-US" sz="1500" dirty="0"/>
          </a:p>
        </p:txBody>
      </p:sp>
      <p:sp>
        <p:nvSpPr>
          <p:cNvPr id="7" name="Mui ten"/>
          <p:cNvSpPr/>
          <p:nvPr/>
        </p:nvSpPr>
        <p:spPr>
          <a:xfrm>
            <a:off x="4160520" y="3396996"/>
            <a:ext cx="502920" cy="292608"/>
          </a:xfrm>
          <a:prstGeom prst="rightArrow">
            <a:avLst/>
          </a:prstGeom>
          <a:solidFill>
            <a:schemeClr val="accent1"/>
          </a:solidFill>
          <a:ln/>
        </p:spPr>
      </p:sp>
      <p:sp>
        <p:nvSpPr>
          <p:cNvPr id="8" name="He thong"/>
          <p:cNvSpPr/>
          <p:nvPr/>
        </p:nvSpPr>
        <p:spPr>
          <a:xfrm>
            <a:off x="4937760" y="1783080"/>
            <a:ext cx="2587752" cy="3520440"/>
          </a:xfrm>
          <a:prstGeom prst="roundRect">
            <a:avLst>
              <a:gd name="adj" fmla="val 2827"/>
            </a:avLst>
          </a:prstGeom>
          <a:solidFill>
            <a:schemeClr val="tx1"/>
          </a:solidFill>
          <a:ln/>
        </p:spPr>
      </p:sp>
      <p:sp>
        <p:nvSpPr>
          <p:cNvPr id="9" name="Text 7"/>
          <p:cNvSpPr txBox="1"/>
          <p:nvPr/>
        </p:nvSpPr>
        <p:spPr>
          <a:xfrm>
            <a:off x="5212080" y="2011680"/>
            <a:ext cx="2039112" cy="411480"/>
          </a:xfrm>
          <a:prstGeom prst="rect">
            <a:avLst/>
          </a:prstGeom>
          <a:noFill/>
          <a:ln/>
        </p:spPr>
        <p:txBody>
          <a:bodyPr wrap="square" lIns="0" tIns="0" rIns="0" bIns="0" rtlCol="0" anchor="t"/>
          <a:lstStyle/>
          <a:p>
            <a:pPr indent="0" marL="0">
              <a:buNone/>
            </a:pPr>
            <a:r>
              <a:rPr lang="en-US" sz="1900" b="1" dirty="0">
                <a:solidFill>
                  <a:schemeClr val="bg1"/>
                </a:solidFill>
              </a:rPr>
              <a:t>Hệ thống</a:t>
            </a:r>
            <a:endParaRPr lang="en-US" sz="1900" dirty="0"/>
          </a:p>
        </p:txBody>
      </p:sp>
      <p:sp>
        <p:nvSpPr>
          <p:cNvPr id="10" name="Kenh 1"/>
          <p:cNvSpPr/>
          <p:nvPr/>
        </p:nvSpPr>
        <p:spPr>
          <a:xfrm>
            <a:off x="5166360" y="2651760"/>
            <a:ext cx="2130552" cy="658368"/>
          </a:xfrm>
          <a:prstGeom prst="roundRect">
            <a:avLst>
              <a:gd name="adj" fmla="val 11111"/>
            </a:avLst>
          </a:prstGeom>
          <a:solidFill>
            <a:schemeClr val="accent4"/>
          </a:solidFill>
          <a:ln/>
        </p:spPr>
      </p:sp>
      <p:sp>
        <p:nvSpPr>
          <p:cNvPr id="11" name="Text 9"/>
          <p:cNvSpPr txBox="1"/>
          <p:nvPr/>
        </p:nvSpPr>
        <p:spPr>
          <a:xfrm>
            <a:off x="5303520" y="2651760"/>
            <a:ext cx="1856232" cy="658368"/>
          </a:xfrm>
          <a:prstGeom prst="rect">
            <a:avLst/>
          </a:prstGeom>
          <a:noFill/>
          <a:ln/>
        </p:spPr>
        <p:txBody>
          <a:bodyPr wrap="square" lIns="0" tIns="0" rIns="0" bIns="0" rtlCol="0" anchor="ctr"/>
          <a:lstStyle/>
          <a:p>
            <a:pPr indent="0" marL="0">
              <a:buNone/>
            </a:pPr>
            <a:r>
              <a:rPr lang="en-US" sz="1400" dirty="0">
                <a:solidFill>
                  <a:schemeClr val="tx1"/>
                </a:solidFill>
              </a:rPr>
              <a:t>Máy suy diễn luật</a:t>
            </a:r>
            <a:endParaRPr lang="en-US" sz="1400" dirty="0"/>
          </a:p>
        </p:txBody>
      </p:sp>
      <p:sp>
        <p:nvSpPr>
          <p:cNvPr id="12" name="Kenh 2"/>
          <p:cNvSpPr/>
          <p:nvPr/>
        </p:nvSpPr>
        <p:spPr>
          <a:xfrm>
            <a:off x="5166360" y="3474720"/>
            <a:ext cx="2130552" cy="658368"/>
          </a:xfrm>
          <a:prstGeom prst="roundRect">
            <a:avLst>
              <a:gd name="adj" fmla="val 11111"/>
            </a:avLst>
          </a:prstGeom>
          <a:solidFill>
            <a:schemeClr val="accent4"/>
          </a:solidFill>
          <a:ln/>
        </p:spPr>
      </p:sp>
      <p:sp>
        <p:nvSpPr>
          <p:cNvPr id="13" name="Text 11"/>
          <p:cNvSpPr txBox="1"/>
          <p:nvPr/>
        </p:nvSpPr>
        <p:spPr>
          <a:xfrm>
            <a:off x="5303520" y="3474720"/>
            <a:ext cx="1856232" cy="658368"/>
          </a:xfrm>
          <a:prstGeom prst="rect">
            <a:avLst/>
          </a:prstGeom>
          <a:noFill/>
          <a:ln/>
        </p:spPr>
        <p:txBody>
          <a:bodyPr wrap="square" lIns="0" tIns="0" rIns="0" bIns="0" rtlCol="0" anchor="ctr"/>
          <a:lstStyle/>
          <a:p>
            <a:pPr indent="0" marL="0">
              <a:buNone/>
            </a:pPr>
            <a:r>
              <a:rPr lang="en-US" sz="1400" dirty="0">
                <a:solidFill>
                  <a:schemeClr val="tx1"/>
                </a:solidFill>
              </a:rPr>
              <a:t>Lập luận dựa trên tình huống</a:t>
            </a:r>
            <a:endParaRPr lang="en-US" sz="1400" dirty="0"/>
          </a:p>
        </p:txBody>
      </p:sp>
      <p:sp>
        <p:nvSpPr>
          <p:cNvPr id="14" name="Kenh 3"/>
          <p:cNvSpPr/>
          <p:nvPr/>
        </p:nvSpPr>
        <p:spPr>
          <a:xfrm>
            <a:off x="5166360" y="4297680"/>
            <a:ext cx="2130552" cy="658368"/>
          </a:xfrm>
          <a:prstGeom prst="roundRect">
            <a:avLst>
              <a:gd name="adj" fmla="val 11111"/>
            </a:avLst>
          </a:prstGeom>
          <a:solidFill>
            <a:schemeClr val="accent5"/>
          </a:solidFill>
          <a:ln/>
        </p:spPr>
      </p:sp>
      <p:sp>
        <p:nvSpPr>
          <p:cNvPr id="15" name="Text 13"/>
          <p:cNvSpPr txBox="1"/>
          <p:nvPr/>
        </p:nvSpPr>
        <p:spPr>
          <a:xfrm>
            <a:off x="5303520" y="4297680"/>
            <a:ext cx="1856232" cy="658368"/>
          </a:xfrm>
          <a:prstGeom prst="rect">
            <a:avLst/>
          </a:prstGeom>
          <a:noFill/>
          <a:ln/>
        </p:spPr>
        <p:txBody>
          <a:bodyPr wrap="square" lIns="0" tIns="0" rIns="0" bIns="0" rtlCol="0" anchor="ctr"/>
          <a:lstStyle/>
          <a:p>
            <a:pPr indent="0" marL="0">
              <a:buNone/>
            </a:pPr>
            <a:r>
              <a:rPr lang="en-US" sz="1400" dirty="0">
                <a:solidFill>
                  <a:schemeClr val="tx1"/>
                </a:solidFill>
              </a:rPr>
              <a:t>Random Forest (đối chứng)</a:t>
            </a:r>
            <a:endParaRPr lang="en-US" sz="1400" dirty="0"/>
          </a:p>
        </p:txBody>
      </p:sp>
      <p:sp>
        <p:nvSpPr>
          <p:cNvPr id="16" name="Mui ten"/>
          <p:cNvSpPr/>
          <p:nvPr/>
        </p:nvSpPr>
        <p:spPr>
          <a:xfrm>
            <a:off x="7662672" y="3396996"/>
            <a:ext cx="502920" cy="292608"/>
          </a:xfrm>
          <a:prstGeom prst="rightArrow">
            <a:avLst/>
          </a:prstGeom>
          <a:solidFill>
            <a:schemeClr val="accent1"/>
          </a:solidFill>
          <a:ln/>
        </p:spPr>
      </p:sp>
      <p:sp>
        <p:nvSpPr>
          <p:cNvPr id="17" name="Dau ra"/>
          <p:cNvSpPr/>
          <p:nvPr/>
        </p:nvSpPr>
        <p:spPr>
          <a:xfrm>
            <a:off x="8439912" y="1783080"/>
            <a:ext cx="3337560" cy="3520440"/>
          </a:xfrm>
          <a:prstGeom prst="roundRect">
            <a:avLst>
              <a:gd name="adj" fmla="val 2192"/>
            </a:avLst>
          </a:prstGeom>
          <a:solidFill>
            <a:schemeClr val="bg2"/>
          </a:solidFill>
          <a:ln/>
        </p:spPr>
      </p:sp>
      <p:sp>
        <p:nvSpPr>
          <p:cNvPr id="18" name="Text 16"/>
          <p:cNvSpPr txBox="1"/>
          <p:nvPr/>
        </p:nvSpPr>
        <p:spPr>
          <a:xfrm>
            <a:off x="8714232" y="2011680"/>
            <a:ext cx="2788920" cy="411480"/>
          </a:xfrm>
          <a:prstGeom prst="rect">
            <a:avLst/>
          </a:prstGeom>
          <a:noFill/>
          <a:ln/>
        </p:spPr>
        <p:txBody>
          <a:bodyPr wrap="square" lIns="0" tIns="0" rIns="0" bIns="0" rtlCol="0" anchor="t"/>
          <a:lstStyle/>
          <a:p>
            <a:pPr indent="0" marL="0">
              <a:buNone/>
            </a:pPr>
            <a:r>
              <a:rPr lang="en-US" sz="1900" b="1" dirty="0">
                <a:solidFill>
                  <a:schemeClr val="accent2"/>
                </a:solidFill>
              </a:rPr>
              <a:t>Đầu ra</a:t>
            </a:r>
            <a:endParaRPr lang="en-US" sz="1900" dirty="0"/>
          </a:p>
        </p:txBody>
      </p:sp>
      <p:sp>
        <p:nvSpPr>
          <p:cNvPr id="19" name="Text 17"/>
          <p:cNvSpPr txBox="1"/>
          <p:nvPr/>
        </p:nvSpPr>
        <p:spPr>
          <a:xfrm>
            <a:off x="8714232" y="2514600"/>
            <a:ext cx="2788920" cy="2606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Giá đề xuất và khoảng giá</a:t>
            </a:r>
            <a:endParaRPr lang="en-US" sz="1500" dirty="0"/>
          </a:p>
          <a:p>
            <a:pPr marL="342900" indent="-342900">
              <a:spcAft>
                <a:spcPts val="600"/>
              </a:spcAft>
              <a:buSzPct val="100000"/>
              <a:buChar char="•"/>
            </a:pPr>
            <a:r>
              <a:rPr lang="en-US" sz="1500" dirty="0">
                <a:solidFill>
                  <a:schemeClr val="tx2"/>
                </a:solidFill>
              </a:rPr>
              <a:t>Mức độ tin cậy</a:t>
            </a:r>
            <a:endParaRPr lang="en-US" sz="1500" dirty="0"/>
          </a:p>
          <a:p>
            <a:pPr marL="342900" indent="-342900">
              <a:spcAft>
                <a:spcPts val="600"/>
              </a:spcAft>
              <a:buSzPct val="100000"/>
              <a:buChar char="•"/>
            </a:pPr>
            <a:r>
              <a:rPr lang="en-US" sz="1500" dirty="0">
                <a:solidFill>
                  <a:schemeClr val="tx2"/>
                </a:solidFill>
              </a:rPr>
              <a:t>Cảnh báo rủi ro</a:t>
            </a:r>
            <a:endParaRPr lang="en-US" sz="1500" dirty="0"/>
          </a:p>
          <a:p>
            <a:pPr marL="342900" indent="-342900">
              <a:spcAft>
                <a:spcPts val="600"/>
              </a:spcAft>
              <a:buSzPct val="100000"/>
              <a:buChar char="•"/>
            </a:pPr>
            <a:r>
              <a:rPr lang="en-US" sz="1500" dirty="0">
                <a:solidFill>
                  <a:schemeClr val="tx2"/>
                </a:solidFill>
              </a:rPr>
              <a:t>Các luật đã kích hoạt</a:t>
            </a:r>
            <a:endParaRPr lang="en-US" sz="1500" dirty="0"/>
          </a:p>
          <a:p>
            <a:pPr marL="342900" indent="-342900">
              <a:spcAft>
                <a:spcPts val="600"/>
              </a:spcAft>
              <a:buSzPct val="100000"/>
              <a:buChar char="•"/>
            </a:pPr>
            <a:r>
              <a:rPr lang="en-US" sz="1500" dirty="0">
                <a:solidFill>
                  <a:schemeClr val="tx2"/>
                </a:solidFill>
              </a:rPr>
              <a:t>Xe tương tự làm căn cứ</a:t>
            </a:r>
            <a:endParaRPr lang="en-US" sz="1500" dirty="0"/>
          </a:p>
        </p:txBody>
      </p:sp>
      <p:sp>
        <p:nvSpPr>
          <p:cNvPr id="20" name="Text 18"/>
          <p:cNvSpPr txBox="1"/>
          <p:nvPr/>
        </p:nvSpPr>
        <p:spPr>
          <a:xfrm>
            <a:off x="685800" y="5577840"/>
            <a:ext cx="10817352" cy="365760"/>
          </a:xfrm>
          <a:prstGeom prst="rect">
            <a:avLst/>
          </a:prstGeom>
          <a:noFill/>
          <a:ln/>
        </p:spPr>
        <p:txBody>
          <a:bodyPr wrap="square" lIns="0" tIns="0" rIns="0" bIns="0" rtlCol="0" anchor="t"/>
          <a:lstStyle/>
          <a:p>
            <a:pPr indent="0" marL="0">
              <a:buNone/>
            </a:pPr>
            <a:r>
              <a:rPr lang="en-US" sz="1400" dirty="0">
                <a:solidFill>
                  <a:schemeClr val="tx2"/>
                </a:solidFill>
              </a:rPr>
              <a:t>Phạm vi: xe du lịch dưới 9 chỗ đã qua sử dụng tại Việt Nam; dữ liệu tin rao từ Bonbanh, Chợ Tốt Xe.</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411480"/>
            <a:ext cx="10817352" cy="36576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CHƯƠNG 1 · CÔNG NGHỆ TRI THỨC</a:t>
            </a:r>
            <a:endParaRPr lang="en-US" sz="1200" dirty="0"/>
          </a:p>
        </p:txBody>
      </p:sp>
      <p:sp>
        <p:nvSpPr>
          <p:cNvPr id="3" name="Text 0"/>
          <p:cNvSpPr/>
          <p:nvPr>
            <p:ph idx="101" type="title" hasCustomPrompt="1"/>
          </p:nvPr>
        </p:nvSpPr>
        <p:spPr>
          <a:xfrm>
            <a:off x="685800" y="777240"/>
            <a:ext cx="10817352" cy="731520"/>
          </a:xfrm>
          <a:prstGeom prst="rect">
            <a:avLst/>
          </a:prstGeom>
          <a:noFill/>
          <a:ln/>
        </p:spPr>
        <p:txBody>
          <a:bodyPr wrap="square" lIns="0" tIns="0" rIns="0" bIns="0" rtlCol="0" anchor="ctr"/>
          <a:lstStyle/>
          <a:p>
            <a:pPr algn="l" indent="0" marL="0">
              <a:buNone/>
            </a:pPr>
            <a:r>
              <a:rPr lang="en-US" sz="3000" b="1" dirty="0">
                <a:solidFill>
                  <a:schemeClr val="tx1"/>
                </a:solidFill>
              </a:rPr>
              <a:t>Sáu mô hình hệ thống dựa trên tri thức</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10817352" cy="914400"/>
        </p:xfrm>
        <a:graphic>
          <a:graphicData uri="http://schemas.openxmlformats.org/drawingml/2006/table">
            <a:tbl>
              <a:tblPr/>
              <a:tblGrid>
                <a:gridCol w="3017520"/>
                <a:gridCol w="3200400"/>
                <a:gridCol w="4599432"/>
              </a:tblGrid>
              <a:tr h="548640">
                <a:tc>
                  <a:txBody>
                    <a:bodyPr/>
                    <a:lstStyle/>
                    <a:p>
                      <a:pPr indent="0" marL="0">
                        <a:buNone/>
                      </a:pPr>
                      <a:r>
                        <a:rPr lang="en-US" sz="1500" b="1" dirty="0">
                          <a:solidFill>
                            <a:schemeClr val="bg1"/>
                          </a:solidFill>
                        </a:rPr>
                        <a:t>Mô hình</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Biểu diễn tri thức</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Vai trò trong đề tài</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tx1"/>
                    </a:solidFill>
                  </a:tcPr>
                </a:tc>
              </a:tr>
              <a:tr h="548640">
                <a:tc>
                  <a:txBody>
                    <a:bodyPr/>
                    <a:lstStyle/>
                    <a:p>
                      <a:pPr indent="0" marL="0">
                        <a:buNone/>
                      </a:pPr>
                      <a:r>
                        <a:rPr lang="en-US" sz="1500" dirty="0">
                          <a:solidFill>
                            <a:schemeClr val="tx1"/>
                          </a:solidFill>
                        </a:rPr>
                        <a:t>Hệ chuyên gia</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6"/>
                    </a:solidFill>
                  </a:tcPr>
                </a:tc>
                <a:tc>
                  <a:txBody>
                    <a:bodyPr/>
                    <a:lstStyle/>
                    <a:p>
                      <a:pPr indent="0" marL="0">
                        <a:buNone/>
                      </a:pPr>
                      <a:r>
                        <a:rPr lang="en-US" sz="1500" dirty="0">
                          <a:solidFill>
                            <a:schemeClr val="tx1"/>
                          </a:solidFill>
                        </a:rPr>
                        <a:t>Luật IF–THEN, khung, logic</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6"/>
                    </a:solidFill>
                  </a:tcPr>
                </a:tc>
                <a:tc>
                  <a:txBody>
                    <a:bodyPr/>
                    <a:lstStyle/>
                    <a:p>
                      <a:pPr indent="0" marL="0">
                        <a:buNone/>
                      </a:pPr>
                      <a:r>
                        <a:rPr lang="en-US" sz="1500" dirty="0">
                          <a:solidFill>
                            <a:schemeClr val="tx1"/>
                          </a:solidFill>
                        </a:rPr>
                        <a:t>Trục chính: luật khấu hao, điều chỉnh, cảnh báo</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6"/>
                    </a:solidFill>
                  </a:tcPr>
                </a:tc>
              </a:tr>
              <a:tr h="548640">
                <a:tc>
                  <a:txBody>
                    <a:bodyPr/>
                    <a:lstStyle/>
                    <a:p>
                      <a:pPr indent="0" marL="0">
                        <a:buNone/>
                      </a:pPr>
                      <a:r>
                        <a:rPr lang="en-US" sz="1500" dirty="0">
                          <a:solidFill>
                            <a:schemeClr val="tx1"/>
                          </a:solidFill>
                        </a:rPr>
                        <a:t>Mạng nơ-ron nhân tạo</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500" dirty="0">
                          <a:solidFill>
                            <a:schemeClr val="tx1"/>
                          </a:solidFill>
                        </a:rPr>
                        <a:t>Trọng số học từ dữ liệu</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500" dirty="0">
                          <a:solidFill>
                            <a:schemeClr val="tx1"/>
                          </a:solidFill>
                        </a:rPr>
                        <a:t>Mở rộng: mô hình đối chứng</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548640">
                <a:tc>
                  <a:txBody>
                    <a:bodyPr/>
                    <a:lstStyle/>
                    <a:p>
                      <a:pPr indent="0" marL="0">
                        <a:buNone/>
                      </a:pPr>
                      <a:r>
                        <a:rPr lang="en-US" sz="1500" dirty="0">
                          <a:solidFill>
                            <a:schemeClr val="tx1"/>
                          </a:solidFill>
                        </a:rPr>
                        <a:t>Lập luận dựa trên tình huống</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6"/>
                    </a:solidFill>
                  </a:tcPr>
                </a:tc>
                <a:tc>
                  <a:txBody>
                    <a:bodyPr/>
                    <a:lstStyle/>
                    <a:p>
                      <a:pPr indent="0" marL="0">
                        <a:buNone/>
                      </a:pPr>
                      <a:r>
                        <a:rPr lang="en-US" sz="1500" dirty="0">
                          <a:solidFill>
                            <a:schemeClr val="tx1"/>
                          </a:solidFill>
                        </a:rPr>
                        <a:t>Tình huống (bài toán, lời giải)</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6"/>
                    </a:solidFill>
                  </a:tcPr>
                </a:tc>
                <a:tc>
                  <a:txBody>
                    <a:bodyPr/>
                    <a:lstStyle/>
                    <a:p>
                      <a:pPr indent="0" marL="0">
                        <a:buNone/>
                      </a:pPr>
                      <a:r>
                        <a:rPr lang="en-US" sz="1500" dirty="0">
                          <a:solidFill>
                            <a:schemeClr val="tx1"/>
                          </a:solidFill>
                        </a:rPr>
                        <a:t>Trục chính: định giá theo xe tương tự</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6"/>
                    </a:solidFill>
                  </a:tcPr>
                </a:tc>
              </a:tr>
              <a:tr h="548640">
                <a:tc>
                  <a:txBody>
                    <a:bodyPr/>
                    <a:lstStyle/>
                    <a:p>
                      <a:pPr indent="0" marL="0">
                        <a:buNone/>
                      </a:pPr>
                      <a:r>
                        <a:rPr lang="en-US" sz="1500" dirty="0">
                          <a:solidFill>
                            <a:schemeClr val="tx1"/>
                          </a:solidFill>
                        </a:rPr>
                        <a:t>Giải thuật di truyền</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500" dirty="0">
                          <a:solidFill>
                            <a:schemeClr val="tx1"/>
                          </a:solidFill>
                        </a:rPr>
                        <a:t>Quần thể lời giải</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500" dirty="0">
                          <a:solidFill>
                            <a:schemeClr val="tx1"/>
                          </a:solidFill>
                        </a:rPr>
                        <a:t>Mở rộng: tối ưu trọng số độ tương tự</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548640">
                <a:tc>
                  <a:txBody>
                    <a:bodyPr/>
                    <a:lstStyle/>
                    <a:p>
                      <a:pPr indent="0" marL="0">
                        <a:buNone/>
                      </a:pPr>
                      <a:r>
                        <a:rPr lang="en-US" sz="1500" dirty="0">
                          <a:solidFill>
                            <a:schemeClr val="tx1"/>
                          </a:solidFill>
                        </a:rPr>
                        <a:t>Tác tử thông minh</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500" dirty="0">
                          <a:solidFill>
                            <a:schemeClr val="tx1"/>
                          </a:solidFill>
                        </a:rPr>
                        <a:t>Trạng thái, mục tiêu, hành vi</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500" dirty="0">
                          <a:solidFill>
                            <a:schemeClr val="tx1"/>
                          </a:solidFill>
                        </a:rPr>
                        <a:t>Mở rộng: tác tử thu thập tin rao</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548640">
                <a:tc>
                  <a:txBody>
                    <a:bodyPr/>
                    <a:lstStyle/>
                    <a:p>
                      <a:pPr indent="0" marL="0">
                        <a:buNone/>
                      </a:pPr>
                      <a:r>
                        <a:rPr lang="en-US" sz="1500" dirty="0">
                          <a:solidFill>
                            <a:schemeClr val="tx1"/>
                          </a:solidFill>
                        </a:rPr>
                        <a:t>Khai phá dữ liệu</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5"/>
                    </a:solidFill>
                  </a:tcPr>
                </a:tc>
                <a:tc>
                  <a:txBody>
                    <a:bodyPr/>
                    <a:lstStyle/>
                    <a:p>
                      <a:pPr indent="0" marL="0">
                        <a:buNone/>
                      </a:pPr>
                      <a:r>
                        <a:rPr lang="en-US" sz="1500" dirty="0">
                          <a:solidFill>
                            <a:schemeClr val="tx1"/>
                          </a:solidFill>
                        </a:rPr>
                        <a:t>Mẫu, luật kết hợp, mô hình</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5"/>
                    </a:solidFill>
                  </a:tcPr>
                </a:tc>
                <a:tc>
                  <a:txBody>
                    <a:bodyPr/>
                    <a:lstStyle/>
                    <a:p>
                      <a:pPr indent="0" marL="0">
                        <a:buNone/>
                      </a:pPr>
                      <a:r>
                        <a:rPr lang="en-US" sz="1500" dirty="0">
                          <a:solidFill>
                            <a:schemeClr val="tx1"/>
                          </a:solidFill>
                        </a:rPr>
                        <a:t>Hỗ trợ: tiền xử lý, hiệu chỉnh luật, Random Forest</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5"/>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411480"/>
            <a:ext cx="10817352" cy="36576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CHƯƠNG 1 · CÔNG NGHỆ TRI THỨC</a:t>
            </a:r>
            <a:endParaRPr lang="en-US" sz="1200" dirty="0"/>
          </a:p>
        </p:txBody>
      </p:sp>
      <p:sp>
        <p:nvSpPr>
          <p:cNvPr id="3" name="Text 0"/>
          <p:cNvSpPr/>
          <p:nvPr>
            <p:ph idx="101" type="title" hasCustomPrompt="1"/>
          </p:nvPr>
        </p:nvSpPr>
        <p:spPr>
          <a:xfrm>
            <a:off x="685800" y="777240"/>
            <a:ext cx="10817352" cy="731520"/>
          </a:xfrm>
          <a:prstGeom prst="rect">
            <a:avLst/>
          </a:prstGeom>
          <a:noFill/>
          <a:ln/>
        </p:spPr>
        <p:txBody>
          <a:bodyPr wrap="square" lIns="0" tIns="0" rIns="0" bIns="0" rtlCol="0" anchor="ctr"/>
          <a:lstStyle/>
          <a:p>
            <a:pPr algn="l" indent="0" marL="0">
              <a:buNone/>
            </a:pPr>
            <a:r>
              <a:rPr lang="en-US" sz="3000" b="1" dirty="0">
                <a:solidFill>
                  <a:schemeClr val="tx1"/>
                </a:solidFill>
              </a:rPr>
              <a:t>Hệ chuyên gia: luật và máy suy diễn</a:t>
            </a:r>
            <a:endParaRPr lang="en-US" sz="3000" dirty="0"/>
          </a:p>
        </p:txBody>
      </p:sp>
      <p:pic>
        <p:nvPicPr>
          <p:cNvPr id="4" name="Image 0" descr="Kiến trúc tổng quát của hệ chuyên gia">    </p:cNvPr>
          <p:cNvPicPr>
            <a:picLocks noChangeAspect="1"/>
          </p:cNvPicPr>
          <p:nvPr/>
        </p:nvPicPr>
        <p:blipFill>
          <a:blip r:embed="rId1"/>
          <a:stretch>
            <a:fillRect/>
          </a:stretch>
        </p:blipFill>
        <p:spPr>
          <a:xfrm>
            <a:off x="685800" y="1965960"/>
            <a:ext cx="6035040" cy="3413689"/>
          </a:xfrm>
          <a:prstGeom prst="rect">
            <a:avLst/>
          </a:prstGeom>
        </p:spPr>
      </p:pic>
      <p:sp>
        <p:nvSpPr>
          <p:cNvPr id="5" name="Text 2"/>
          <p:cNvSpPr txBox="1"/>
          <p:nvPr/>
        </p:nvSpPr>
        <p:spPr>
          <a:xfrm>
            <a:off x="7086600" y="1783080"/>
            <a:ext cx="4416552" cy="365760"/>
          </a:xfrm>
          <a:prstGeom prst="rect">
            <a:avLst/>
          </a:prstGeom>
          <a:noFill/>
          <a:ln/>
        </p:spPr>
        <p:txBody>
          <a:bodyPr wrap="square" lIns="0" tIns="0" rIns="0" bIns="0" rtlCol="0" anchor="t"/>
          <a:lstStyle/>
          <a:p>
            <a:pPr indent="0" marL="0">
              <a:buNone/>
            </a:pPr>
            <a:r>
              <a:rPr lang="en-US" sz="1800" b="1" dirty="0">
                <a:solidFill>
                  <a:schemeClr val="accent2"/>
                </a:solidFill>
              </a:rPr>
              <a:t>Luật sản xuất</a:t>
            </a:r>
            <a:endParaRPr lang="en-US" sz="1800" dirty="0"/>
          </a:p>
        </p:txBody>
      </p:sp>
      <p:sp>
        <p:nvSpPr>
          <p:cNvPr id="6" name="Vi du luat"/>
          <p:cNvSpPr/>
          <p:nvPr/>
        </p:nvSpPr>
        <p:spPr>
          <a:xfrm>
            <a:off x="7086600" y="2194560"/>
            <a:ext cx="4416552" cy="777240"/>
          </a:xfrm>
          <a:prstGeom prst="roundRect">
            <a:avLst>
              <a:gd name="adj" fmla="val 9412"/>
            </a:avLst>
          </a:prstGeom>
          <a:solidFill>
            <a:schemeClr val="bg2"/>
          </a:solidFill>
          <a:ln/>
        </p:spPr>
      </p:sp>
      <p:sp>
        <p:nvSpPr>
          <p:cNvPr id="7" name="Text 4"/>
          <p:cNvSpPr txBox="1"/>
          <p:nvPr/>
        </p:nvSpPr>
        <p:spPr>
          <a:xfrm>
            <a:off x="7269480" y="2194560"/>
            <a:ext cx="4050792" cy="77724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IF ngập nước = có</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THEN K_rủi ro = 0,65 + cảnh báo</a:t>
            </a:r>
            <a:endParaRPr lang="en-US" sz="1400" dirty="0"/>
          </a:p>
        </p:txBody>
      </p:sp>
      <p:sp>
        <p:nvSpPr>
          <p:cNvPr id="8" name="Text 5"/>
          <p:cNvSpPr txBox="1"/>
          <p:nvPr/>
        </p:nvSpPr>
        <p:spPr>
          <a:xfrm>
            <a:off x="7086600" y="3200400"/>
            <a:ext cx="4416552" cy="365760"/>
          </a:xfrm>
          <a:prstGeom prst="rect">
            <a:avLst/>
          </a:prstGeom>
          <a:noFill/>
          <a:ln/>
        </p:spPr>
        <p:txBody>
          <a:bodyPr wrap="square" lIns="0" tIns="0" rIns="0" bIns="0" rtlCol="0" anchor="t"/>
          <a:lstStyle/>
          <a:p>
            <a:pPr indent="0" marL="0">
              <a:buNone/>
            </a:pPr>
            <a:r>
              <a:rPr lang="en-US" sz="1800" b="1" dirty="0">
                <a:solidFill>
                  <a:schemeClr val="accent2"/>
                </a:solidFill>
              </a:rPr>
              <a:t>Suy diễn tiến</a:t>
            </a:r>
            <a:endParaRPr lang="en-US" sz="1800" dirty="0"/>
          </a:p>
        </p:txBody>
      </p:sp>
      <p:sp>
        <p:nvSpPr>
          <p:cNvPr id="9" name="Text 6"/>
          <p:cNvSpPr txBox="1"/>
          <p:nvPr/>
        </p:nvSpPr>
        <p:spPr>
          <a:xfrm>
            <a:off x="7086600" y="3584448"/>
            <a:ext cx="4416552" cy="822960"/>
          </a:xfrm>
          <a:prstGeom prst="rect">
            <a:avLst/>
          </a:prstGeom>
          <a:noFill/>
          <a:ln/>
        </p:spPr>
        <p:txBody>
          <a:bodyPr wrap="square" lIns="0" tIns="0" rIns="0" bIns="0" rtlCol="0" anchor="t"/>
          <a:lstStyle/>
          <a:p>
            <a:pPr indent="0" marL="0">
              <a:buNone/>
            </a:pPr>
            <a:r>
              <a:rPr lang="en-US" sz="1500" dirty="0">
                <a:solidFill>
                  <a:schemeClr val="tx2"/>
                </a:solidFill>
              </a:rPr>
              <a:t>Từ dữ kiện đến kết luận: năm SX 2019 → tuổi xe 7 → K_tuổi = 0,60. Dùng để tính giá.</a:t>
            </a:r>
            <a:endParaRPr lang="en-US" sz="1500" dirty="0"/>
          </a:p>
        </p:txBody>
      </p:sp>
      <p:sp>
        <p:nvSpPr>
          <p:cNvPr id="10" name="Text 7"/>
          <p:cNvSpPr txBox="1"/>
          <p:nvPr/>
        </p:nvSpPr>
        <p:spPr>
          <a:xfrm>
            <a:off x="7086600" y="4526280"/>
            <a:ext cx="4416552" cy="365760"/>
          </a:xfrm>
          <a:prstGeom prst="rect">
            <a:avLst/>
          </a:prstGeom>
          <a:noFill/>
          <a:ln/>
        </p:spPr>
        <p:txBody>
          <a:bodyPr wrap="square" lIns="0" tIns="0" rIns="0" bIns="0" rtlCol="0" anchor="t"/>
          <a:lstStyle/>
          <a:p>
            <a:pPr indent="0" marL="0">
              <a:buNone/>
            </a:pPr>
            <a:r>
              <a:rPr lang="en-US" sz="1800" b="1" dirty="0">
                <a:solidFill>
                  <a:schemeClr val="accent2"/>
                </a:solidFill>
              </a:rPr>
              <a:t>Suy diễn lùi</a:t>
            </a:r>
            <a:endParaRPr lang="en-US" sz="1800" dirty="0"/>
          </a:p>
        </p:txBody>
      </p:sp>
      <p:sp>
        <p:nvSpPr>
          <p:cNvPr id="11" name="Text 8"/>
          <p:cNvSpPr txBox="1"/>
          <p:nvPr/>
        </p:nvSpPr>
        <p:spPr>
          <a:xfrm>
            <a:off x="7086600" y="4910328"/>
            <a:ext cx="4416552" cy="822960"/>
          </a:xfrm>
          <a:prstGeom prst="rect">
            <a:avLst/>
          </a:prstGeom>
          <a:noFill/>
          <a:ln/>
        </p:spPr>
        <p:txBody>
          <a:bodyPr wrap="square" lIns="0" tIns="0" rIns="0" bIns="0" rtlCol="0" anchor="t"/>
          <a:lstStyle/>
          <a:p>
            <a:pPr indent="0" marL="0">
              <a:buNone/>
            </a:pPr>
            <a:r>
              <a:rPr lang="en-US" sz="1500" dirty="0">
                <a:solidFill>
                  <a:schemeClr val="tx2"/>
                </a:solidFill>
              </a:rPr>
              <a:t>Từ mục tiêu về dữ kiện: hỏi thêm thông tin còn thiếu, trả lời câu hỏi “tại sao”.</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411480"/>
            <a:ext cx="10817352" cy="36576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CHƯƠNG 1 · CÔNG NGHỆ TRI THỨC</a:t>
            </a:r>
            <a:endParaRPr lang="en-US" sz="1200" dirty="0"/>
          </a:p>
        </p:txBody>
      </p:sp>
      <p:sp>
        <p:nvSpPr>
          <p:cNvPr id="3" name="Text 0"/>
          <p:cNvSpPr/>
          <p:nvPr>
            <p:ph idx="101" type="title" hasCustomPrompt="1"/>
          </p:nvPr>
        </p:nvSpPr>
        <p:spPr>
          <a:xfrm>
            <a:off x="685800" y="777240"/>
            <a:ext cx="10817352" cy="731520"/>
          </a:xfrm>
          <a:prstGeom prst="rect">
            <a:avLst/>
          </a:prstGeom>
          <a:noFill/>
          <a:ln/>
        </p:spPr>
        <p:txBody>
          <a:bodyPr wrap="square" lIns="0" tIns="0" rIns="0" bIns="0" rtlCol="0" anchor="ctr"/>
          <a:lstStyle/>
          <a:p>
            <a:pPr algn="l" indent="0" marL="0">
              <a:buNone/>
            </a:pPr>
            <a:r>
              <a:rPr lang="en-US" sz="3000" b="1" dirty="0">
                <a:solidFill>
                  <a:schemeClr val="tx1"/>
                </a:solidFill>
              </a:rPr>
              <a:t>Lập luận dựa trên tình huống (CBR)</a:t>
            </a:r>
            <a:endParaRPr lang="en-US" sz="3000" dirty="0"/>
          </a:p>
        </p:txBody>
      </p:sp>
      <p:pic>
        <p:nvPicPr>
          <p:cNvPr id="4" name="Image 0" descr="Chu trình CBR 4R">    </p:cNvPr>
          <p:cNvPicPr>
            <a:picLocks noChangeAspect="1"/>
          </p:cNvPicPr>
          <p:nvPr/>
        </p:nvPicPr>
        <p:blipFill>
          <a:blip r:embed="rId1"/>
          <a:stretch>
            <a:fillRect/>
          </a:stretch>
        </p:blipFill>
        <p:spPr>
          <a:xfrm>
            <a:off x="685800" y="1737360"/>
            <a:ext cx="5878342" cy="4343400"/>
          </a:xfrm>
          <a:prstGeom prst="rect">
            <a:avLst/>
          </a:prstGeom>
        </p:spPr>
      </p:pic>
      <p:sp>
        <p:nvSpPr>
          <p:cNvPr id="5" name="Text 2"/>
          <p:cNvSpPr txBox="1"/>
          <p:nvPr/>
        </p:nvSpPr>
        <p:spPr>
          <a:xfrm>
            <a:off x="7021342" y="1828800"/>
            <a:ext cx="4481810" cy="1097280"/>
          </a:xfrm>
          <a:prstGeom prst="rect">
            <a:avLst/>
          </a:prstGeom>
          <a:noFill/>
          <a:ln/>
        </p:spPr>
        <p:txBody>
          <a:bodyPr wrap="square" lIns="0" tIns="0" rIns="0" bIns="0" rtlCol="0" anchor="t"/>
          <a:lstStyle/>
          <a:p>
            <a:pPr indent="0" marL="0">
              <a:buNone/>
            </a:pPr>
            <a:r>
              <a:rPr lang="en-US" sz="1700" dirty="0">
                <a:solidFill>
                  <a:schemeClr val="tx1"/>
                </a:solidFill>
              </a:rPr>
              <a:t>Người định giá so sánh với những xe tương tự vừa bán rồi điều chỉnh theo khác biệt – CBR mô phỏng đúng cách đó.</a:t>
            </a:r>
            <a:endParaRPr lang="en-US" sz="1700" dirty="0"/>
          </a:p>
        </p:txBody>
      </p:sp>
      <p:sp>
        <p:nvSpPr>
          <p:cNvPr id="6" name="Cong thuc"/>
          <p:cNvSpPr/>
          <p:nvPr/>
        </p:nvSpPr>
        <p:spPr>
          <a:xfrm>
            <a:off x="7021342" y="3063240"/>
            <a:ext cx="4481810" cy="731520"/>
          </a:xfrm>
          <a:prstGeom prst="roundRect">
            <a:avLst>
              <a:gd name="adj" fmla="val 10000"/>
            </a:avLst>
          </a:prstGeom>
          <a:solidFill>
            <a:schemeClr val="tx1"/>
          </a:solidFill>
          <a:ln/>
        </p:spPr>
      </p:sp>
      <p:sp>
        <p:nvSpPr>
          <p:cNvPr id="7" name="Text 4"/>
          <p:cNvSpPr txBox="1"/>
          <p:nvPr/>
        </p:nvSpPr>
        <p:spPr>
          <a:xfrm>
            <a:off x="7021342" y="3063240"/>
            <a:ext cx="4481810" cy="731520"/>
          </a:xfrm>
          <a:prstGeom prst="rect">
            <a:avLst/>
          </a:prstGeom>
          <a:noFill/>
          <a:ln/>
        </p:spPr>
        <p:txBody>
          <a:bodyPr wrap="square" lIns="0" tIns="0" rIns="0" bIns="0" rtlCol="0" anchor="ctr"/>
          <a:lstStyle/>
          <a:p>
            <a:pPr algn="ctr" indent="0" marL="0">
              <a:buNone/>
            </a:pPr>
            <a:r>
              <a:rPr lang="en-US" sz="2000" b="1" dirty="0">
                <a:solidFill>
                  <a:schemeClr val="bg1"/>
                </a:solidFill>
              </a:rPr>
              <a:t>Sim(Q, C) = Σ wᵢ · simᵢ / Σ wᵢ</a:t>
            </a:r>
            <a:endParaRPr lang="en-US" sz="2000" dirty="0"/>
          </a:p>
        </p:txBody>
      </p:sp>
      <p:sp>
        <p:nvSpPr>
          <p:cNvPr id="8" name="Text 5"/>
          <p:cNvSpPr txBox="1"/>
          <p:nvPr/>
        </p:nvSpPr>
        <p:spPr>
          <a:xfrm>
            <a:off x="7021342" y="4069080"/>
            <a:ext cx="448181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Truy hồi k láng giềng gần nhất (k-NN)</a:t>
            </a:r>
            <a:endParaRPr lang="en-US" sz="1500" dirty="0"/>
          </a:p>
          <a:p>
            <a:pPr marL="342900" indent="-342900">
              <a:spcAft>
                <a:spcPts val="600"/>
              </a:spcAft>
              <a:buSzPct val="100000"/>
              <a:buChar char="•"/>
            </a:pPr>
            <a:r>
              <a:rPr lang="en-US" sz="1500" dirty="0">
                <a:solidFill>
                  <a:schemeClr val="tx2"/>
                </a:solidFill>
              </a:rPr>
              <a:t>Reuse: dùng hệ số của tập luật để điều chỉnh giá</a:t>
            </a:r>
            <a:endParaRPr lang="en-US" sz="1500" dirty="0"/>
          </a:p>
          <a:p>
            <a:pPr marL="342900" indent="-342900">
              <a:spcAft>
                <a:spcPts val="600"/>
              </a:spcAft>
              <a:buSzPct val="100000"/>
              <a:buChar char="•"/>
            </a:pPr>
            <a:r>
              <a:rPr lang="en-US" sz="1500" dirty="0">
                <a:solidFill>
                  <a:schemeClr val="tx2"/>
                </a:solidFill>
              </a:rPr>
              <a:t>Retain: giao dịch thực tế thành tình huống mới</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411480"/>
            <a:ext cx="10817352" cy="36576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CHƯƠNG 1 · CÔNG NGHỆ TRI THỨC</a:t>
            </a:r>
            <a:endParaRPr lang="en-US" sz="1200" dirty="0"/>
          </a:p>
        </p:txBody>
      </p:sp>
      <p:sp>
        <p:nvSpPr>
          <p:cNvPr id="3" name="Text 0"/>
          <p:cNvSpPr/>
          <p:nvPr>
            <p:ph idx="101" type="title" hasCustomPrompt="1"/>
          </p:nvPr>
        </p:nvSpPr>
        <p:spPr>
          <a:xfrm>
            <a:off x="685800" y="777240"/>
            <a:ext cx="10817352" cy="731520"/>
          </a:xfrm>
          <a:prstGeom prst="rect">
            <a:avLst/>
          </a:prstGeom>
          <a:noFill/>
          <a:ln/>
        </p:spPr>
        <p:txBody>
          <a:bodyPr wrap="square" lIns="0" tIns="0" rIns="0" bIns="0" rtlCol="0" anchor="ctr"/>
          <a:lstStyle/>
          <a:p>
            <a:pPr algn="l" indent="0" marL="0">
              <a:buNone/>
            </a:pPr>
            <a:r>
              <a:rPr lang="en-US" sz="3000" b="1" dirty="0">
                <a:solidFill>
                  <a:schemeClr val="tx1"/>
                </a:solidFill>
              </a:rPr>
              <a:t>Khai phá dữ liệu và hệ hỗ trợ quyết định</a:t>
            </a:r>
            <a:endParaRPr lang="en-US" sz="3000" dirty="0"/>
          </a:p>
        </p:txBody>
      </p:sp>
      <p:pic>
        <p:nvPicPr>
          <p:cNvPr id="4" name="Image 0" descr="Quy trình khám phá tri thức KDD">    </p:cNvPr>
          <p:cNvPicPr>
            <a:picLocks noChangeAspect="1"/>
          </p:cNvPicPr>
          <p:nvPr/>
        </p:nvPicPr>
        <p:blipFill>
          <a:blip r:embed="rId1"/>
          <a:stretch>
            <a:fillRect/>
          </a:stretch>
        </p:blipFill>
        <p:spPr>
          <a:xfrm>
            <a:off x="722189" y="1783080"/>
            <a:ext cx="5139301" cy="2331720"/>
          </a:xfrm>
          <a:prstGeom prst="rect">
            <a:avLst/>
          </a:prstGeom>
        </p:spPr>
      </p:pic>
      <p:sp>
        <p:nvSpPr>
          <p:cNvPr id="5" name="Text 2"/>
          <p:cNvSpPr txBox="1"/>
          <p:nvPr/>
        </p:nvSpPr>
        <p:spPr>
          <a:xfrm>
            <a:off x="685800" y="4343400"/>
            <a:ext cx="5212080" cy="365760"/>
          </a:xfrm>
          <a:prstGeom prst="rect">
            <a:avLst/>
          </a:prstGeom>
          <a:noFill/>
          <a:ln/>
        </p:spPr>
        <p:txBody>
          <a:bodyPr wrap="square" lIns="0" tIns="0" rIns="0" bIns="0" rtlCol="0" anchor="t"/>
          <a:lstStyle/>
          <a:p>
            <a:pPr indent="0" marL="0">
              <a:buNone/>
            </a:pPr>
            <a:r>
              <a:rPr lang="en-US" sz="1800" b="1" dirty="0">
                <a:solidFill>
                  <a:schemeClr val="accent2"/>
                </a:solidFill>
              </a:rPr>
              <a:t>Khám phá tri thức từ dữ liệu</a:t>
            </a:r>
            <a:endParaRPr lang="en-US" sz="1800" dirty="0"/>
          </a:p>
        </p:txBody>
      </p:sp>
      <p:sp>
        <p:nvSpPr>
          <p:cNvPr id="6" name="Text 3"/>
          <p:cNvSpPr txBox="1"/>
          <p:nvPr/>
        </p:nvSpPr>
        <p:spPr>
          <a:xfrm>
            <a:off x="685800" y="4754880"/>
            <a:ext cx="5212080" cy="1188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Làm sạch tin rao, loại ngoại lai bằng IQR</a:t>
            </a:r>
            <a:endParaRPr lang="en-US" sz="1500" dirty="0"/>
          </a:p>
          <a:p>
            <a:pPr marL="342900" indent="-342900">
              <a:spcAft>
                <a:spcPts val="600"/>
              </a:spcAft>
              <a:buSzPct val="100000"/>
              <a:buChar char="•"/>
            </a:pPr>
            <a:r>
              <a:rPr lang="en-US" sz="1500" dirty="0">
                <a:solidFill>
                  <a:schemeClr val="tx2"/>
                </a:solidFill>
              </a:rPr>
              <a:t>Random Forest làm kênh đối chứng; đánh giá bằng MAE, MAPE, R²</a:t>
            </a:r>
            <a:endParaRPr lang="en-US" sz="1500" dirty="0"/>
          </a:p>
        </p:txBody>
      </p:sp>
      <p:pic>
        <p:nvPicPr>
          <p:cNvPr id="7" name="Image 1" descr="Thành phần của hệ hỗ trợ ra quyết định">    </p:cNvPr>
          <p:cNvPicPr>
            <a:picLocks noChangeAspect="1"/>
          </p:cNvPicPr>
          <p:nvPr/>
        </p:nvPicPr>
        <p:blipFill>
          <a:blip r:embed="rId2"/>
          <a:stretch>
            <a:fillRect/>
          </a:stretch>
        </p:blipFill>
        <p:spPr>
          <a:xfrm>
            <a:off x="6803891" y="1783080"/>
            <a:ext cx="4186442" cy="2331720"/>
          </a:xfrm>
          <a:prstGeom prst="rect">
            <a:avLst/>
          </a:prstGeom>
        </p:spPr>
      </p:pic>
      <p:sp>
        <p:nvSpPr>
          <p:cNvPr id="8" name="Text 4"/>
          <p:cNvSpPr txBox="1"/>
          <p:nvPr/>
        </p:nvSpPr>
        <p:spPr>
          <a:xfrm>
            <a:off x="6291072" y="4343400"/>
            <a:ext cx="5212080" cy="365760"/>
          </a:xfrm>
          <a:prstGeom prst="rect">
            <a:avLst/>
          </a:prstGeom>
          <a:noFill/>
          <a:ln/>
        </p:spPr>
        <p:txBody>
          <a:bodyPr wrap="square" lIns="0" tIns="0" rIns="0" bIns="0" rtlCol="0" anchor="t"/>
          <a:lstStyle/>
          <a:p>
            <a:pPr indent="0" marL="0">
              <a:buNone/>
            </a:pPr>
            <a:r>
              <a:rPr lang="en-US" sz="1800" b="1" dirty="0">
                <a:solidFill>
                  <a:schemeClr val="accent2"/>
                </a:solidFill>
              </a:rPr>
              <a:t>Hệ hỗ trợ ra quyết định (DSS)</a:t>
            </a:r>
            <a:endParaRPr lang="en-US" sz="1800" dirty="0"/>
          </a:p>
        </p:txBody>
      </p:sp>
      <p:sp>
        <p:nvSpPr>
          <p:cNvPr id="9" name="Text 5"/>
          <p:cNvSpPr txBox="1"/>
          <p:nvPr/>
        </p:nvSpPr>
        <p:spPr>
          <a:xfrm>
            <a:off x="6291072" y="4754880"/>
            <a:ext cx="5212080" cy="1188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Kết hợp dữ liệu, mô hình, tri thức và giao diện</a:t>
            </a:r>
            <a:endParaRPr lang="en-US" sz="1500" dirty="0"/>
          </a:p>
          <a:p>
            <a:pPr marL="342900" indent="-342900">
              <a:spcAft>
                <a:spcPts val="600"/>
              </a:spcAft>
              <a:buSzPct val="100000"/>
              <a:buChar char="•"/>
            </a:pPr>
            <a:r>
              <a:rPr lang="en-US" sz="1500" dirty="0">
                <a:solidFill>
                  <a:schemeClr val="tx2"/>
                </a:solidFill>
              </a:rPr>
              <a:t>KB-DSS: đề xuất, giải thích, cảnh báo như chuyên gia tư vấn</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411480"/>
            <a:ext cx="10817352" cy="36576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CHƯƠNG 1 · KHẢO SÁT BÀI TOÁN</a:t>
            </a:r>
            <a:endParaRPr lang="en-US" sz="1200" dirty="0"/>
          </a:p>
        </p:txBody>
      </p:sp>
      <p:sp>
        <p:nvSpPr>
          <p:cNvPr id="3" name="Text 0"/>
          <p:cNvSpPr/>
          <p:nvPr>
            <p:ph idx="101" type="title" hasCustomPrompt="1"/>
          </p:nvPr>
        </p:nvSpPr>
        <p:spPr>
          <a:xfrm>
            <a:off x="685800" y="777240"/>
            <a:ext cx="10817352" cy="731520"/>
          </a:xfrm>
          <a:prstGeom prst="rect">
            <a:avLst/>
          </a:prstGeom>
          <a:noFill/>
          <a:ln/>
        </p:spPr>
        <p:txBody>
          <a:bodyPr wrap="square" lIns="0" tIns="0" rIns="0" bIns="0" rtlCol="0" anchor="ctr"/>
          <a:lstStyle/>
          <a:p>
            <a:pPr algn="l" indent="0" marL="0">
              <a:buNone/>
            </a:pPr>
            <a:r>
              <a:rPr lang="en-US" sz="3000" b="1" dirty="0">
                <a:solidFill>
                  <a:schemeClr val="tx1"/>
                </a:solidFill>
              </a:rPr>
              <a:t>Tám nhóm yếu tố quyết định giá xe cũ</a:t>
            </a:r>
            <a:endParaRPr lang="en-US" sz="3000" dirty="0"/>
          </a:p>
        </p:txBody>
      </p:sp>
      <p:sp>
        <p:nvSpPr>
          <p:cNvPr id="4" name="Yeu to 1"/>
          <p:cNvSpPr/>
          <p:nvPr/>
        </p:nvSpPr>
        <p:spPr>
          <a:xfrm>
            <a:off x="685800" y="1783080"/>
            <a:ext cx="2498598" cy="2103120"/>
          </a:xfrm>
          <a:prstGeom prst="roundRect">
            <a:avLst>
              <a:gd name="adj" fmla="val 3478"/>
            </a:avLst>
          </a:prstGeom>
          <a:solidFill>
            <a:schemeClr val="bg1"/>
          </a:solidFill>
          <a:ln/>
          <a:effectLst>
            <a:outerShdw sx="100000" sy="100000" kx="0" ky="0" algn="bl" rotWithShape="0" blurRad="76200" dist="25400" dir="5400000">
              <a:srgbClr val="14213D">
                <a:alpha val="12000"/>
              </a:srgbClr>
            </a:outerShdw>
          </a:effectLst>
        </p:spPr>
      </p:sp>
      <p:sp>
        <p:nvSpPr>
          <p:cNvPr id="5" name="So 01"/>
          <p:cNvSpPr/>
          <p:nvPr/>
        </p:nvSpPr>
        <p:spPr>
          <a:xfrm>
            <a:off x="914400" y="2011680"/>
            <a:ext cx="457200" cy="457200"/>
          </a:xfrm>
          <a:prstGeom prst="ellipse">
            <a:avLst/>
          </a:prstGeom>
          <a:solidFill>
            <a:schemeClr val="accent2"/>
          </a:solidFill>
          <a:ln/>
        </p:spPr>
      </p:sp>
      <p:sp>
        <p:nvSpPr>
          <p:cNvPr id="6" name="Text 4"/>
          <p:cNvSpPr txBox="1"/>
          <p:nvPr/>
        </p:nvSpPr>
        <p:spPr>
          <a:xfrm>
            <a:off x="914400" y="20116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01</a:t>
            </a:r>
            <a:endParaRPr lang="en-US" sz="1300" dirty="0"/>
          </a:p>
        </p:txBody>
      </p:sp>
      <p:sp>
        <p:nvSpPr>
          <p:cNvPr id="7" name="Text 5"/>
          <p:cNvSpPr txBox="1"/>
          <p:nvPr/>
        </p:nvSpPr>
        <p:spPr>
          <a:xfrm>
            <a:off x="914400" y="2606040"/>
            <a:ext cx="2041398" cy="365760"/>
          </a:xfrm>
          <a:prstGeom prst="rect">
            <a:avLst/>
          </a:prstGeom>
          <a:noFill/>
          <a:ln/>
        </p:spPr>
        <p:txBody>
          <a:bodyPr wrap="square" lIns="0" tIns="0" rIns="0" bIns="0" rtlCol="0" anchor="t"/>
          <a:lstStyle/>
          <a:p>
            <a:pPr indent="0" marL="0">
              <a:buNone/>
            </a:pPr>
            <a:r>
              <a:rPr lang="en-US" sz="1700" b="1" dirty="0">
                <a:solidFill>
                  <a:schemeClr val="tx1"/>
                </a:solidFill>
              </a:rPr>
              <a:t>Nhận dạng xe</a:t>
            </a:r>
            <a:endParaRPr lang="en-US" sz="1700" dirty="0"/>
          </a:p>
        </p:txBody>
      </p:sp>
      <p:sp>
        <p:nvSpPr>
          <p:cNvPr id="8" name="Text 6"/>
          <p:cNvSpPr txBox="1"/>
          <p:nvPr/>
        </p:nvSpPr>
        <p:spPr>
          <a:xfrm>
            <a:off x="914400" y="3017520"/>
            <a:ext cx="2041398" cy="777240"/>
          </a:xfrm>
          <a:prstGeom prst="rect">
            <a:avLst/>
          </a:prstGeom>
          <a:noFill/>
          <a:ln/>
        </p:spPr>
        <p:txBody>
          <a:bodyPr wrap="square" lIns="0" tIns="0" rIns="0" bIns="0" rtlCol="0" anchor="t"/>
          <a:lstStyle/>
          <a:p>
            <a:pPr indent="0" marL="0">
              <a:buNone/>
            </a:pPr>
            <a:r>
              <a:rPr lang="en-US" sz="1400" dirty="0">
                <a:solidFill>
                  <a:schemeClr val="tx2"/>
                </a:solidFill>
              </a:rPr>
              <a:t>Hãng, dòng, phiên bản – xác định giá xe mới làm mốc</a:t>
            </a:r>
            <a:endParaRPr lang="en-US" sz="1400" dirty="0"/>
          </a:p>
        </p:txBody>
      </p:sp>
      <p:sp>
        <p:nvSpPr>
          <p:cNvPr id="9" name="Yeu to 2"/>
          <p:cNvSpPr/>
          <p:nvPr/>
        </p:nvSpPr>
        <p:spPr>
          <a:xfrm>
            <a:off x="3458718" y="1783080"/>
            <a:ext cx="2498598" cy="2103120"/>
          </a:xfrm>
          <a:prstGeom prst="roundRect">
            <a:avLst>
              <a:gd name="adj" fmla="val 3478"/>
            </a:avLst>
          </a:prstGeom>
          <a:solidFill>
            <a:schemeClr val="bg1"/>
          </a:solidFill>
          <a:ln/>
          <a:effectLst>
            <a:outerShdw sx="100000" sy="100000" kx="0" ky="0" algn="bl" rotWithShape="0" blurRad="76200" dist="25400" dir="5400000">
              <a:srgbClr val="14213D">
                <a:alpha val="12000"/>
              </a:srgbClr>
            </a:outerShdw>
          </a:effectLst>
        </p:spPr>
      </p:sp>
      <p:sp>
        <p:nvSpPr>
          <p:cNvPr id="10" name="So 02"/>
          <p:cNvSpPr/>
          <p:nvPr/>
        </p:nvSpPr>
        <p:spPr>
          <a:xfrm>
            <a:off x="3687318" y="2011680"/>
            <a:ext cx="457200" cy="457200"/>
          </a:xfrm>
          <a:prstGeom prst="ellipse">
            <a:avLst/>
          </a:prstGeom>
          <a:solidFill>
            <a:schemeClr val="accent2"/>
          </a:solidFill>
          <a:ln/>
        </p:spPr>
      </p:sp>
      <p:sp>
        <p:nvSpPr>
          <p:cNvPr id="11" name="Text 9"/>
          <p:cNvSpPr txBox="1"/>
          <p:nvPr/>
        </p:nvSpPr>
        <p:spPr>
          <a:xfrm>
            <a:off x="3687318" y="20116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02</a:t>
            </a:r>
            <a:endParaRPr lang="en-US" sz="1300" dirty="0"/>
          </a:p>
        </p:txBody>
      </p:sp>
      <p:sp>
        <p:nvSpPr>
          <p:cNvPr id="12" name="Text 10"/>
          <p:cNvSpPr txBox="1"/>
          <p:nvPr/>
        </p:nvSpPr>
        <p:spPr>
          <a:xfrm>
            <a:off x="3687318" y="2606040"/>
            <a:ext cx="2041398" cy="365760"/>
          </a:xfrm>
          <a:prstGeom prst="rect">
            <a:avLst/>
          </a:prstGeom>
          <a:noFill/>
          <a:ln/>
        </p:spPr>
        <p:txBody>
          <a:bodyPr wrap="square" lIns="0" tIns="0" rIns="0" bIns="0" rtlCol="0" anchor="t"/>
          <a:lstStyle/>
          <a:p>
            <a:pPr indent="0" marL="0">
              <a:buNone/>
            </a:pPr>
            <a:r>
              <a:rPr lang="en-US" sz="1700" b="1" dirty="0">
                <a:solidFill>
                  <a:schemeClr val="tx1"/>
                </a:solidFill>
              </a:rPr>
              <a:t>Tuổi xe</a:t>
            </a:r>
            <a:endParaRPr lang="en-US" sz="1700" dirty="0"/>
          </a:p>
        </p:txBody>
      </p:sp>
      <p:sp>
        <p:nvSpPr>
          <p:cNvPr id="13" name="Text 11"/>
          <p:cNvSpPr txBox="1"/>
          <p:nvPr/>
        </p:nvSpPr>
        <p:spPr>
          <a:xfrm>
            <a:off x="3687318" y="3017520"/>
            <a:ext cx="2041398" cy="777240"/>
          </a:xfrm>
          <a:prstGeom prst="rect">
            <a:avLst/>
          </a:prstGeom>
          <a:noFill/>
          <a:ln/>
        </p:spPr>
        <p:txBody>
          <a:bodyPr wrap="square" lIns="0" tIns="0" rIns="0" bIns="0" rtlCol="0" anchor="t"/>
          <a:lstStyle/>
          <a:p>
            <a:pPr indent="0" marL="0">
              <a:buNone/>
            </a:pPr>
            <a:r>
              <a:rPr lang="en-US" sz="1400" dirty="0">
                <a:solidFill>
                  <a:schemeClr val="tx2"/>
                </a:solidFill>
              </a:rPr>
              <a:t>Yếu tố khấu hao chính, mất giá nhanh những năm đầu</a:t>
            </a:r>
            <a:endParaRPr lang="en-US" sz="1400" dirty="0"/>
          </a:p>
        </p:txBody>
      </p:sp>
      <p:sp>
        <p:nvSpPr>
          <p:cNvPr id="14" name="Yeu to 3"/>
          <p:cNvSpPr/>
          <p:nvPr/>
        </p:nvSpPr>
        <p:spPr>
          <a:xfrm>
            <a:off x="6231636" y="1783080"/>
            <a:ext cx="2498598" cy="2103120"/>
          </a:xfrm>
          <a:prstGeom prst="roundRect">
            <a:avLst>
              <a:gd name="adj" fmla="val 3478"/>
            </a:avLst>
          </a:prstGeom>
          <a:solidFill>
            <a:schemeClr val="bg1"/>
          </a:solidFill>
          <a:ln/>
          <a:effectLst>
            <a:outerShdw sx="100000" sy="100000" kx="0" ky="0" algn="bl" rotWithShape="0" blurRad="76200" dist="25400" dir="5400000">
              <a:srgbClr val="14213D">
                <a:alpha val="12000"/>
              </a:srgbClr>
            </a:outerShdw>
          </a:effectLst>
        </p:spPr>
      </p:sp>
      <p:sp>
        <p:nvSpPr>
          <p:cNvPr id="15" name="So 03"/>
          <p:cNvSpPr/>
          <p:nvPr/>
        </p:nvSpPr>
        <p:spPr>
          <a:xfrm>
            <a:off x="6460236" y="2011680"/>
            <a:ext cx="457200" cy="457200"/>
          </a:xfrm>
          <a:prstGeom prst="ellipse">
            <a:avLst/>
          </a:prstGeom>
          <a:solidFill>
            <a:schemeClr val="accent2"/>
          </a:solidFill>
          <a:ln/>
        </p:spPr>
      </p:sp>
      <p:sp>
        <p:nvSpPr>
          <p:cNvPr id="16" name="Text 14"/>
          <p:cNvSpPr txBox="1"/>
          <p:nvPr/>
        </p:nvSpPr>
        <p:spPr>
          <a:xfrm>
            <a:off x="6460236" y="20116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03</a:t>
            </a:r>
            <a:endParaRPr lang="en-US" sz="1300" dirty="0"/>
          </a:p>
        </p:txBody>
      </p:sp>
      <p:sp>
        <p:nvSpPr>
          <p:cNvPr id="17" name="Text 15"/>
          <p:cNvSpPr txBox="1"/>
          <p:nvPr/>
        </p:nvSpPr>
        <p:spPr>
          <a:xfrm>
            <a:off x="6460236" y="2606040"/>
            <a:ext cx="2041398" cy="365760"/>
          </a:xfrm>
          <a:prstGeom prst="rect">
            <a:avLst/>
          </a:prstGeom>
          <a:noFill/>
          <a:ln/>
        </p:spPr>
        <p:txBody>
          <a:bodyPr wrap="square" lIns="0" tIns="0" rIns="0" bIns="0" rtlCol="0" anchor="t"/>
          <a:lstStyle/>
          <a:p>
            <a:pPr indent="0" marL="0">
              <a:buNone/>
            </a:pPr>
            <a:r>
              <a:rPr lang="en-US" sz="1700" b="1" dirty="0">
                <a:solidFill>
                  <a:schemeClr val="tx1"/>
                </a:solidFill>
              </a:rPr>
              <a:t>Số km</a:t>
            </a:r>
            <a:endParaRPr lang="en-US" sz="1700" dirty="0"/>
          </a:p>
        </p:txBody>
      </p:sp>
      <p:sp>
        <p:nvSpPr>
          <p:cNvPr id="18" name="Text 16"/>
          <p:cNvSpPr txBox="1"/>
          <p:nvPr/>
        </p:nvSpPr>
        <p:spPr>
          <a:xfrm>
            <a:off x="6460236" y="3017520"/>
            <a:ext cx="2041398" cy="777240"/>
          </a:xfrm>
          <a:prstGeom prst="rect">
            <a:avLst/>
          </a:prstGeom>
          <a:noFill/>
          <a:ln/>
        </p:spPr>
        <p:txBody>
          <a:bodyPr wrap="square" lIns="0" tIns="0" rIns="0" bIns="0" rtlCol="0" anchor="t"/>
          <a:lstStyle/>
          <a:p>
            <a:pPr indent="0" marL="0">
              <a:buNone/>
            </a:pPr>
            <a:r>
              <a:rPr lang="en-US" sz="1400" dirty="0">
                <a:solidFill>
                  <a:schemeClr val="tx2"/>
                </a:solidFill>
              </a:rPr>
              <a:t>Cao hơn mức bình quân 15.000 km/năm làm giảm giá</a:t>
            </a:r>
            <a:endParaRPr lang="en-US" sz="1400" dirty="0"/>
          </a:p>
        </p:txBody>
      </p:sp>
      <p:sp>
        <p:nvSpPr>
          <p:cNvPr id="19" name="Yeu to 4"/>
          <p:cNvSpPr/>
          <p:nvPr/>
        </p:nvSpPr>
        <p:spPr>
          <a:xfrm>
            <a:off x="9004554" y="1783080"/>
            <a:ext cx="2498598" cy="2103120"/>
          </a:xfrm>
          <a:prstGeom prst="roundRect">
            <a:avLst>
              <a:gd name="adj" fmla="val 3478"/>
            </a:avLst>
          </a:prstGeom>
          <a:solidFill>
            <a:schemeClr val="bg1"/>
          </a:solidFill>
          <a:ln/>
          <a:effectLst>
            <a:outerShdw sx="100000" sy="100000" kx="0" ky="0" algn="bl" rotWithShape="0" blurRad="76200" dist="25400" dir="5400000">
              <a:srgbClr val="14213D">
                <a:alpha val="12000"/>
              </a:srgbClr>
            </a:outerShdw>
          </a:effectLst>
        </p:spPr>
      </p:sp>
      <p:sp>
        <p:nvSpPr>
          <p:cNvPr id="20" name="So 04"/>
          <p:cNvSpPr/>
          <p:nvPr/>
        </p:nvSpPr>
        <p:spPr>
          <a:xfrm>
            <a:off x="9233154" y="2011680"/>
            <a:ext cx="457200" cy="457200"/>
          </a:xfrm>
          <a:prstGeom prst="ellipse">
            <a:avLst/>
          </a:prstGeom>
          <a:solidFill>
            <a:schemeClr val="accent2"/>
          </a:solidFill>
          <a:ln/>
        </p:spPr>
      </p:sp>
      <p:sp>
        <p:nvSpPr>
          <p:cNvPr id="21" name="Text 19"/>
          <p:cNvSpPr txBox="1"/>
          <p:nvPr/>
        </p:nvSpPr>
        <p:spPr>
          <a:xfrm>
            <a:off x="9233154" y="20116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04</a:t>
            </a:r>
            <a:endParaRPr lang="en-US" sz="1300" dirty="0"/>
          </a:p>
        </p:txBody>
      </p:sp>
      <p:sp>
        <p:nvSpPr>
          <p:cNvPr id="22" name="Text 20"/>
          <p:cNvSpPr txBox="1"/>
          <p:nvPr/>
        </p:nvSpPr>
        <p:spPr>
          <a:xfrm>
            <a:off x="9233154" y="2606040"/>
            <a:ext cx="2041398" cy="365760"/>
          </a:xfrm>
          <a:prstGeom prst="rect">
            <a:avLst/>
          </a:prstGeom>
          <a:noFill/>
          <a:ln/>
        </p:spPr>
        <p:txBody>
          <a:bodyPr wrap="square" lIns="0" tIns="0" rIns="0" bIns="0" rtlCol="0" anchor="t"/>
          <a:lstStyle/>
          <a:p>
            <a:pPr indent="0" marL="0">
              <a:buNone/>
            </a:pPr>
            <a:r>
              <a:rPr lang="en-US" sz="1700" b="1" dirty="0">
                <a:solidFill>
                  <a:schemeClr val="tx1"/>
                </a:solidFill>
              </a:rPr>
              <a:t>Kỹ thuật</a:t>
            </a:r>
            <a:endParaRPr lang="en-US" sz="1700" dirty="0"/>
          </a:p>
        </p:txBody>
      </p:sp>
      <p:sp>
        <p:nvSpPr>
          <p:cNvPr id="23" name="Text 21"/>
          <p:cNvSpPr txBox="1"/>
          <p:nvPr/>
        </p:nvSpPr>
        <p:spPr>
          <a:xfrm>
            <a:off x="9233154" y="3017520"/>
            <a:ext cx="2041398" cy="777240"/>
          </a:xfrm>
          <a:prstGeom prst="rect">
            <a:avLst/>
          </a:prstGeom>
          <a:noFill/>
          <a:ln/>
        </p:spPr>
        <p:txBody>
          <a:bodyPr wrap="square" lIns="0" tIns="0" rIns="0" bIns="0" rtlCol="0" anchor="t"/>
          <a:lstStyle/>
          <a:p>
            <a:pPr indent="0" marL="0">
              <a:buNone/>
            </a:pPr>
            <a:r>
              <a:rPr lang="en-US" sz="1400" dirty="0">
                <a:solidFill>
                  <a:schemeClr val="tx2"/>
                </a:solidFill>
              </a:rPr>
              <a:t>Hộp số, nhiên liệu, động cơ</a:t>
            </a:r>
            <a:endParaRPr lang="en-US" sz="1400" dirty="0"/>
          </a:p>
        </p:txBody>
      </p:sp>
      <p:sp>
        <p:nvSpPr>
          <p:cNvPr id="24" name="Yeu to 5"/>
          <p:cNvSpPr/>
          <p:nvPr/>
        </p:nvSpPr>
        <p:spPr>
          <a:xfrm>
            <a:off x="685800" y="4160520"/>
            <a:ext cx="2498598" cy="2103120"/>
          </a:xfrm>
          <a:prstGeom prst="roundRect">
            <a:avLst>
              <a:gd name="adj" fmla="val 3478"/>
            </a:avLst>
          </a:prstGeom>
          <a:solidFill>
            <a:schemeClr val="bg1"/>
          </a:solidFill>
          <a:ln/>
          <a:effectLst>
            <a:outerShdw sx="100000" sy="100000" kx="0" ky="0" algn="bl" rotWithShape="0" blurRad="76200" dist="25400" dir="5400000">
              <a:srgbClr val="14213D">
                <a:alpha val="12000"/>
              </a:srgbClr>
            </a:outerShdw>
          </a:effectLst>
        </p:spPr>
      </p:sp>
      <p:sp>
        <p:nvSpPr>
          <p:cNvPr id="25" name="So 05"/>
          <p:cNvSpPr/>
          <p:nvPr/>
        </p:nvSpPr>
        <p:spPr>
          <a:xfrm>
            <a:off x="914400" y="4389120"/>
            <a:ext cx="457200" cy="457200"/>
          </a:xfrm>
          <a:prstGeom prst="ellipse">
            <a:avLst/>
          </a:prstGeom>
          <a:solidFill>
            <a:schemeClr val="accent1"/>
          </a:solidFill>
          <a:ln/>
        </p:spPr>
      </p:sp>
      <p:sp>
        <p:nvSpPr>
          <p:cNvPr id="26" name="Text 24"/>
          <p:cNvSpPr txBox="1"/>
          <p:nvPr/>
        </p:nvSpPr>
        <p:spPr>
          <a:xfrm>
            <a:off x="914400" y="438912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05</a:t>
            </a:r>
            <a:endParaRPr lang="en-US" sz="1300" dirty="0"/>
          </a:p>
        </p:txBody>
      </p:sp>
      <p:sp>
        <p:nvSpPr>
          <p:cNvPr id="27" name="Text 25"/>
          <p:cNvSpPr txBox="1"/>
          <p:nvPr/>
        </p:nvSpPr>
        <p:spPr>
          <a:xfrm>
            <a:off x="914400" y="4983480"/>
            <a:ext cx="2041398" cy="365760"/>
          </a:xfrm>
          <a:prstGeom prst="rect">
            <a:avLst/>
          </a:prstGeom>
          <a:noFill/>
          <a:ln/>
        </p:spPr>
        <p:txBody>
          <a:bodyPr wrap="square" lIns="0" tIns="0" rIns="0" bIns="0" rtlCol="0" anchor="t"/>
          <a:lstStyle/>
          <a:p>
            <a:pPr indent="0" marL="0">
              <a:buNone/>
            </a:pPr>
            <a:r>
              <a:rPr lang="en-US" sz="1700" b="1" dirty="0">
                <a:solidFill>
                  <a:schemeClr val="tx1"/>
                </a:solidFill>
              </a:rPr>
              <a:t>Nguồn gốc</a:t>
            </a:r>
            <a:endParaRPr lang="en-US" sz="1700" dirty="0"/>
          </a:p>
        </p:txBody>
      </p:sp>
      <p:sp>
        <p:nvSpPr>
          <p:cNvPr id="28" name="Text 26"/>
          <p:cNvSpPr txBox="1"/>
          <p:nvPr/>
        </p:nvSpPr>
        <p:spPr>
          <a:xfrm>
            <a:off x="914400" y="5394960"/>
            <a:ext cx="2041398" cy="777240"/>
          </a:xfrm>
          <a:prstGeom prst="rect">
            <a:avLst/>
          </a:prstGeom>
          <a:noFill/>
          <a:ln/>
        </p:spPr>
        <p:txBody>
          <a:bodyPr wrap="square" lIns="0" tIns="0" rIns="0" bIns="0" rtlCol="0" anchor="t"/>
          <a:lstStyle/>
          <a:p>
            <a:pPr indent="0" marL="0">
              <a:buNone/>
            </a:pPr>
            <a:r>
              <a:rPr lang="en-US" sz="1400" dirty="0">
                <a:solidFill>
                  <a:schemeClr val="tx2"/>
                </a:solidFill>
              </a:rPr>
              <a:t>Lắp ráp trong nước hay nhập khẩu</a:t>
            </a:r>
            <a:endParaRPr lang="en-US" sz="1400" dirty="0"/>
          </a:p>
        </p:txBody>
      </p:sp>
      <p:sp>
        <p:nvSpPr>
          <p:cNvPr id="29" name="Yeu to 6"/>
          <p:cNvSpPr/>
          <p:nvPr/>
        </p:nvSpPr>
        <p:spPr>
          <a:xfrm>
            <a:off x="3458718" y="4160520"/>
            <a:ext cx="2498598" cy="2103120"/>
          </a:xfrm>
          <a:prstGeom prst="roundRect">
            <a:avLst>
              <a:gd name="adj" fmla="val 3478"/>
            </a:avLst>
          </a:prstGeom>
          <a:solidFill>
            <a:schemeClr val="bg1"/>
          </a:solidFill>
          <a:ln/>
          <a:effectLst>
            <a:outerShdw sx="100000" sy="100000" kx="0" ky="0" algn="bl" rotWithShape="0" blurRad="76200" dist="25400" dir="5400000">
              <a:srgbClr val="14213D">
                <a:alpha val="12000"/>
              </a:srgbClr>
            </a:outerShdw>
          </a:effectLst>
        </p:spPr>
      </p:sp>
      <p:sp>
        <p:nvSpPr>
          <p:cNvPr id="30" name="So 06"/>
          <p:cNvSpPr/>
          <p:nvPr/>
        </p:nvSpPr>
        <p:spPr>
          <a:xfrm>
            <a:off x="3687318" y="4389120"/>
            <a:ext cx="457200" cy="457200"/>
          </a:xfrm>
          <a:prstGeom prst="ellipse">
            <a:avLst/>
          </a:prstGeom>
          <a:solidFill>
            <a:schemeClr val="accent1"/>
          </a:solidFill>
          <a:ln/>
        </p:spPr>
      </p:sp>
      <p:sp>
        <p:nvSpPr>
          <p:cNvPr id="31" name="Text 29"/>
          <p:cNvSpPr txBox="1"/>
          <p:nvPr/>
        </p:nvSpPr>
        <p:spPr>
          <a:xfrm>
            <a:off x="3687318" y="438912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06</a:t>
            </a:r>
            <a:endParaRPr lang="en-US" sz="1300" dirty="0"/>
          </a:p>
        </p:txBody>
      </p:sp>
      <p:sp>
        <p:nvSpPr>
          <p:cNvPr id="32" name="Text 30"/>
          <p:cNvSpPr txBox="1"/>
          <p:nvPr/>
        </p:nvSpPr>
        <p:spPr>
          <a:xfrm>
            <a:off x="3687318" y="4983480"/>
            <a:ext cx="2041398" cy="365760"/>
          </a:xfrm>
          <a:prstGeom prst="rect">
            <a:avLst/>
          </a:prstGeom>
          <a:noFill/>
          <a:ln/>
        </p:spPr>
        <p:txBody>
          <a:bodyPr wrap="square" lIns="0" tIns="0" rIns="0" bIns="0" rtlCol="0" anchor="t"/>
          <a:lstStyle/>
          <a:p>
            <a:pPr indent="0" marL="0">
              <a:buNone/>
            </a:pPr>
            <a:r>
              <a:rPr lang="en-US" sz="1700" b="1" dirty="0">
                <a:solidFill>
                  <a:schemeClr val="tx1"/>
                </a:solidFill>
              </a:rPr>
              <a:t>Lịch sử</a:t>
            </a:r>
            <a:endParaRPr lang="en-US" sz="1700" dirty="0"/>
          </a:p>
        </p:txBody>
      </p:sp>
      <p:sp>
        <p:nvSpPr>
          <p:cNvPr id="33" name="Text 31"/>
          <p:cNvSpPr txBox="1"/>
          <p:nvPr/>
        </p:nvSpPr>
        <p:spPr>
          <a:xfrm>
            <a:off x="3687318" y="5394960"/>
            <a:ext cx="2041398" cy="777240"/>
          </a:xfrm>
          <a:prstGeom prst="rect">
            <a:avLst/>
          </a:prstGeom>
          <a:noFill/>
          <a:ln/>
        </p:spPr>
        <p:txBody>
          <a:bodyPr wrap="square" lIns="0" tIns="0" rIns="0" bIns="0" rtlCol="0" anchor="t"/>
          <a:lstStyle/>
          <a:p>
            <a:pPr indent="0" marL="0">
              <a:buNone/>
            </a:pPr>
            <a:r>
              <a:rPr lang="en-US" sz="1400" dirty="0">
                <a:solidFill>
                  <a:schemeClr val="tx2"/>
                </a:solidFill>
              </a:rPr>
              <a:t>Số chủ, bảo dưỡng, tai nạn, ngập nước</a:t>
            </a:r>
            <a:endParaRPr lang="en-US" sz="1400" dirty="0"/>
          </a:p>
        </p:txBody>
      </p:sp>
      <p:sp>
        <p:nvSpPr>
          <p:cNvPr id="34" name="Yeu to 7"/>
          <p:cNvSpPr/>
          <p:nvPr/>
        </p:nvSpPr>
        <p:spPr>
          <a:xfrm>
            <a:off x="6231636" y="4160520"/>
            <a:ext cx="2498598" cy="2103120"/>
          </a:xfrm>
          <a:prstGeom prst="roundRect">
            <a:avLst>
              <a:gd name="adj" fmla="val 3478"/>
            </a:avLst>
          </a:prstGeom>
          <a:solidFill>
            <a:schemeClr val="bg1"/>
          </a:solidFill>
          <a:ln/>
          <a:effectLst>
            <a:outerShdw sx="100000" sy="100000" kx="0" ky="0" algn="bl" rotWithShape="0" blurRad="76200" dist="25400" dir="5400000">
              <a:srgbClr val="14213D">
                <a:alpha val="12000"/>
              </a:srgbClr>
            </a:outerShdw>
          </a:effectLst>
        </p:spPr>
      </p:sp>
      <p:sp>
        <p:nvSpPr>
          <p:cNvPr id="35" name="So 07"/>
          <p:cNvSpPr/>
          <p:nvPr/>
        </p:nvSpPr>
        <p:spPr>
          <a:xfrm>
            <a:off x="6460236" y="4389120"/>
            <a:ext cx="457200" cy="457200"/>
          </a:xfrm>
          <a:prstGeom prst="ellipse">
            <a:avLst/>
          </a:prstGeom>
          <a:solidFill>
            <a:schemeClr val="accent1"/>
          </a:solidFill>
          <a:ln/>
        </p:spPr>
      </p:sp>
      <p:sp>
        <p:nvSpPr>
          <p:cNvPr id="36" name="Text 34"/>
          <p:cNvSpPr txBox="1"/>
          <p:nvPr/>
        </p:nvSpPr>
        <p:spPr>
          <a:xfrm>
            <a:off x="6460236" y="438912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07</a:t>
            </a:r>
            <a:endParaRPr lang="en-US" sz="1300" dirty="0"/>
          </a:p>
        </p:txBody>
      </p:sp>
      <p:sp>
        <p:nvSpPr>
          <p:cNvPr id="37" name="Text 35"/>
          <p:cNvSpPr txBox="1"/>
          <p:nvPr/>
        </p:nvSpPr>
        <p:spPr>
          <a:xfrm>
            <a:off x="6460236" y="4983480"/>
            <a:ext cx="2041398" cy="365760"/>
          </a:xfrm>
          <a:prstGeom prst="rect">
            <a:avLst/>
          </a:prstGeom>
          <a:noFill/>
          <a:ln/>
        </p:spPr>
        <p:txBody>
          <a:bodyPr wrap="square" lIns="0" tIns="0" rIns="0" bIns="0" rtlCol="0" anchor="t"/>
          <a:lstStyle/>
          <a:p>
            <a:pPr indent="0" marL="0">
              <a:buNone/>
            </a:pPr>
            <a:r>
              <a:rPr lang="en-US" sz="1700" b="1" dirty="0">
                <a:solidFill>
                  <a:schemeClr val="tx1"/>
                </a:solidFill>
              </a:rPr>
              <a:t>Tình trạng</a:t>
            </a:r>
            <a:endParaRPr lang="en-US" sz="1700" dirty="0"/>
          </a:p>
        </p:txBody>
      </p:sp>
      <p:sp>
        <p:nvSpPr>
          <p:cNvPr id="38" name="Text 36"/>
          <p:cNvSpPr txBox="1"/>
          <p:nvPr/>
        </p:nvSpPr>
        <p:spPr>
          <a:xfrm>
            <a:off x="6460236" y="5394960"/>
            <a:ext cx="2041398" cy="777240"/>
          </a:xfrm>
          <a:prstGeom prst="rect">
            <a:avLst/>
          </a:prstGeom>
          <a:noFill/>
          <a:ln/>
        </p:spPr>
        <p:txBody>
          <a:bodyPr wrap="square" lIns="0" tIns="0" rIns="0" bIns="0" rtlCol="0" anchor="t"/>
          <a:lstStyle/>
          <a:p>
            <a:pPr indent="0" marL="0">
              <a:buNone/>
            </a:pPr>
            <a:r>
              <a:rPr lang="en-US" sz="1400" dirty="0">
                <a:solidFill>
                  <a:schemeClr val="tx2"/>
                </a:solidFill>
              </a:rPr>
              <a:t>Ngoại thất, nội thất, máy móc</a:t>
            </a:r>
            <a:endParaRPr lang="en-US" sz="1400" dirty="0"/>
          </a:p>
        </p:txBody>
      </p:sp>
      <p:sp>
        <p:nvSpPr>
          <p:cNvPr id="39" name="Yeu to 8"/>
          <p:cNvSpPr/>
          <p:nvPr/>
        </p:nvSpPr>
        <p:spPr>
          <a:xfrm>
            <a:off x="9004554" y="4160520"/>
            <a:ext cx="2498598" cy="2103120"/>
          </a:xfrm>
          <a:prstGeom prst="roundRect">
            <a:avLst>
              <a:gd name="adj" fmla="val 3478"/>
            </a:avLst>
          </a:prstGeom>
          <a:solidFill>
            <a:schemeClr val="bg1"/>
          </a:solidFill>
          <a:ln/>
          <a:effectLst>
            <a:outerShdw sx="100000" sy="100000" kx="0" ky="0" algn="bl" rotWithShape="0" blurRad="76200" dist="25400" dir="5400000">
              <a:srgbClr val="14213D">
                <a:alpha val="12000"/>
              </a:srgbClr>
            </a:outerShdw>
          </a:effectLst>
        </p:spPr>
      </p:sp>
      <p:sp>
        <p:nvSpPr>
          <p:cNvPr id="40" name="So 08"/>
          <p:cNvSpPr/>
          <p:nvPr/>
        </p:nvSpPr>
        <p:spPr>
          <a:xfrm>
            <a:off x="9233154" y="4389120"/>
            <a:ext cx="457200" cy="457200"/>
          </a:xfrm>
          <a:prstGeom prst="ellipse">
            <a:avLst/>
          </a:prstGeom>
          <a:solidFill>
            <a:schemeClr val="accent1"/>
          </a:solidFill>
          <a:ln/>
        </p:spPr>
      </p:sp>
      <p:sp>
        <p:nvSpPr>
          <p:cNvPr id="41" name="Text 39"/>
          <p:cNvSpPr txBox="1"/>
          <p:nvPr/>
        </p:nvSpPr>
        <p:spPr>
          <a:xfrm>
            <a:off x="9233154" y="438912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08</a:t>
            </a:r>
            <a:endParaRPr lang="en-US" sz="1300" dirty="0"/>
          </a:p>
        </p:txBody>
      </p:sp>
      <p:sp>
        <p:nvSpPr>
          <p:cNvPr id="42" name="Text 40"/>
          <p:cNvSpPr txBox="1"/>
          <p:nvPr/>
        </p:nvSpPr>
        <p:spPr>
          <a:xfrm>
            <a:off x="9233154" y="4983480"/>
            <a:ext cx="2041398" cy="365760"/>
          </a:xfrm>
          <a:prstGeom prst="rect">
            <a:avLst/>
          </a:prstGeom>
          <a:noFill/>
          <a:ln/>
        </p:spPr>
        <p:txBody>
          <a:bodyPr wrap="square" lIns="0" tIns="0" rIns="0" bIns="0" rtlCol="0" anchor="t"/>
          <a:lstStyle/>
          <a:p>
            <a:pPr indent="0" marL="0">
              <a:buNone/>
            </a:pPr>
            <a:r>
              <a:rPr lang="en-US" sz="1700" b="1" dirty="0">
                <a:solidFill>
                  <a:schemeClr val="tx1"/>
                </a:solidFill>
              </a:rPr>
              <a:t>Thị trường</a:t>
            </a:r>
            <a:endParaRPr lang="en-US" sz="1700" dirty="0"/>
          </a:p>
        </p:txBody>
      </p:sp>
      <p:sp>
        <p:nvSpPr>
          <p:cNvPr id="43" name="Text 41"/>
          <p:cNvSpPr txBox="1"/>
          <p:nvPr/>
        </p:nvSpPr>
        <p:spPr>
          <a:xfrm>
            <a:off x="9233154" y="5394960"/>
            <a:ext cx="2041398" cy="777240"/>
          </a:xfrm>
          <a:prstGeom prst="rect">
            <a:avLst/>
          </a:prstGeom>
          <a:noFill/>
          <a:ln/>
        </p:spPr>
        <p:txBody>
          <a:bodyPr wrap="square" lIns="0" tIns="0" rIns="0" bIns="0" rtlCol="0" anchor="t"/>
          <a:lstStyle/>
          <a:p>
            <a:pPr indent="0" marL="0">
              <a:buNone/>
            </a:pPr>
            <a:r>
              <a:rPr lang="en-US" sz="1400" dirty="0">
                <a:solidFill>
                  <a:schemeClr val="tx2"/>
                </a:solidFill>
              </a:rPr>
              <a:t>Khu vực, thời điểm, màu sắc, cung – cầu</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85800" y="822960"/>
            <a:ext cx="10817352" cy="365760"/>
          </a:xfrm>
          <a:prstGeom prst="rect">
            <a:avLst/>
          </a:prstGeom>
          <a:noFill/>
          <a:ln/>
        </p:spPr>
        <p:txBody>
          <a:bodyPr wrap="square" lIns="0" tIns="0" rIns="0" bIns="0" rtlCol="0" anchor="t"/>
          <a:lstStyle/>
          <a:p>
            <a:pPr indent="0" marL="0">
              <a:buNone/>
            </a:pPr>
            <a:r>
              <a:rPr lang="en-US" sz="1300" b="1" spc="200" kern="0" dirty="0">
                <a:solidFill>
                  <a:schemeClr val="accent6"/>
                </a:solidFill>
              </a:rPr>
              <a:t>HƯỚNG TIẾP CẬN CỦA ĐỀ TÀI</a:t>
            </a:r>
            <a:endParaRPr lang="en-US" sz="1300" dirty="0"/>
          </a:p>
        </p:txBody>
      </p:sp>
      <p:sp>
        <p:nvSpPr>
          <p:cNvPr id="3" name="Text 0"/>
          <p:cNvSpPr/>
          <p:nvPr>
            <p:ph idx="100" type="title" hasCustomPrompt="1"/>
          </p:nvPr>
        </p:nvSpPr>
        <p:spPr>
          <a:xfrm>
            <a:off x="685800" y="1463040"/>
            <a:ext cx="10817352" cy="1737360"/>
          </a:xfrm>
          <a:prstGeom prst="rect">
            <a:avLst/>
          </a:prstGeom>
          <a:noFill/>
          <a:ln/>
        </p:spPr>
        <p:txBody>
          <a:bodyPr wrap="square" lIns="0" tIns="0" rIns="0" bIns="0" rtlCol="0" anchor="ctr"/>
          <a:lstStyle/>
          <a:p>
            <a:pPr algn="l" indent="0" marL="0">
              <a:buNone/>
            </a:pPr>
            <a:r>
              <a:rPr lang="en-US" sz="3800" b="1" dirty="0">
                <a:solidFill>
                  <a:schemeClr val="bg1"/>
                </a:solidFill>
              </a:rPr>
              <a:t>Luật chuyên gia + tình huống thị trường + khai phá dữ liệu</a:t>
            </a:r>
            <a:endParaRPr lang="en-US" sz="3800" dirty="0"/>
          </a:p>
        </p:txBody>
      </p:sp>
      <p:sp>
        <p:nvSpPr>
          <p:cNvPr id="4" name="So 1"/>
          <p:cNvSpPr/>
          <p:nvPr/>
        </p:nvSpPr>
        <p:spPr>
          <a:xfrm>
            <a:off x="685800" y="3840480"/>
            <a:ext cx="548640" cy="548640"/>
          </a:xfrm>
          <a:prstGeom prst="ellipse">
            <a:avLst/>
          </a:prstGeom>
          <a:solidFill>
            <a:schemeClr val="bg1"/>
          </a:solidFill>
          <a:ln/>
        </p:spPr>
      </p:sp>
      <p:sp>
        <p:nvSpPr>
          <p:cNvPr id="5" name="Text 3"/>
          <p:cNvSpPr txBox="1"/>
          <p:nvPr/>
        </p:nvSpPr>
        <p:spPr>
          <a:xfrm>
            <a:off x="685800" y="38404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6" name="Text 4"/>
          <p:cNvSpPr txBox="1"/>
          <p:nvPr/>
        </p:nvSpPr>
        <p:spPr>
          <a:xfrm>
            <a:off x="685800" y="4572000"/>
            <a:ext cx="3300984" cy="914400"/>
          </a:xfrm>
          <a:prstGeom prst="rect">
            <a:avLst/>
          </a:prstGeom>
          <a:noFill/>
          <a:ln/>
        </p:spPr>
        <p:txBody>
          <a:bodyPr wrap="square" lIns="0" tIns="0" rIns="0" bIns="0" rtlCol="0" anchor="t"/>
          <a:lstStyle/>
          <a:p>
            <a:pPr indent="0" marL="0">
              <a:buNone/>
            </a:pPr>
            <a:r>
              <a:rPr lang="en-US" sz="1800" dirty="0">
                <a:solidFill>
                  <a:schemeClr val="bg1"/>
                </a:solidFill>
              </a:rPr>
              <a:t>Minh bạch, giải thích được như hệ chuyên gia</a:t>
            </a:r>
            <a:endParaRPr lang="en-US" sz="1800" dirty="0"/>
          </a:p>
        </p:txBody>
      </p:sp>
      <p:sp>
        <p:nvSpPr>
          <p:cNvPr id="7" name="So 2"/>
          <p:cNvSpPr/>
          <p:nvPr/>
        </p:nvSpPr>
        <p:spPr>
          <a:xfrm>
            <a:off x="4443984" y="3840480"/>
            <a:ext cx="548640" cy="548640"/>
          </a:xfrm>
          <a:prstGeom prst="ellipse">
            <a:avLst/>
          </a:prstGeom>
          <a:solidFill>
            <a:schemeClr val="bg1"/>
          </a:solidFill>
          <a:ln/>
        </p:spPr>
      </p:sp>
      <p:sp>
        <p:nvSpPr>
          <p:cNvPr id="8" name="Text 6"/>
          <p:cNvSpPr txBox="1"/>
          <p:nvPr/>
        </p:nvSpPr>
        <p:spPr>
          <a:xfrm>
            <a:off x="4443984" y="38404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9" name="Text 7"/>
          <p:cNvSpPr txBox="1"/>
          <p:nvPr/>
        </p:nvSpPr>
        <p:spPr>
          <a:xfrm>
            <a:off x="4443984" y="4572000"/>
            <a:ext cx="3300984" cy="914400"/>
          </a:xfrm>
          <a:prstGeom prst="rect">
            <a:avLst/>
          </a:prstGeom>
          <a:noFill/>
          <a:ln/>
        </p:spPr>
        <p:txBody>
          <a:bodyPr wrap="square" lIns="0" tIns="0" rIns="0" bIns="0" rtlCol="0" anchor="t"/>
          <a:lstStyle/>
          <a:p>
            <a:pPr indent="0" marL="0">
              <a:buNone/>
            </a:pPr>
            <a:r>
              <a:rPr lang="en-US" sz="1800" dirty="0">
                <a:solidFill>
                  <a:schemeClr val="bg1"/>
                </a:solidFill>
              </a:rPr>
              <a:t>Bám sát thị trường nhờ các xe tương tự (CBR)</a:t>
            </a:r>
            <a:endParaRPr lang="en-US" sz="1800" dirty="0"/>
          </a:p>
        </p:txBody>
      </p:sp>
      <p:sp>
        <p:nvSpPr>
          <p:cNvPr id="10" name="So 3"/>
          <p:cNvSpPr/>
          <p:nvPr/>
        </p:nvSpPr>
        <p:spPr>
          <a:xfrm>
            <a:off x="8202168" y="3840480"/>
            <a:ext cx="548640" cy="548640"/>
          </a:xfrm>
          <a:prstGeom prst="ellipse">
            <a:avLst/>
          </a:prstGeom>
          <a:solidFill>
            <a:schemeClr val="bg1"/>
          </a:solidFill>
          <a:ln/>
        </p:spPr>
      </p:sp>
      <p:sp>
        <p:nvSpPr>
          <p:cNvPr id="11" name="Text 9"/>
          <p:cNvSpPr txBox="1"/>
          <p:nvPr/>
        </p:nvSpPr>
        <p:spPr>
          <a:xfrm>
            <a:off x="8202168" y="384048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12" name="Text 10"/>
          <p:cNvSpPr txBox="1"/>
          <p:nvPr/>
        </p:nvSpPr>
        <p:spPr>
          <a:xfrm>
            <a:off x="8202168" y="4572000"/>
            <a:ext cx="3300984" cy="914400"/>
          </a:xfrm>
          <a:prstGeom prst="rect">
            <a:avLst/>
          </a:prstGeom>
          <a:noFill/>
          <a:ln/>
        </p:spPr>
        <p:txBody>
          <a:bodyPr wrap="square" lIns="0" tIns="0" rIns="0" bIns="0" rtlCol="0" anchor="t"/>
          <a:lstStyle/>
          <a:p>
            <a:pPr indent="0" marL="0">
              <a:buNone/>
            </a:pPr>
            <a:r>
              <a:rPr lang="en-US" sz="1800" dirty="0">
                <a:solidFill>
                  <a:schemeClr val="bg1"/>
                </a:solidFill>
              </a:rPr>
              <a:t>Hiệu chỉnh và kiểm chứng chéo bằng dữ liệu</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411480"/>
            <a:ext cx="10817352" cy="36576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CHƯƠNG 2 · PHÂN TÍCH VÀ THIẾT KẾ</a:t>
            </a:r>
            <a:endParaRPr lang="en-US" sz="1200" dirty="0"/>
          </a:p>
        </p:txBody>
      </p:sp>
      <p:sp>
        <p:nvSpPr>
          <p:cNvPr id="3" name="Text 0"/>
          <p:cNvSpPr/>
          <p:nvPr>
            <p:ph idx="101" type="title" hasCustomPrompt="1"/>
          </p:nvPr>
        </p:nvSpPr>
        <p:spPr>
          <a:xfrm>
            <a:off x="685800" y="777240"/>
            <a:ext cx="10817352" cy="731520"/>
          </a:xfrm>
          <a:prstGeom prst="rect">
            <a:avLst/>
          </a:prstGeom>
          <a:noFill/>
          <a:ln/>
        </p:spPr>
        <p:txBody>
          <a:bodyPr wrap="square" lIns="0" tIns="0" rIns="0" bIns="0" rtlCol="0" anchor="ctr"/>
          <a:lstStyle/>
          <a:p>
            <a:pPr algn="l" indent="0" marL="0">
              <a:buNone/>
            </a:pPr>
            <a:r>
              <a:rPr lang="en-US" sz="3000" b="1" dirty="0">
                <a:solidFill>
                  <a:schemeClr val="tx1"/>
                </a:solidFill>
              </a:rPr>
              <a:t>Ba tác nhân và các use case chính</a:t>
            </a:r>
            <a:endParaRPr lang="en-US" sz="3000" dirty="0"/>
          </a:p>
        </p:txBody>
      </p:sp>
      <p:pic>
        <p:nvPicPr>
          <p:cNvPr id="4" name="Image 0" descr="Biểu đồ use case tổng quát">    </p:cNvPr>
          <p:cNvPicPr>
            <a:picLocks noChangeAspect="1"/>
          </p:cNvPicPr>
          <p:nvPr/>
        </p:nvPicPr>
        <p:blipFill>
          <a:blip r:embed="rId1"/>
          <a:stretch>
            <a:fillRect/>
          </a:stretch>
        </p:blipFill>
        <p:spPr>
          <a:xfrm>
            <a:off x="685800" y="1783080"/>
            <a:ext cx="6650901" cy="4251960"/>
          </a:xfrm>
          <a:prstGeom prst="rect">
            <a:avLst/>
          </a:prstGeom>
        </p:spPr>
      </p:pic>
      <p:sp>
        <p:nvSpPr>
          <p:cNvPr id="5" name="Tac nhan 1"/>
          <p:cNvSpPr/>
          <p:nvPr/>
        </p:nvSpPr>
        <p:spPr>
          <a:xfrm>
            <a:off x="7702461" y="1783080"/>
            <a:ext cx="3800691" cy="1298448"/>
          </a:xfrm>
          <a:prstGeom prst="roundRect">
            <a:avLst>
              <a:gd name="adj" fmla="val 5634"/>
            </a:avLst>
          </a:prstGeom>
          <a:solidFill>
            <a:schemeClr val="bg2"/>
          </a:solidFill>
          <a:ln/>
        </p:spPr>
      </p:sp>
      <p:sp>
        <p:nvSpPr>
          <p:cNvPr id="6" name="So 1"/>
          <p:cNvSpPr/>
          <p:nvPr/>
        </p:nvSpPr>
        <p:spPr>
          <a:xfrm>
            <a:off x="7885341" y="1965960"/>
            <a:ext cx="365760" cy="365760"/>
          </a:xfrm>
          <a:prstGeom prst="ellipse">
            <a:avLst/>
          </a:prstGeom>
          <a:solidFill>
            <a:schemeClr val="accent2"/>
          </a:solidFill>
          <a:ln/>
        </p:spPr>
      </p:sp>
      <p:sp>
        <p:nvSpPr>
          <p:cNvPr id="7" name="Text 4"/>
          <p:cNvSpPr txBox="1"/>
          <p:nvPr/>
        </p:nvSpPr>
        <p:spPr>
          <a:xfrm>
            <a:off x="7885341" y="196596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5"/>
          <p:cNvSpPr txBox="1"/>
          <p:nvPr/>
        </p:nvSpPr>
        <p:spPr>
          <a:xfrm>
            <a:off x="8388261" y="1947672"/>
            <a:ext cx="2932011" cy="411480"/>
          </a:xfrm>
          <a:prstGeom prst="rect">
            <a:avLst/>
          </a:prstGeom>
          <a:noFill/>
          <a:ln/>
        </p:spPr>
        <p:txBody>
          <a:bodyPr wrap="square" lIns="0" tIns="0" rIns="0" bIns="0" rtlCol="0" anchor="ctr"/>
          <a:lstStyle/>
          <a:p>
            <a:pPr indent="0" marL="0">
              <a:buNone/>
            </a:pPr>
            <a:r>
              <a:rPr lang="en-US" sz="1700" b="1" dirty="0">
                <a:solidFill>
                  <a:schemeClr val="tx1"/>
                </a:solidFill>
              </a:rPr>
              <a:t>Người dùng</a:t>
            </a:r>
            <a:endParaRPr lang="en-US" sz="1700" dirty="0"/>
          </a:p>
        </p:txBody>
      </p:sp>
      <p:sp>
        <p:nvSpPr>
          <p:cNvPr id="9" name="Text 6"/>
          <p:cNvSpPr txBox="1"/>
          <p:nvPr/>
        </p:nvSpPr>
        <p:spPr>
          <a:xfrm>
            <a:off x="7885341" y="2423160"/>
            <a:ext cx="3434931" cy="594360"/>
          </a:xfrm>
          <a:prstGeom prst="rect">
            <a:avLst/>
          </a:prstGeom>
          <a:noFill/>
          <a:ln/>
        </p:spPr>
        <p:txBody>
          <a:bodyPr wrap="square" lIns="0" tIns="0" rIns="0" bIns="0" rtlCol="0" anchor="t"/>
          <a:lstStyle/>
          <a:p>
            <a:pPr indent="0" marL="0">
              <a:buNone/>
            </a:pPr>
            <a:r>
              <a:rPr lang="en-US" sz="1400" dirty="0">
                <a:solidFill>
                  <a:schemeClr val="tx2"/>
                </a:solidFill>
              </a:rPr>
              <a:t>Định giá xe, xem giải thích, so sánh kịch bản, tra cứu thị trường</a:t>
            </a:r>
            <a:endParaRPr lang="en-US" sz="1400" dirty="0"/>
          </a:p>
        </p:txBody>
      </p:sp>
      <p:sp>
        <p:nvSpPr>
          <p:cNvPr id="10" name="Tac nhan 2"/>
          <p:cNvSpPr/>
          <p:nvPr/>
        </p:nvSpPr>
        <p:spPr>
          <a:xfrm>
            <a:off x="7702461" y="3246120"/>
            <a:ext cx="3800691" cy="1298448"/>
          </a:xfrm>
          <a:prstGeom prst="roundRect">
            <a:avLst>
              <a:gd name="adj" fmla="val 5634"/>
            </a:avLst>
          </a:prstGeom>
          <a:solidFill>
            <a:schemeClr val="bg2"/>
          </a:solidFill>
          <a:ln/>
        </p:spPr>
      </p:sp>
      <p:sp>
        <p:nvSpPr>
          <p:cNvPr id="11" name="So 2"/>
          <p:cNvSpPr/>
          <p:nvPr/>
        </p:nvSpPr>
        <p:spPr>
          <a:xfrm>
            <a:off x="7885341" y="3429000"/>
            <a:ext cx="365760" cy="365760"/>
          </a:xfrm>
          <a:prstGeom prst="ellipse">
            <a:avLst/>
          </a:prstGeom>
          <a:solidFill>
            <a:schemeClr val="accent1"/>
          </a:solidFill>
          <a:ln/>
        </p:spPr>
      </p:sp>
      <p:sp>
        <p:nvSpPr>
          <p:cNvPr id="12" name="Text 9"/>
          <p:cNvSpPr txBox="1"/>
          <p:nvPr/>
        </p:nvSpPr>
        <p:spPr>
          <a:xfrm>
            <a:off x="7885341" y="34290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3" name="Text 10"/>
          <p:cNvSpPr txBox="1"/>
          <p:nvPr/>
        </p:nvSpPr>
        <p:spPr>
          <a:xfrm>
            <a:off x="8388261" y="3410712"/>
            <a:ext cx="2932011" cy="411480"/>
          </a:xfrm>
          <a:prstGeom prst="rect">
            <a:avLst/>
          </a:prstGeom>
          <a:noFill/>
          <a:ln/>
        </p:spPr>
        <p:txBody>
          <a:bodyPr wrap="square" lIns="0" tIns="0" rIns="0" bIns="0" rtlCol="0" anchor="ctr"/>
          <a:lstStyle/>
          <a:p>
            <a:pPr indent="0" marL="0">
              <a:buNone/>
            </a:pPr>
            <a:r>
              <a:rPr lang="en-US" sz="1700" b="1" dirty="0">
                <a:solidFill>
                  <a:schemeClr val="tx1"/>
                </a:solidFill>
              </a:rPr>
              <a:t>Chuyên viên định giá</a:t>
            </a:r>
            <a:endParaRPr lang="en-US" sz="1700" dirty="0"/>
          </a:p>
        </p:txBody>
      </p:sp>
      <p:sp>
        <p:nvSpPr>
          <p:cNvPr id="14" name="Text 11"/>
          <p:cNvSpPr txBox="1"/>
          <p:nvPr/>
        </p:nvSpPr>
        <p:spPr>
          <a:xfrm>
            <a:off x="7885341" y="3886200"/>
            <a:ext cx="3434931" cy="594360"/>
          </a:xfrm>
          <a:prstGeom prst="rect">
            <a:avLst/>
          </a:prstGeom>
          <a:noFill/>
          <a:ln/>
        </p:spPr>
        <p:txBody>
          <a:bodyPr wrap="square" lIns="0" tIns="0" rIns="0" bIns="0" rtlCol="0" anchor="t"/>
          <a:lstStyle/>
          <a:p>
            <a:pPr indent="0" marL="0">
              <a:buNone/>
            </a:pPr>
            <a:r>
              <a:rPr lang="en-US" sz="1400" dirty="0">
                <a:solidFill>
                  <a:schemeClr val="tx2"/>
                </a:solidFill>
              </a:rPr>
              <a:t>Định giá, phản hồi giá giao dịch thực tế, quản lý cơ sở tình huống</a:t>
            </a:r>
            <a:endParaRPr lang="en-US" sz="1400" dirty="0"/>
          </a:p>
        </p:txBody>
      </p:sp>
      <p:sp>
        <p:nvSpPr>
          <p:cNvPr id="15" name="Tac nhan 3"/>
          <p:cNvSpPr/>
          <p:nvPr/>
        </p:nvSpPr>
        <p:spPr>
          <a:xfrm>
            <a:off x="7702461" y="4709160"/>
            <a:ext cx="3800691" cy="1298448"/>
          </a:xfrm>
          <a:prstGeom prst="roundRect">
            <a:avLst>
              <a:gd name="adj" fmla="val 5634"/>
            </a:avLst>
          </a:prstGeom>
          <a:solidFill>
            <a:schemeClr val="bg2"/>
          </a:solidFill>
          <a:ln/>
        </p:spPr>
      </p:sp>
      <p:sp>
        <p:nvSpPr>
          <p:cNvPr id="16" name="So 3"/>
          <p:cNvSpPr/>
          <p:nvPr/>
        </p:nvSpPr>
        <p:spPr>
          <a:xfrm>
            <a:off x="7885341" y="4892040"/>
            <a:ext cx="365760" cy="365760"/>
          </a:xfrm>
          <a:prstGeom prst="ellipse">
            <a:avLst/>
          </a:prstGeom>
          <a:solidFill>
            <a:schemeClr val="accent3"/>
          </a:solidFill>
          <a:ln/>
        </p:spPr>
      </p:sp>
      <p:sp>
        <p:nvSpPr>
          <p:cNvPr id="17" name="Text 14"/>
          <p:cNvSpPr txBox="1"/>
          <p:nvPr/>
        </p:nvSpPr>
        <p:spPr>
          <a:xfrm>
            <a:off x="7885341" y="489204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8" name="Text 15"/>
          <p:cNvSpPr txBox="1"/>
          <p:nvPr/>
        </p:nvSpPr>
        <p:spPr>
          <a:xfrm>
            <a:off x="8388261" y="4873752"/>
            <a:ext cx="2932011" cy="411480"/>
          </a:xfrm>
          <a:prstGeom prst="rect">
            <a:avLst/>
          </a:prstGeom>
          <a:noFill/>
          <a:ln/>
        </p:spPr>
        <p:txBody>
          <a:bodyPr wrap="square" lIns="0" tIns="0" rIns="0" bIns="0" rtlCol="0" anchor="ctr"/>
          <a:lstStyle/>
          <a:p>
            <a:pPr indent="0" marL="0">
              <a:buNone/>
            </a:pPr>
            <a:r>
              <a:rPr lang="en-US" sz="1700" b="1" dirty="0">
                <a:solidFill>
                  <a:schemeClr val="tx1"/>
                </a:solidFill>
              </a:rPr>
              <a:t>Quản trị viên tri thức</a:t>
            </a:r>
            <a:endParaRPr lang="en-US" sz="1700" dirty="0"/>
          </a:p>
        </p:txBody>
      </p:sp>
      <p:sp>
        <p:nvSpPr>
          <p:cNvPr id="19" name="Text 16"/>
          <p:cNvSpPr txBox="1"/>
          <p:nvPr/>
        </p:nvSpPr>
        <p:spPr>
          <a:xfrm>
            <a:off x="7885341" y="5349240"/>
            <a:ext cx="3434931" cy="594360"/>
          </a:xfrm>
          <a:prstGeom prst="rect">
            <a:avLst/>
          </a:prstGeom>
          <a:noFill/>
          <a:ln/>
        </p:spPr>
        <p:txBody>
          <a:bodyPr wrap="square" lIns="0" tIns="0" rIns="0" bIns="0" rtlCol="0" anchor="t"/>
          <a:lstStyle/>
          <a:p>
            <a:pPr indent="0" marL="0">
              <a:buNone/>
            </a:pPr>
            <a:r>
              <a:rPr lang="en-US" sz="1400" dirty="0">
                <a:solidFill>
                  <a:schemeClr val="tx2"/>
                </a:solidFill>
              </a:rPr>
              <a:t>Quản lý tập luật, kiểm tra mâu thuẫn, cập nhật dữ liệu, huấn luyện mô hình</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411480"/>
            <a:ext cx="10817352" cy="36576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CHƯƠNG 2 · PHÂN TÍCH VÀ THIẾT KẾ</a:t>
            </a:r>
            <a:endParaRPr lang="en-US" sz="1200" dirty="0"/>
          </a:p>
        </p:txBody>
      </p:sp>
      <p:sp>
        <p:nvSpPr>
          <p:cNvPr id="3" name="Text 0"/>
          <p:cNvSpPr/>
          <p:nvPr>
            <p:ph idx="101" type="title" hasCustomPrompt="1"/>
          </p:nvPr>
        </p:nvSpPr>
        <p:spPr>
          <a:xfrm>
            <a:off x="685800" y="777240"/>
            <a:ext cx="10817352" cy="731520"/>
          </a:xfrm>
          <a:prstGeom prst="rect">
            <a:avLst/>
          </a:prstGeom>
          <a:noFill/>
          <a:ln/>
        </p:spPr>
        <p:txBody>
          <a:bodyPr wrap="square" lIns="0" tIns="0" rIns="0" bIns="0" rtlCol="0" anchor="ctr"/>
          <a:lstStyle/>
          <a:p>
            <a:pPr algn="l" indent="0" marL="0">
              <a:buNone/>
            </a:pPr>
            <a:r>
              <a:rPr lang="en-US" sz="3000" b="1" dirty="0">
                <a:solidFill>
                  <a:schemeClr val="tx1"/>
                </a:solidFill>
              </a:rPr>
              <a:t>Kiến trúc ba tầng, bộ suy luận lai</a:t>
            </a:r>
            <a:endParaRPr lang="en-US" sz="3000" dirty="0"/>
          </a:p>
        </p:txBody>
      </p:sp>
      <p:pic>
        <p:nvPicPr>
          <p:cNvPr id="4" name="Image 0" descr="Sơ đồ khối kiến trúc tổng thể">    </p:cNvPr>
          <p:cNvPicPr>
            <a:picLocks noChangeAspect="1"/>
          </p:cNvPicPr>
          <p:nvPr/>
        </p:nvPicPr>
        <p:blipFill>
          <a:blip r:embed="rId1"/>
          <a:stretch>
            <a:fillRect/>
          </a:stretch>
        </p:blipFill>
        <p:spPr>
          <a:xfrm>
            <a:off x="685800" y="1691640"/>
            <a:ext cx="4210531" cy="4434840"/>
          </a:xfrm>
          <a:prstGeom prst="rect">
            <a:avLst/>
          </a:prstGeom>
        </p:spPr>
      </p:pic>
      <p:sp>
        <p:nvSpPr>
          <p:cNvPr id="5" name="Tang 1"/>
          <p:cNvSpPr/>
          <p:nvPr/>
        </p:nvSpPr>
        <p:spPr>
          <a:xfrm>
            <a:off x="5353531" y="1783080"/>
            <a:ext cx="6149621" cy="1298448"/>
          </a:xfrm>
          <a:prstGeom prst="roundRect">
            <a:avLst>
              <a:gd name="adj" fmla="val 5634"/>
            </a:avLst>
          </a:prstGeom>
          <a:solidFill>
            <a:schemeClr val="bg2"/>
          </a:solidFill>
          <a:ln/>
        </p:spPr>
      </p:sp>
      <p:sp>
        <p:nvSpPr>
          <p:cNvPr id="6" name="So 1"/>
          <p:cNvSpPr/>
          <p:nvPr/>
        </p:nvSpPr>
        <p:spPr>
          <a:xfrm>
            <a:off x="5582131" y="1984248"/>
            <a:ext cx="365760" cy="365760"/>
          </a:xfrm>
          <a:prstGeom prst="ellipse">
            <a:avLst/>
          </a:prstGeom>
          <a:solidFill>
            <a:schemeClr val="accent2"/>
          </a:solidFill>
          <a:ln/>
        </p:spPr>
      </p:sp>
      <p:sp>
        <p:nvSpPr>
          <p:cNvPr id="7" name="Text 4"/>
          <p:cNvSpPr txBox="1"/>
          <p:nvPr/>
        </p:nvSpPr>
        <p:spPr>
          <a:xfrm>
            <a:off x="5582131" y="198424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5"/>
          <p:cNvSpPr txBox="1"/>
          <p:nvPr/>
        </p:nvSpPr>
        <p:spPr>
          <a:xfrm>
            <a:off x="6085051" y="1965960"/>
            <a:ext cx="5235221" cy="411480"/>
          </a:xfrm>
          <a:prstGeom prst="rect">
            <a:avLst/>
          </a:prstGeom>
          <a:noFill/>
          <a:ln/>
        </p:spPr>
        <p:txBody>
          <a:bodyPr wrap="square" lIns="0" tIns="0" rIns="0" bIns="0" rtlCol="0" anchor="ctr"/>
          <a:lstStyle/>
          <a:p>
            <a:pPr indent="0" marL="0">
              <a:buNone/>
            </a:pPr>
            <a:r>
              <a:rPr lang="en-US" sz="1800" b="1" dirty="0">
                <a:solidFill>
                  <a:schemeClr val="accent2"/>
                </a:solidFill>
              </a:rPr>
              <a:t>Giao diện (Streamlit)</a:t>
            </a:r>
            <a:endParaRPr lang="en-US" sz="1800" dirty="0"/>
          </a:p>
        </p:txBody>
      </p:sp>
      <p:sp>
        <p:nvSpPr>
          <p:cNvPr id="9" name="Text 6"/>
          <p:cNvSpPr txBox="1"/>
          <p:nvPr/>
        </p:nvSpPr>
        <p:spPr>
          <a:xfrm>
            <a:off x="5582131" y="2441448"/>
            <a:ext cx="5692421" cy="594360"/>
          </a:xfrm>
          <a:prstGeom prst="rect">
            <a:avLst/>
          </a:prstGeom>
          <a:noFill/>
          <a:ln/>
        </p:spPr>
        <p:txBody>
          <a:bodyPr wrap="square" lIns="0" tIns="0" rIns="0" bIns="0" rtlCol="0" anchor="t"/>
          <a:lstStyle/>
          <a:p>
            <a:pPr indent="0" marL="0">
              <a:buNone/>
            </a:pPr>
            <a:r>
              <a:rPr lang="en-US" sz="1400" dirty="0">
                <a:solidFill>
                  <a:schemeClr val="tx2"/>
                </a:solidFill>
              </a:rPr>
              <a:t>Form nhập xe, kết quả và giải thích, thống kê thị trường, trang quản trị tri thức</a:t>
            </a:r>
            <a:endParaRPr lang="en-US" sz="1400" dirty="0"/>
          </a:p>
        </p:txBody>
      </p:sp>
      <p:sp>
        <p:nvSpPr>
          <p:cNvPr id="10" name="Tang 2"/>
          <p:cNvSpPr/>
          <p:nvPr/>
        </p:nvSpPr>
        <p:spPr>
          <a:xfrm>
            <a:off x="5353531" y="3246120"/>
            <a:ext cx="6149621" cy="1298448"/>
          </a:xfrm>
          <a:prstGeom prst="roundRect">
            <a:avLst>
              <a:gd name="adj" fmla="val 5634"/>
            </a:avLst>
          </a:prstGeom>
          <a:solidFill>
            <a:schemeClr val="bg2"/>
          </a:solidFill>
          <a:ln/>
        </p:spPr>
      </p:sp>
      <p:sp>
        <p:nvSpPr>
          <p:cNvPr id="11" name="So 2"/>
          <p:cNvSpPr/>
          <p:nvPr/>
        </p:nvSpPr>
        <p:spPr>
          <a:xfrm>
            <a:off x="5582131" y="3447288"/>
            <a:ext cx="365760" cy="365760"/>
          </a:xfrm>
          <a:prstGeom prst="ellipse">
            <a:avLst/>
          </a:prstGeom>
          <a:solidFill>
            <a:schemeClr val="accent1"/>
          </a:solidFill>
          <a:ln/>
        </p:spPr>
      </p:sp>
      <p:sp>
        <p:nvSpPr>
          <p:cNvPr id="12" name="Text 9"/>
          <p:cNvSpPr txBox="1"/>
          <p:nvPr/>
        </p:nvSpPr>
        <p:spPr>
          <a:xfrm>
            <a:off x="5582131" y="344728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3" name="Text 10"/>
          <p:cNvSpPr txBox="1"/>
          <p:nvPr/>
        </p:nvSpPr>
        <p:spPr>
          <a:xfrm>
            <a:off x="6085051" y="3429000"/>
            <a:ext cx="5235221" cy="411480"/>
          </a:xfrm>
          <a:prstGeom prst="rect">
            <a:avLst/>
          </a:prstGeom>
          <a:noFill/>
          <a:ln/>
        </p:spPr>
        <p:txBody>
          <a:bodyPr wrap="square" lIns="0" tIns="0" rIns="0" bIns="0" rtlCol="0" anchor="ctr"/>
          <a:lstStyle/>
          <a:p>
            <a:pPr indent="0" marL="0">
              <a:buNone/>
            </a:pPr>
            <a:r>
              <a:rPr lang="en-US" sz="1800" b="1" dirty="0">
                <a:solidFill>
                  <a:schemeClr val="accent1"/>
                </a:solidFill>
              </a:rPr>
              <a:t>Xử lý</a:t>
            </a:r>
            <a:endParaRPr lang="en-US" sz="1800" dirty="0"/>
          </a:p>
        </p:txBody>
      </p:sp>
      <p:sp>
        <p:nvSpPr>
          <p:cNvPr id="14" name="Text 11"/>
          <p:cNvSpPr txBox="1"/>
          <p:nvPr/>
        </p:nvSpPr>
        <p:spPr>
          <a:xfrm>
            <a:off x="5582131" y="3904488"/>
            <a:ext cx="5692421" cy="594360"/>
          </a:xfrm>
          <a:prstGeom prst="rect">
            <a:avLst/>
          </a:prstGeom>
          <a:noFill/>
          <a:ln/>
        </p:spPr>
        <p:txBody>
          <a:bodyPr wrap="square" lIns="0" tIns="0" rIns="0" bIns="0" rtlCol="0" anchor="t"/>
          <a:lstStyle/>
          <a:p>
            <a:pPr indent="0" marL="0">
              <a:buNone/>
            </a:pPr>
            <a:r>
              <a:rPr lang="en-US" sz="1400" dirty="0">
                <a:solidFill>
                  <a:schemeClr val="tx2"/>
                </a:solidFill>
              </a:rPr>
              <a:t>Tiền xử lý → máy suy diễn luật, CBR, Random Forest → bộ tổng hợp: giá, khoảng giá, độ tin cậy, cảnh báo, giải thích</a:t>
            </a:r>
            <a:endParaRPr lang="en-US" sz="1400" dirty="0"/>
          </a:p>
        </p:txBody>
      </p:sp>
      <p:sp>
        <p:nvSpPr>
          <p:cNvPr id="15" name="Tang 3"/>
          <p:cNvSpPr/>
          <p:nvPr/>
        </p:nvSpPr>
        <p:spPr>
          <a:xfrm>
            <a:off x="5353531" y="4709160"/>
            <a:ext cx="6149621" cy="1298448"/>
          </a:xfrm>
          <a:prstGeom prst="roundRect">
            <a:avLst>
              <a:gd name="adj" fmla="val 5634"/>
            </a:avLst>
          </a:prstGeom>
          <a:solidFill>
            <a:schemeClr val="bg2"/>
          </a:solidFill>
          <a:ln/>
        </p:spPr>
      </p:sp>
      <p:sp>
        <p:nvSpPr>
          <p:cNvPr id="16" name="So 3"/>
          <p:cNvSpPr/>
          <p:nvPr/>
        </p:nvSpPr>
        <p:spPr>
          <a:xfrm>
            <a:off x="5582131" y="4910328"/>
            <a:ext cx="365760" cy="365760"/>
          </a:xfrm>
          <a:prstGeom prst="ellipse">
            <a:avLst/>
          </a:prstGeom>
          <a:solidFill>
            <a:schemeClr val="accent3"/>
          </a:solidFill>
          <a:ln/>
        </p:spPr>
      </p:sp>
      <p:sp>
        <p:nvSpPr>
          <p:cNvPr id="17" name="Text 14"/>
          <p:cNvSpPr txBox="1"/>
          <p:nvPr/>
        </p:nvSpPr>
        <p:spPr>
          <a:xfrm>
            <a:off x="5582131" y="491032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8" name="Text 15"/>
          <p:cNvSpPr txBox="1"/>
          <p:nvPr/>
        </p:nvSpPr>
        <p:spPr>
          <a:xfrm>
            <a:off x="6085051" y="4892040"/>
            <a:ext cx="5235221" cy="411480"/>
          </a:xfrm>
          <a:prstGeom prst="rect">
            <a:avLst/>
          </a:prstGeom>
          <a:noFill/>
          <a:ln/>
        </p:spPr>
        <p:txBody>
          <a:bodyPr wrap="square" lIns="0" tIns="0" rIns="0" bIns="0" rtlCol="0" anchor="ctr"/>
          <a:lstStyle/>
          <a:p>
            <a:pPr indent="0" marL="0">
              <a:buNone/>
            </a:pPr>
            <a:r>
              <a:rPr lang="en-US" sz="1800" b="1" dirty="0">
                <a:solidFill>
                  <a:schemeClr val="accent3"/>
                </a:solidFill>
              </a:rPr>
              <a:t>Tri thức và dữ liệu</a:t>
            </a:r>
            <a:endParaRPr lang="en-US" sz="1800" dirty="0"/>
          </a:p>
        </p:txBody>
      </p:sp>
      <p:sp>
        <p:nvSpPr>
          <p:cNvPr id="19" name="Text 16"/>
          <p:cNvSpPr txBox="1"/>
          <p:nvPr/>
        </p:nvSpPr>
        <p:spPr>
          <a:xfrm>
            <a:off x="5582131" y="5367528"/>
            <a:ext cx="5692421" cy="594360"/>
          </a:xfrm>
          <a:prstGeom prst="rect">
            <a:avLst/>
          </a:prstGeom>
          <a:noFill/>
          <a:ln/>
        </p:spPr>
        <p:txBody>
          <a:bodyPr wrap="square" lIns="0" tIns="0" rIns="0" bIns="0" rtlCol="0" anchor="t"/>
          <a:lstStyle/>
          <a:p>
            <a:pPr indent="0" marL="0">
              <a:buNone/>
            </a:pPr>
            <a:r>
              <a:rPr lang="en-US" sz="1400" dirty="0">
                <a:solidFill>
                  <a:schemeClr val="tx2"/>
                </a:solidFill>
              </a:rPr>
              <a:t>Khung tri thức, rules.json, cơ sở tình huống, mô hình RF, lịch sử định giá; pipeline thu thập tin rao</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411480"/>
            <a:ext cx="10817352" cy="36576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CHƯƠNG 2 · CƠ SỞ TRI THỨC</a:t>
            </a:r>
            <a:endParaRPr lang="en-US" sz="1200" dirty="0"/>
          </a:p>
        </p:txBody>
      </p:sp>
      <p:sp>
        <p:nvSpPr>
          <p:cNvPr id="3" name="Text 0"/>
          <p:cNvSpPr/>
          <p:nvPr>
            <p:ph idx="101" type="title" hasCustomPrompt="1"/>
          </p:nvPr>
        </p:nvSpPr>
        <p:spPr>
          <a:xfrm>
            <a:off x="685800" y="777240"/>
            <a:ext cx="10817352" cy="731520"/>
          </a:xfrm>
          <a:prstGeom prst="rect">
            <a:avLst/>
          </a:prstGeom>
          <a:noFill/>
          <a:ln/>
        </p:spPr>
        <p:txBody>
          <a:bodyPr wrap="square" lIns="0" tIns="0" rIns="0" bIns="0" rtlCol="0" anchor="ctr"/>
          <a:lstStyle/>
          <a:p>
            <a:pPr algn="l" indent="0" marL="0">
              <a:buNone/>
            </a:pPr>
            <a:r>
              <a:rPr lang="en-US" sz="3000" b="1" dirty="0">
                <a:solidFill>
                  <a:schemeClr val="tx1"/>
                </a:solidFill>
              </a:rPr>
              <a:t>Cơ sở tri thức: 25 luật trong 8 nhóm</a:t>
            </a:r>
            <a:endParaRPr lang="en-US" sz="3000" dirty="0"/>
          </a:p>
        </p:txBody>
      </p:sp>
      <p:sp>
        <p:nvSpPr>
          <p:cNvPr id="4" name="Cong thuc gia"/>
          <p:cNvSpPr/>
          <p:nvPr/>
        </p:nvSpPr>
        <p:spPr>
          <a:xfrm>
            <a:off x="685800" y="1691640"/>
            <a:ext cx="10817352" cy="640080"/>
          </a:xfrm>
          <a:prstGeom prst="roundRect">
            <a:avLst>
              <a:gd name="adj" fmla="val 11429"/>
            </a:avLst>
          </a:prstGeom>
          <a:solidFill>
            <a:schemeClr val="tx1"/>
          </a:solidFill>
          <a:ln/>
        </p:spPr>
      </p:sp>
      <p:sp>
        <p:nvSpPr>
          <p:cNvPr id="5" name="Text 3"/>
          <p:cNvSpPr txBox="1"/>
          <p:nvPr/>
        </p:nvSpPr>
        <p:spPr>
          <a:xfrm>
            <a:off x="960120" y="1691640"/>
            <a:ext cx="10268712" cy="640080"/>
          </a:xfrm>
          <a:prstGeom prst="rect">
            <a:avLst/>
          </a:prstGeom>
          <a:noFill/>
          <a:ln/>
        </p:spPr>
        <p:txBody>
          <a:bodyPr wrap="square" lIns="0" tIns="0" rIns="0" bIns="0" rtlCol="0" anchor="ctr"/>
          <a:lstStyle/>
          <a:p>
            <a:pPr indent="0" marL="0">
              <a:buNone/>
            </a:pPr>
            <a:r>
              <a:rPr lang="en-US" sz="1600" b="1" dirty="0">
                <a:solidFill>
                  <a:schemeClr val="bg1"/>
                </a:solidFill>
              </a:rPr>
              <a:t>P_luật = P_mới × K_tuổi × K_km × K_hãng × K_kỹ thuật × K_lịch sử × K_tình trạng × K_thị trường</a:t>
            </a:r>
            <a:endParaRPr lang="en-US" sz="1600" dirty="0"/>
          </a:p>
        </p:txBody>
      </p:sp>
      <p:sp>
        <p:nvSpPr>
          <p:cNvPr id="6" name="Nhom luat 1"/>
          <p:cNvSpPr/>
          <p:nvPr/>
        </p:nvSpPr>
        <p:spPr>
          <a:xfrm>
            <a:off x="685800" y="2560320"/>
            <a:ext cx="2498598" cy="1737360"/>
          </a:xfrm>
          <a:prstGeom prst="roundRect">
            <a:avLst>
              <a:gd name="adj" fmla="val 4211"/>
            </a:avLst>
          </a:prstGeom>
          <a:solidFill>
            <a:schemeClr val="bg1"/>
          </a:solidFill>
          <a:ln/>
          <a:effectLst>
            <a:outerShdw sx="100000" sy="100000" kx="0" ky="0" algn="bl" rotWithShape="0" blurRad="76200" dist="25400" dir="5400000">
              <a:srgbClr val="14213D">
                <a:alpha val="12000"/>
              </a:srgbClr>
            </a:outerShdw>
          </a:effectLst>
        </p:spPr>
      </p:sp>
      <p:sp>
        <p:nvSpPr>
          <p:cNvPr id="7" name="Text 5"/>
          <p:cNvSpPr txBox="1"/>
          <p:nvPr/>
        </p:nvSpPr>
        <p:spPr>
          <a:xfrm>
            <a:off x="914400" y="2743200"/>
            <a:ext cx="2041398" cy="274320"/>
          </a:xfrm>
          <a:prstGeom prst="rect">
            <a:avLst/>
          </a:prstGeom>
          <a:noFill/>
          <a:ln/>
        </p:spPr>
        <p:txBody>
          <a:bodyPr wrap="square" lIns="0" tIns="0" rIns="0" bIns="0" rtlCol="0" anchor="t"/>
          <a:lstStyle/>
          <a:p>
            <a:pPr indent="0" marL="0">
              <a:buNone/>
            </a:pPr>
            <a:r>
              <a:rPr lang="en-US" sz="1300" b="1" dirty="0">
                <a:solidFill>
                  <a:schemeClr val="accent1"/>
                </a:solidFill>
              </a:rPr>
              <a:t>R01–R04</a:t>
            </a:r>
            <a:endParaRPr lang="en-US" sz="1300" dirty="0"/>
          </a:p>
        </p:txBody>
      </p:sp>
      <p:sp>
        <p:nvSpPr>
          <p:cNvPr id="8" name="Text 6"/>
          <p:cNvSpPr txBox="1"/>
          <p:nvPr/>
        </p:nvSpPr>
        <p:spPr>
          <a:xfrm>
            <a:off x="914400" y="3035808"/>
            <a:ext cx="2041398" cy="365760"/>
          </a:xfrm>
          <a:prstGeom prst="rect">
            <a:avLst/>
          </a:prstGeom>
          <a:noFill/>
          <a:ln/>
        </p:spPr>
        <p:txBody>
          <a:bodyPr wrap="square" lIns="0" tIns="0" rIns="0" bIns="0" rtlCol="0" anchor="t"/>
          <a:lstStyle/>
          <a:p>
            <a:pPr indent="0" marL="0">
              <a:buNone/>
            </a:pPr>
            <a:r>
              <a:rPr lang="en-US" sz="1700" b="1" dirty="0">
                <a:solidFill>
                  <a:schemeClr val="tx1"/>
                </a:solidFill>
              </a:rPr>
              <a:t>Tuổi xe</a:t>
            </a:r>
            <a:endParaRPr lang="en-US" sz="1700" dirty="0"/>
          </a:p>
        </p:txBody>
      </p:sp>
      <p:sp>
        <p:nvSpPr>
          <p:cNvPr id="9" name="Text 7"/>
          <p:cNvSpPr txBox="1"/>
          <p:nvPr/>
        </p:nvSpPr>
        <p:spPr>
          <a:xfrm>
            <a:off x="914400" y="3447288"/>
            <a:ext cx="2041398" cy="777240"/>
          </a:xfrm>
          <a:prstGeom prst="rect">
            <a:avLst/>
          </a:prstGeom>
          <a:noFill/>
          <a:ln/>
        </p:spPr>
        <p:txBody>
          <a:bodyPr wrap="square" lIns="0" tIns="0" rIns="0" bIns="0" rtlCol="0" anchor="t"/>
          <a:lstStyle/>
          <a:p>
            <a:pPr indent="0" marL="0">
              <a:buNone/>
            </a:pPr>
            <a:r>
              <a:rPr lang="en-US" sz="1400" dirty="0">
                <a:solidFill>
                  <a:schemeClr val="tx2"/>
                </a:solidFill>
              </a:rPr>
              <a:t>4 khoảng tuổi; hệ số từ 0,88 giảm dần, tối thiểu 0,30</a:t>
            </a:r>
            <a:endParaRPr lang="en-US" sz="1400" dirty="0"/>
          </a:p>
        </p:txBody>
      </p:sp>
      <p:sp>
        <p:nvSpPr>
          <p:cNvPr id="10" name="Nhom luat 2"/>
          <p:cNvSpPr/>
          <p:nvPr/>
        </p:nvSpPr>
        <p:spPr>
          <a:xfrm>
            <a:off x="3458718" y="2560320"/>
            <a:ext cx="2498598" cy="1737360"/>
          </a:xfrm>
          <a:prstGeom prst="roundRect">
            <a:avLst>
              <a:gd name="adj" fmla="val 4211"/>
            </a:avLst>
          </a:prstGeom>
          <a:solidFill>
            <a:schemeClr val="bg1"/>
          </a:solidFill>
          <a:ln/>
          <a:effectLst>
            <a:outerShdw sx="100000" sy="100000" kx="0" ky="0" algn="bl" rotWithShape="0" blurRad="76200" dist="25400" dir="5400000">
              <a:srgbClr val="14213D">
                <a:alpha val="12000"/>
              </a:srgbClr>
            </a:outerShdw>
          </a:effectLst>
        </p:spPr>
      </p:sp>
      <p:sp>
        <p:nvSpPr>
          <p:cNvPr id="11" name="Text 9"/>
          <p:cNvSpPr txBox="1"/>
          <p:nvPr/>
        </p:nvSpPr>
        <p:spPr>
          <a:xfrm>
            <a:off x="3687318" y="2743200"/>
            <a:ext cx="2041398" cy="274320"/>
          </a:xfrm>
          <a:prstGeom prst="rect">
            <a:avLst/>
          </a:prstGeom>
          <a:noFill/>
          <a:ln/>
        </p:spPr>
        <p:txBody>
          <a:bodyPr wrap="square" lIns="0" tIns="0" rIns="0" bIns="0" rtlCol="0" anchor="t"/>
          <a:lstStyle/>
          <a:p>
            <a:pPr indent="0" marL="0">
              <a:buNone/>
            </a:pPr>
            <a:r>
              <a:rPr lang="en-US" sz="1300" b="1" dirty="0">
                <a:solidFill>
                  <a:schemeClr val="accent1"/>
                </a:solidFill>
              </a:rPr>
              <a:t>R05–R08</a:t>
            </a:r>
            <a:endParaRPr lang="en-US" sz="1300" dirty="0"/>
          </a:p>
        </p:txBody>
      </p:sp>
      <p:sp>
        <p:nvSpPr>
          <p:cNvPr id="12" name="Text 10"/>
          <p:cNvSpPr txBox="1"/>
          <p:nvPr/>
        </p:nvSpPr>
        <p:spPr>
          <a:xfrm>
            <a:off x="3687318" y="3035808"/>
            <a:ext cx="2041398" cy="365760"/>
          </a:xfrm>
          <a:prstGeom prst="rect">
            <a:avLst/>
          </a:prstGeom>
          <a:noFill/>
          <a:ln/>
        </p:spPr>
        <p:txBody>
          <a:bodyPr wrap="square" lIns="0" tIns="0" rIns="0" bIns="0" rtlCol="0" anchor="t"/>
          <a:lstStyle/>
          <a:p>
            <a:pPr indent="0" marL="0">
              <a:buNone/>
            </a:pPr>
            <a:r>
              <a:rPr lang="en-US" sz="1700" b="1" dirty="0">
                <a:solidFill>
                  <a:schemeClr val="tx1"/>
                </a:solidFill>
              </a:rPr>
              <a:t>Số km</a:t>
            </a:r>
            <a:endParaRPr lang="en-US" sz="1700" dirty="0"/>
          </a:p>
        </p:txBody>
      </p:sp>
      <p:sp>
        <p:nvSpPr>
          <p:cNvPr id="13" name="Text 11"/>
          <p:cNvSpPr txBox="1"/>
          <p:nvPr/>
        </p:nvSpPr>
        <p:spPr>
          <a:xfrm>
            <a:off x="3687318" y="3447288"/>
            <a:ext cx="2041398" cy="777240"/>
          </a:xfrm>
          <a:prstGeom prst="rect">
            <a:avLst/>
          </a:prstGeom>
          <a:noFill/>
          <a:ln/>
        </p:spPr>
        <p:txBody>
          <a:bodyPr wrap="square" lIns="0" tIns="0" rIns="0" bIns="0" rtlCol="0" anchor="t"/>
          <a:lstStyle/>
          <a:p>
            <a:pPr indent="0" marL="0">
              <a:buNone/>
            </a:pPr>
            <a:r>
              <a:rPr lang="en-US" sz="1400" dirty="0">
                <a:solidFill>
                  <a:schemeClr val="tx2"/>
                </a:solidFill>
              </a:rPr>
              <a:t>So với km chuẩn = 15.000 × tuổi xe</a:t>
            </a:r>
            <a:endParaRPr lang="en-US" sz="1400" dirty="0"/>
          </a:p>
        </p:txBody>
      </p:sp>
      <p:sp>
        <p:nvSpPr>
          <p:cNvPr id="14" name="Nhom luat 3"/>
          <p:cNvSpPr/>
          <p:nvPr/>
        </p:nvSpPr>
        <p:spPr>
          <a:xfrm>
            <a:off x="6231636" y="2560320"/>
            <a:ext cx="2498598" cy="1737360"/>
          </a:xfrm>
          <a:prstGeom prst="roundRect">
            <a:avLst>
              <a:gd name="adj" fmla="val 4211"/>
            </a:avLst>
          </a:prstGeom>
          <a:solidFill>
            <a:schemeClr val="bg1"/>
          </a:solidFill>
          <a:ln/>
          <a:effectLst>
            <a:outerShdw sx="100000" sy="100000" kx="0" ky="0" algn="bl" rotWithShape="0" blurRad="76200" dist="25400" dir="5400000">
              <a:srgbClr val="14213D">
                <a:alpha val="12000"/>
              </a:srgbClr>
            </a:outerShdw>
          </a:effectLst>
        </p:spPr>
      </p:sp>
      <p:sp>
        <p:nvSpPr>
          <p:cNvPr id="15" name="Text 13"/>
          <p:cNvSpPr txBox="1"/>
          <p:nvPr/>
        </p:nvSpPr>
        <p:spPr>
          <a:xfrm>
            <a:off x="6460236" y="2743200"/>
            <a:ext cx="2041398" cy="274320"/>
          </a:xfrm>
          <a:prstGeom prst="rect">
            <a:avLst/>
          </a:prstGeom>
          <a:noFill/>
          <a:ln/>
        </p:spPr>
        <p:txBody>
          <a:bodyPr wrap="square" lIns="0" tIns="0" rIns="0" bIns="0" rtlCol="0" anchor="t"/>
          <a:lstStyle/>
          <a:p>
            <a:pPr indent="0" marL="0">
              <a:buNone/>
            </a:pPr>
            <a:r>
              <a:rPr lang="en-US" sz="1300" b="1" dirty="0">
                <a:solidFill>
                  <a:schemeClr val="accent1"/>
                </a:solidFill>
              </a:rPr>
              <a:t>R09–R12</a:t>
            </a:r>
            <a:endParaRPr lang="en-US" sz="1300" dirty="0"/>
          </a:p>
        </p:txBody>
      </p:sp>
      <p:sp>
        <p:nvSpPr>
          <p:cNvPr id="16" name="Text 14"/>
          <p:cNvSpPr txBox="1"/>
          <p:nvPr/>
        </p:nvSpPr>
        <p:spPr>
          <a:xfrm>
            <a:off x="6460236" y="3035808"/>
            <a:ext cx="2041398" cy="365760"/>
          </a:xfrm>
          <a:prstGeom prst="rect">
            <a:avLst/>
          </a:prstGeom>
          <a:noFill/>
          <a:ln/>
        </p:spPr>
        <p:txBody>
          <a:bodyPr wrap="square" lIns="0" tIns="0" rIns="0" bIns="0" rtlCol="0" anchor="t"/>
          <a:lstStyle/>
          <a:p>
            <a:pPr indent="0" marL="0">
              <a:buNone/>
            </a:pPr>
            <a:r>
              <a:rPr lang="en-US" sz="1700" b="1" dirty="0">
                <a:solidFill>
                  <a:schemeClr val="tx1"/>
                </a:solidFill>
              </a:rPr>
              <a:t>Hãng</a:t>
            </a:r>
            <a:endParaRPr lang="en-US" sz="1700" dirty="0"/>
          </a:p>
        </p:txBody>
      </p:sp>
      <p:sp>
        <p:nvSpPr>
          <p:cNvPr id="17" name="Text 15"/>
          <p:cNvSpPr txBox="1"/>
          <p:nvPr/>
        </p:nvSpPr>
        <p:spPr>
          <a:xfrm>
            <a:off x="6460236" y="3447288"/>
            <a:ext cx="2041398" cy="777240"/>
          </a:xfrm>
          <a:prstGeom prst="rect">
            <a:avLst/>
          </a:prstGeom>
          <a:noFill/>
          <a:ln/>
        </p:spPr>
        <p:txBody>
          <a:bodyPr wrap="square" lIns="0" tIns="0" rIns="0" bIns="0" rtlCol="0" anchor="t"/>
          <a:lstStyle/>
          <a:p>
            <a:pPr indent="0" marL="0">
              <a:buNone/>
            </a:pPr>
            <a:r>
              <a:rPr lang="en-US" sz="1400" dirty="0">
                <a:solidFill>
                  <a:schemeClr val="tx2"/>
                </a:solidFill>
              </a:rPr>
              <a:t>Toyota, Honda, Lexus 1,05; xe châu Âu 0,92</a:t>
            </a:r>
            <a:endParaRPr lang="en-US" sz="1400" dirty="0"/>
          </a:p>
        </p:txBody>
      </p:sp>
      <p:sp>
        <p:nvSpPr>
          <p:cNvPr id="18" name="Nhom luat 4"/>
          <p:cNvSpPr/>
          <p:nvPr/>
        </p:nvSpPr>
        <p:spPr>
          <a:xfrm>
            <a:off x="9004554" y="2560320"/>
            <a:ext cx="2498598" cy="1737360"/>
          </a:xfrm>
          <a:prstGeom prst="roundRect">
            <a:avLst>
              <a:gd name="adj" fmla="val 4211"/>
            </a:avLst>
          </a:prstGeom>
          <a:solidFill>
            <a:schemeClr val="bg1"/>
          </a:solidFill>
          <a:ln/>
          <a:effectLst>
            <a:outerShdw sx="100000" sy="100000" kx="0" ky="0" algn="bl" rotWithShape="0" blurRad="76200" dist="25400" dir="5400000">
              <a:srgbClr val="14213D">
                <a:alpha val="12000"/>
              </a:srgbClr>
            </a:outerShdw>
          </a:effectLst>
        </p:spPr>
      </p:sp>
      <p:sp>
        <p:nvSpPr>
          <p:cNvPr id="19" name="Text 17"/>
          <p:cNvSpPr txBox="1"/>
          <p:nvPr/>
        </p:nvSpPr>
        <p:spPr>
          <a:xfrm>
            <a:off x="9233154" y="2743200"/>
            <a:ext cx="2041398" cy="274320"/>
          </a:xfrm>
          <a:prstGeom prst="rect">
            <a:avLst/>
          </a:prstGeom>
          <a:noFill/>
          <a:ln/>
        </p:spPr>
        <p:txBody>
          <a:bodyPr wrap="square" lIns="0" tIns="0" rIns="0" bIns="0" rtlCol="0" anchor="t"/>
          <a:lstStyle/>
          <a:p>
            <a:pPr indent="0" marL="0">
              <a:buNone/>
            </a:pPr>
            <a:r>
              <a:rPr lang="en-US" sz="1300" b="1" dirty="0">
                <a:solidFill>
                  <a:schemeClr val="accent1"/>
                </a:solidFill>
              </a:rPr>
              <a:t>R13–R15</a:t>
            </a:r>
            <a:endParaRPr lang="en-US" sz="1300" dirty="0"/>
          </a:p>
        </p:txBody>
      </p:sp>
      <p:sp>
        <p:nvSpPr>
          <p:cNvPr id="20" name="Text 18"/>
          <p:cNvSpPr txBox="1"/>
          <p:nvPr/>
        </p:nvSpPr>
        <p:spPr>
          <a:xfrm>
            <a:off x="9233154" y="3035808"/>
            <a:ext cx="2041398" cy="365760"/>
          </a:xfrm>
          <a:prstGeom prst="rect">
            <a:avLst/>
          </a:prstGeom>
          <a:noFill/>
          <a:ln/>
        </p:spPr>
        <p:txBody>
          <a:bodyPr wrap="square" lIns="0" tIns="0" rIns="0" bIns="0" rtlCol="0" anchor="t"/>
          <a:lstStyle/>
          <a:p>
            <a:pPr indent="0" marL="0">
              <a:buNone/>
            </a:pPr>
            <a:r>
              <a:rPr lang="en-US" sz="1700" b="1" dirty="0">
                <a:solidFill>
                  <a:schemeClr val="tx1"/>
                </a:solidFill>
              </a:rPr>
              <a:t>Kỹ thuật</a:t>
            </a:r>
            <a:endParaRPr lang="en-US" sz="1700" dirty="0"/>
          </a:p>
        </p:txBody>
      </p:sp>
      <p:sp>
        <p:nvSpPr>
          <p:cNvPr id="21" name="Text 19"/>
          <p:cNvSpPr txBox="1"/>
          <p:nvPr/>
        </p:nvSpPr>
        <p:spPr>
          <a:xfrm>
            <a:off x="9233154" y="3447288"/>
            <a:ext cx="2041398" cy="777240"/>
          </a:xfrm>
          <a:prstGeom prst="rect">
            <a:avLst/>
          </a:prstGeom>
          <a:noFill/>
          <a:ln/>
        </p:spPr>
        <p:txBody>
          <a:bodyPr wrap="square" lIns="0" tIns="0" rIns="0" bIns="0" rtlCol="0" anchor="t"/>
          <a:lstStyle/>
          <a:p>
            <a:pPr indent="0" marL="0">
              <a:buNone/>
            </a:pPr>
            <a:r>
              <a:rPr lang="en-US" sz="1400" dirty="0">
                <a:solidFill>
                  <a:schemeClr val="tx2"/>
                </a:solidFill>
              </a:rPr>
              <a:t>Số sàn, xe điện, xe nhập khẩu</a:t>
            </a:r>
            <a:endParaRPr lang="en-US" sz="1400" dirty="0"/>
          </a:p>
        </p:txBody>
      </p:sp>
      <p:sp>
        <p:nvSpPr>
          <p:cNvPr id="22" name="Nhom luat 5"/>
          <p:cNvSpPr/>
          <p:nvPr/>
        </p:nvSpPr>
        <p:spPr>
          <a:xfrm>
            <a:off x="685800" y="4526280"/>
            <a:ext cx="2498598" cy="1737360"/>
          </a:xfrm>
          <a:prstGeom prst="roundRect">
            <a:avLst>
              <a:gd name="adj" fmla="val 4211"/>
            </a:avLst>
          </a:prstGeom>
          <a:solidFill>
            <a:schemeClr val="bg1"/>
          </a:solidFill>
          <a:ln/>
          <a:effectLst>
            <a:outerShdw sx="100000" sy="100000" kx="0" ky="0" algn="bl" rotWithShape="0" blurRad="76200" dist="25400" dir="5400000">
              <a:srgbClr val="14213D">
                <a:alpha val="12000"/>
              </a:srgbClr>
            </a:outerShdw>
          </a:effectLst>
        </p:spPr>
      </p:sp>
      <p:sp>
        <p:nvSpPr>
          <p:cNvPr id="23" name="Text 21"/>
          <p:cNvSpPr txBox="1"/>
          <p:nvPr/>
        </p:nvSpPr>
        <p:spPr>
          <a:xfrm>
            <a:off x="914400" y="4709160"/>
            <a:ext cx="2041398" cy="274320"/>
          </a:xfrm>
          <a:prstGeom prst="rect">
            <a:avLst/>
          </a:prstGeom>
          <a:noFill/>
          <a:ln/>
        </p:spPr>
        <p:txBody>
          <a:bodyPr wrap="square" lIns="0" tIns="0" rIns="0" bIns="0" rtlCol="0" anchor="t"/>
          <a:lstStyle/>
          <a:p>
            <a:pPr indent="0" marL="0">
              <a:buNone/>
            </a:pPr>
            <a:r>
              <a:rPr lang="en-US" sz="1300" b="1" dirty="0">
                <a:solidFill>
                  <a:schemeClr val="accent1"/>
                </a:solidFill>
              </a:rPr>
              <a:t>R16–R20</a:t>
            </a:r>
            <a:endParaRPr lang="en-US" sz="1300" dirty="0"/>
          </a:p>
        </p:txBody>
      </p:sp>
      <p:sp>
        <p:nvSpPr>
          <p:cNvPr id="24" name="Text 22"/>
          <p:cNvSpPr txBox="1"/>
          <p:nvPr/>
        </p:nvSpPr>
        <p:spPr>
          <a:xfrm>
            <a:off x="914400" y="5001768"/>
            <a:ext cx="2041398" cy="365760"/>
          </a:xfrm>
          <a:prstGeom prst="rect">
            <a:avLst/>
          </a:prstGeom>
          <a:noFill/>
          <a:ln/>
        </p:spPr>
        <p:txBody>
          <a:bodyPr wrap="square" lIns="0" tIns="0" rIns="0" bIns="0" rtlCol="0" anchor="t"/>
          <a:lstStyle/>
          <a:p>
            <a:pPr indent="0" marL="0">
              <a:buNone/>
            </a:pPr>
            <a:r>
              <a:rPr lang="en-US" sz="1700" b="1" dirty="0">
                <a:solidFill>
                  <a:schemeClr val="tx1"/>
                </a:solidFill>
              </a:rPr>
              <a:t>Lịch sử</a:t>
            </a:r>
            <a:endParaRPr lang="en-US" sz="1700" dirty="0"/>
          </a:p>
        </p:txBody>
      </p:sp>
      <p:sp>
        <p:nvSpPr>
          <p:cNvPr id="25" name="Text 23"/>
          <p:cNvSpPr txBox="1"/>
          <p:nvPr/>
        </p:nvSpPr>
        <p:spPr>
          <a:xfrm>
            <a:off x="914400" y="5413248"/>
            <a:ext cx="2041398" cy="777240"/>
          </a:xfrm>
          <a:prstGeom prst="rect">
            <a:avLst/>
          </a:prstGeom>
          <a:noFill/>
          <a:ln/>
        </p:spPr>
        <p:txBody>
          <a:bodyPr wrap="square" lIns="0" tIns="0" rIns="0" bIns="0" rtlCol="0" anchor="t"/>
          <a:lstStyle/>
          <a:p>
            <a:pPr indent="0" marL="0">
              <a:buNone/>
            </a:pPr>
            <a:r>
              <a:rPr lang="en-US" sz="1400" dirty="0">
                <a:solidFill>
                  <a:schemeClr val="tx2"/>
                </a:solidFill>
              </a:rPr>
              <a:t>Số chủ, bảo dưỡng, ngập nước, tai nạn, xe dịch vụ</a:t>
            </a:r>
            <a:endParaRPr lang="en-US" sz="1400" dirty="0"/>
          </a:p>
        </p:txBody>
      </p:sp>
      <p:sp>
        <p:nvSpPr>
          <p:cNvPr id="26" name="Nhom luat 6"/>
          <p:cNvSpPr/>
          <p:nvPr/>
        </p:nvSpPr>
        <p:spPr>
          <a:xfrm>
            <a:off x="3458718" y="4526280"/>
            <a:ext cx="2498598" cy="1737360"/>
          </a:xfrm>
          <a:prstGeom prst="roundRect">
            <a:avLst>
              <a:gd name="adj" fmla="val 4211"/>
            </a:avLst>
          </a:prstGeom>
          <a:solidFill>
            <a:schemeClr val="bg1"/>
          </a:solidFill>
          <a:ln/>
          <a:effectLst>
            <a:outerShdw sx="100000" sy="100000" kx="0" ky="0" algn="bl" rotWithShape="0" blurRad="76200" dist="25400" dir="5400000">
              <a:srgbClr val="14213D">
                <a:alpha val="12000"/>
              </a:srgbClr>
            </a:outerShdw>
          </a:effectLst>
        </p:spPr>
      </p:sp>
      <p:sp>
        <p:nvSpPr>
          <p:cNvPr id="27" name="Text 25"/>
          <p:cNvSpPr txBox="1"/>
          <p:nvPr/>
        </p:nvSpPr>
        <p:spPr>
          <a:xfrm>
            <a:off x="3687318" y="4709160"/>
            <a:ext cx="2041398" cy="274320"/>
          </a:xfrm>
          <a:prstGeom prst="rect">
            <a:avLst/>
          </a:prstGeom>
          <a:noFill/>
          <a:ln/>
        </p:spPr>
        <p:txBody>
          <a:bodyPr wrap="square" lIns="0" tIns="0" rIns="0" bIns="0" rtlCol="0" anchor="t"/>
          <a:lstStyle/>
          <a:p>
            <a:pPr indent="0" marL="0">
              <a:buNone/>
            </a:pPr>
            <a:r>
              <a:rPr lang="en-US" sz="1300" b="1" dirty="0">
                <a:solidFill>
                  <a:schemeClr val="accent1"/>
                </a:solidFill>
              </a:rPr>
              <a:t>R21</a:t>
            </a:r>
            <a:endParaRPr lang="en-US" sz="1300" dirty="0"/>
          </a:p>
        </p:txBody>
      </p:sp>
      <p:sp>
        <p:nvSpPr>
          <p:cNvPr id="28" name="Text 26"/>
          <p:cNvSpPr txBox="1"/>
          <p:nvPr/>
        </p:nvSpPr>
        <p:spPr>
          <a:xfrm>
            <a:off x="3687318" y="5001768"/>
            <a:ext cx="2041398" cy="365760"/>
          </a:xfrm>
          <a:prstGeom prst="rect">
            <a:avLst/>
          </a:prstGeom>
          <a:noFill/>
          <a:ln/>
        </p:spPr>
        <p:txBody>
          <a:bodyPr wrap="square" lIns="0" tIns="0" rIns="0" bIns="0" rtlCol="0" anchor="t"/>
          <a:lstStyle/>
          <a:p>
            <a:pPr indent="0" marL="0">
              <a:buNone/>
            </a:pPr>
            <a:r>
              <a:rPr lang="en-US" sz="1700" b="1" dirty="0">
                <a:solidFill>
                  <a:schemeClr val="tx1"/>
                </a:solidFill>
              </a:rPr>
              <a:t>Tình trạng</a:t>
            </a:r>
            <a:endParaRPr lang="en-US" sz="1700" dirty="0"/>
          </a:p>
        </p:txBody>
      </p:sp>
      <p:sp>
        <p:nvSpPr>
          <p:cNvPr id="29" name="Text 27"/>
          <p:cNvSpPr txBox="1"/>
          <p:nvPr/>
        </p:nvSpPr>
        <p:spPr>
          <a:xfrm>
            <a:off x="3687318" y="5413248"/>
            <a:ext cx="2041398" cy="777240"/>
          </a:xfrm>
          <a:prstGeom prst="rect">
            <a:avLst/>
          </a:prstGeom>
          <a:noFill/>
          <a:ln/>
        </p:spPr>
        <p:txBody>
          <a:bodyPr wrap="square" lIns="0" tIns="0" rIns="0" bIns="0" rtlCol="0" anchor="t"/>
          <a:lstStyle/>
          <a:p>
            <a:pPr indent="0" marL="0">
              <a:buNone/>
            </a:pPr>
            <a:r>
              <a:rPr lang="en-US" sz="1400" dirty="0">
                <a:solidFill>
                  <a:schemeClr val="tx2"/>
                </a:solidFill>
              </a:rPr>
              <a:t>Tốt 1,00 · Trung bình 0,95 · Kém 0,88</a:t>
            </a:r>
            <a:endParaRPr lang="en-US" sz="1400" dirty="0"/>
          </a:p>
        </p:txBody>
      </p:sp>
      <p:sp>
        <p:nvSpPr>
          <p:cNvPr id="30" name="Nhom luat 7"/>
          <p:cNvSpPr/>
          <p:nvPr/>
        </p:nvSpPr>
        <p:spPr>
          <a:xfrm>
            <a:off x="6231636" y="4526280"/>
            <a:ext cx="2498598" cy="1737360"/>
          </a:xfrm>
          <a:prstGeom prst="roundRect">
            <a:avLst>
              <a:gd name="adj" fmla="val 4211"/>
            </a:avLst>
          </a:prstGeom>
          <a:solidFill>
            <a:schemeClr val="bg1"/>
          </a:solidFill>
          <a:ln/>
          <a:effectLst>
            <a:outerShdw sx="100000" sy="100000" kx="0" ky="0" algn="bl" rotWithShape="0" blurRad="76200" dist="25400" dir="5400000">
              <a:srgbClr val="14213D">
                <a:alpha val="12000"/>
              </a:srgbClr>
            </a:outerShdw>
          </a:effectLst>
        </p:spPr>
      </p:sp>
      <p:sp>
        <p:nvSpPr>
          <p:cNvPr id="31" name="Text 29"/>
          <p:cNvSpPr txBox="1"/>
          <p:nvPr/>
        </p:nvSpPr>
        <p:spPr>
          <a:xfrm>
            <a:off x="6460236" y="4709160"/>
            <a:ext cx="2041398" cy="274320"/>
          </a:xfrm>
          <a:prstGeom prst="rect">
            <a:avLst/>
          </a:prstGeom>
          <a:noFill/>
          <a:ln/>
        </p:spPr>
        <p:txBody>
          <a:bodyPr wrap="square" lIns="0" tIns="0" rIns="0" bIns="0" rtlCol="0" anchor="t"/>
          <a:lstStyle/>
          <a:p>
            <a:pPr indent="0" marL="0">
              <a:buNone/>
            </a:pPr>
            <a:r>
              <a:rPr lang="en-US" sz="1300" b="1" dirty="0">
                <a:solidFill>
                  <a:schemeClr val="accent1"/>
                </a:solidFill>
              </a:rPr>
              <a:t>R22</a:t>
            </a:r>
            <a:endParaRPr lang="en-US" sz="1300" dirty="0"/>
          </a:p>
        </p:txBody>
      </p:sp>
      <p:sp>
        <p:nvSpPr>
          <p:cNvPr id="32" name="Text 30"/>
          <p:cNvSpPr txBox="1"/>
          <p:nvPr/>
        </p:nvSpPr>
        <p:spPr>
          <a:xfrm>
            <a:off x="6460236" y="5001768"/>
            <a:ext cx="2041398" cy="365760"/>
          </a:xfrm>
          <a:prstGeom prst="rect">
            <a:avLst/>
          </a:prstGeom>
          <a:noFill/>
          <a:ln/>
        </p:spPr>
        <p:txBody>
          <a:bodyPr wrap="square" lIns="0" tIns="0" rIns="0" bIns="0" rtlCol="0" anchor="t"/>
          <a:lstStyle/>
          <a:p>
            <a:pPr indent="0" marL="0">
              <a:buNone/>
            </a:pPr>
            <a:r>
              <a:rPr lang="en-US" sz="1700" b="1" dirty="0">
                <a:solidFill>
                  <a:schemeClr val="tx1"/>
                </a:solidFill>
              </a:rPr>
              <a:t>Thị trường</a:t>
            </a:r>
            <a:endParaRPr lang="en-US" sz="1700" dirty="0"/>
          </a:p>
        </p:txBody>
      </p:sp>
      <p:sp>
        <p:nvSpPr>
          <p:cNvPr id="33" name="Text 31"/>
          <p:cNvSpPr txBox="1"/>
          <p:nvPr/>
        </p:nvSpPr>
        <p:spPr>
          <a:xfrm>
            <a:off x="6460236" y="5413248"/>
            <a:ext cx="2041398" cy="777240"/>
          </a:xfrm>
          <a:prstGeom prst="rect">
            <a:avLst/>
          </a:prstGeom>
          <a:noFill/>
          <a:ln/>
        </p:spPr>
        <p:txBody>
          <a:bodyPr wrap="square" lIns="0" tIns="0" rIns="0" bIns="0" rtlCol="0" anchor="t"/>
          <a:lstStyle/>
          <a:p>
            <a:pPr indent="0" marL="0">
              <a:buNone/>
            </a:pPr>
            <a:r>
              <a:rPr lang="en-US" sz="1400" dirty="0">
                <a:solidFill>
                  <a:schemeClr val="tx2"/>
                </a:solidFill>
              </a:rPr>
              <a:t>Màu ít phổ biến: hệ số 0,98</a:t>
            </a:r>
            <a:endParaRPr lang="en-US" sz="1400" dirty="0"/>
          </a:p>
        </p:txBody>
      </p:sp>
      <p:sp>
        <p:nvSpPr>
          <p:cNvPr id="34" name="Nhom luat 8"/>
          <p:cNvSpPr/>
          <p:nvPr/>
        </p:nvSpPr>
        <p:spPr>
          <a:xfrm>
            <a:off x="9004554" y="4526280"/>
            <a:ext cx="2498598" cy="1737360"/>
          </a:xfrm>
          <a:prstGeom prst="roundRect">
            <a:avLst>
              <a:gd name="adj" fmla="val 4211"/>
            </a:avLst>
          </a:prstGeom>
          <a:solidFill>
            <a:schemeClr val="bg1"/>
          </a:solidFill>
          <a:ln/>
          <a:effectLst>
            <a:outerShdw sx="100000" sy="100000" kx="0" ky="0" algn="bl" rotWithShape="0" blurRad="76200" dist="25400" dir="5400000">
              <a:srgbClr val="14213D">
                <a:alpha val="12000"/>
              </a:srgbClr>
            </a:outerShdw>
          </a:effectLst>
        </p:spPr>
      </p:sp>
      <p:sp>
        <p:nvSpPr>
          <p:cNvPr id="35" name="Text 33"/>
          <p:cNvSpPr txBox="1"/>
          <p:nvPr/>
        </p:nvSpPr>
        <p:spPr>
          <a:xfrm>
            <a:off x="9233154" y="4709160"/>
            <a:ext cx="2041398" cy="274320"/>
          </a:xfrm>
          <a:prstGeom prst="rect">
            <a:avLst/>
          </a:prstGeom>
          <a:noFill/>
          <a:ln/>
        </p:spPr>
        <p:txBody>
          <a:bodyPr wrap="square" lIns="0" tIns="0" rIns="0" bIns="0" rtlCol="0" anchor="t"/>
          <a:lstStyle/>
          <a:p>
            <a:pPr indent="0" marL="0">
              <a:buNone/>
            </a:pPr>
            <a:r>
              <a:rPr lang="en-US" sz="1300" b="1" dirty="0">
                <a:solidFill>
                  <a:schemeClr val="accent1"/>
                </a:solidFill>
              </a:rPr>
              <a:t>R23–R25</a:t>
            </a:r>
            <a:endParaRPr lang="en-US" sz="1300" dirty="0"/>
          </a:p>
        </p:txBody>
      </p:sp>
      <p:sp>
        <p:nvSpPr>
          <p:cNvPr id="36" name="Text 34"/>
          <p:cNvSpPr txBox="1"/>
          <p:nvPr/>
        </p:nvSpPr>
        <p:spPr>
          <a:xfrm>
            <a:off x="9233154" y="5001768"/>
            <a:ext cx="2041398" cy="365760"/>
          </a:xfrm>
          <a:prstGeom prst="rect">
            <a:avLst/>
          </a:prstGeom>
          <a:noFill/>
          <a:ln/>
        </p:spPr>
        <p:txBody>
          <a:bodyPr wrap="square" lIns="0" tIns="0" rIns="0" bIns="0" rtlCol="0" anchor="t"/>
          <a:lstStyle/>
          <a:p>
            <a:pPr indent="0" marL="0">
              <a:buNone/>
            </a:pPr>
            <a:r>
              <a:rPr lang="en-US" sz="1700" b="1" dirty="0">
                <a:solidFill>
                  <a:schemeClr val="tx1"/>
                </a:solidFill>
              </a:rPr>
              <a:t>Ràng buộc</a:t>
            </a:r>
            <a:endParaRPr lang="en-US" sz="1700" dirty="0"/>
          </a:p>
        </p:txBody>
      </p:sp>
      <p:sp>
        <p:nvSpPr>
          <p:cNvPr id="37" name="Text 35"/>
          <p:cNvSpPr txBox="1"/>
          <p:nvPr/>
        </p:nvSpPr>
        <p:spPr>
          <a:xfrm>
            <a:off x="9233154" y="5413248"/>
            <a:ext cx="2041398" cy="777240"/>
          </a:xfrm>
          <a:prstGeom prst="rect">
            <a:avLst/>
          </a:prstGeom>
          <a:noFill/>
          <a:ln/>
        </p:spPr>
        <p:txBody>
          <a:bodyPr wrap="square" lIns="0" tIns="0" rIns="0" bIns="0" rtlCol="0" anchor="t"/>
          <a:lstStyle/>
          <a:p>
            <a:pPr indent="0" marL="0">
              <a:buNone/>
            </a:pPr>
            <a:r>
              <a:rPr lang="en-US" sz="1400" dirty="0">
                <a:solidFill>
                  <a:schemeClr val="tx2"/>
                </a:solidFill>
              </a:rPr>
              <a:t>Trần 0,95 × giá mới; cảnh báo tua công-tơ-mét</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411480"/>
            <a:ext cx="10817352" cy="36576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CHƯƠNG 2 · CƠ SỞ TRI THỨC</a:t>
            </a:r>
            <a:endParaRPr lang="en-US" sz="1200" dirty="0"/>
          </a:p>
        </p:txBody>
      </p:sp>
      <p:sp>
        <p:nvSpPr>
          <p:cNvPr id="3" name="Text 0"/>
          <p:cNvSpPr/>
          <p:nvPr>
            <p:ph idx="101" type="title" hasCustomPrompt="1"/>
          </p:nvPr>
        </p:nvSpPr>
        <p:spPr>
          <a:xfrm>
            <a:off x="685800" y="777240"/>
            <a:ext cx="10817352" cy="731520"/>
          </a:xfrm>
          <a:prstGeom prst="rect">
            <a:avLst/>
          </a:prstGeom>
          <a:noFill/>
          <a:ln/>
        </p:spPr>
        <p:txBody>
          <a:bodyPr wrap="square" lIns="0" tIns="0" rIns="0" bIns="0" rtlCol="0" anchor="ctr"/>
          <a:lstStyle/>
          <a:p>
            <a:pPr algn="l" indent="0" marL="0">
              <a:buNone/>
            </a:pPr>
            <a:r>
              <a:rPr lang="en-US" sz="3000" b="1" dirty="0">
                <a:solidFill>
                  <a:schemeClr val="tx1"/>
                </a:solidFill>
              </a:rPr>
              <a:t>Một số luật tiêu biểu</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10817352" cy="914400"/>
        </p:xfrm>
        <a:graphic>
          <a:graphicData uri="http://schemas.openxmlformats.org/drawingml/2006/table">
            <a:tbl>
              <a:tblPr/>
              <a:tblGrid>
                <a:gridCol w="1097280"/>
                <a:gridCol w="4544568"/>
                <a:gridCol w="5175504"/>
              </a:tblGrid>
              <a:tr h="438912">
                <a:tc>
                  <a:txBody>
                    <a:bodyPr/>
                    <a:lstStyle/>
                    <a:p>
                      <a:pPr indent="0" marL="0">
                        <a:buNone/>
                      </a:pPr>
                      <a:r>
                        <a:rPr lang="en-US" sz="1500" b="1" dirty="0">
                          <a:solidFill>
                            <a:schemeClr val="bg1"/>
                          </a:solidFill>
                        </a:rPr>
                        <a:t>Mã</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Điều kiện (IF)</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Kết luận (THEN)</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tx1"/>
                    </a:solidFill>
                  </a:tcPr>
                </a:tc>
              </a:tr>
              <a:tr h="438912">
                <a:tc>
                  <a:txBody>
                    <a:bodyPr/>
                    <a:lstStyle/>
                    <a:p>
                      <a:pPr algn="ctr" indent="0" marL="0">
                        <a:buNone/>
                      </a:pPr>
                      <a:r>
                        <a:rPr lang="en-US" sz="1500" b="1" dirty="0">
                          <a:solidFill>
                            <a:schemeClr val="tx1"/>
                          </a:solidFill>
                        </a:rPr>
                        <a:t>R03</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500" dirty="0">
                          <a:solidFill>
                            <a:schemeClr val="tx1"/>
                          </a:solidFill>
                        </a:rPr>
                        <a:t>3 &lt; tuổi xe ≤ 7</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500" dirty="0">
                          <a:solidFill>
                            <a:schemeClr val="tx1"/>
                          </a:solidFill>
                        </a:rPr>
                        <a:t>K_tuổi = 0,76 − 0,04 × (tuổi − 3)</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438912">
                <a:tc>
                  <a:txBody>
                    <a:bodyPr/>
                    <a:lstStyle/>
                    <a:p>
                      <a:pPr algn="ctr" indent="0" marL="0">
                        <a:buNone/>
                      </a:pPr>
                      <a:r>
                        <a:rPr lang="en-US" sz="1500" b="1" dirty="0">
                          <a:solidFill>
                            <a:schemeClr val="tx1"/>
                          </a:solidFill>
                        </a:rPr>
                        <a:t>R07</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500" dirty="0">
                          <a:solidFill>
                            <a:schemeClr val="tx1"/>
                          </a:solidFill>
                        </a:rPr>
                        <a:t>1,3 × km chuẩn &lt; số km ≤ 1,8 × km chuẩn</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500" dirty="0">
                          <a:solidFill>
                            <a:schemeClr val="tx1"/>
                          </a:solidFill>
                        </a:rPr>
                        <a:t>K_km = 0,95</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438912">
                <a:tc>
                  <a:txBody>
                    <a:bodyPr/>
                    <a:lstStyle/>
                    <a:p>
                      <a:pPr algn="ctr" indent="0" marL="0">
                        <a:buNone/>
                      </a:pPr>
                      <a:r>
                        <a:rPr lang="en-US" sz="1500" b="1" dirty="0">
                          <a:solidFill>
                            <a:schemeClr val="tx1"/>
                          </a:solidFill>
                        </a:rPr>
                        <a:t>R09</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500" dirty="0">
                          <a:solidFill>
                            <a:schemeClr val="tx1"/>
                          </a:solidFill>
                        </a:rPr>
                        <a:t>hãng ∈ {Toyota, Honda, Lexus}</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500" dirty="0">
                          <a:solidFill>
                            <a:schemeClr val="tx1"/>
                          </a:solidFill>
                        </a:rPr>
                        <a:t>K_hãng = 1,05</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438912">
                <a:tc>
                  <a:txBody>
                    <a:bodyPr/>
                    <a:lstStyle/>
                    <a:p>
                      <a:pPr algn="ctr" indent="0" marL="0">
                        <a:buNone/>
                      </a:pPr>
                      <a:r>
                        <a:rPr lang="en-US" sz="1500" b="1" dirty="0">
                          <a:solidFill>
                            <a:schemeClr val="tx1"/>
                          </a:solidFill>
                        </a:rPr>
                        <a:t>R18</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6"/>
                    </a:solidFill>
                  </a:tcPr>
                </a:tc>
                <a:tc>
                  <a:txBody>
                    <a:bodyPr/>
                    <a:lstStyle/>
                    <a:p>
                      <a:pPr indent="0" marL="0">
                        <a:buNone/>
                      </a:pPr>
                      <a:r>
                        <a:rPr lang="en-US" sz="1500" dirty="0">
                          <a:solidFill>
                            <a:schemeClr val="tx1"/>
                          </a:solidFill>
                        </a:rPr>
                        <a:t>xe từng ngập nước</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6"/>
                    </a:solidFill>
                  </a:tcPr>
                </a:tc>
                <a:tc>
                  <a:txBody>
                    <a:bodyPr/>
                    <a:lstStyle/>
                    <a:p>
                      <a:pPr indent="0" marL="0">
                        <a:buNone/>
                      </a:pPr>
                      <a:r>
                        <a:rPr lang="en-US" sz="1500" dirty="0">
                          <a:solidFill>
                            <a:schemeClr val="tx1"/>
                          </a:solidFill>
                        </a:rPr>
                        <a:t>K_rủi ro = 0,65 + cảnh báo “rủi ro cao”</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6"/>
                    </a:solidFill>
                  </a:tcPr>
                </a:tc>
              </a:tr>
              <a:tr h="438912">
                <a:tc>
                  <a:txBody>
                    <a:bodyPr/>
                    <a:lstStyle/>
                    <a:p>
                      <a:pPr algn="ctr" indent="0" marL="0">
                        <a:buNone/>
                      </a:pPr>
                      <a:r>
                        <a:rPr lang="en-US" sz="1500" b="1" dirty="0">
                          <a:solidFill>
                            <a:schemeClr val="tx1"/>
                          </a:solidFill>
                        </a:rPr>
                        <a:t>R23</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500" dirty="0">
                          <a:solidFill>
                            <a:schemeClr val="tx1"/>
                          </a:solidFill>
                        </a:rPr>
                        <a:t>P_luật &gt; 0,95 × P_mới</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500" dirty="0">
                          <a:solidFill>
                            <a:schemeClr val="tx1"/>
                          </a:solidFill>
                        </a:rPr>
                        <a:t>P_luật = 0,95 × P_mới (ràng buộc trần)</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438912">
                <a:tc>
                  <a:txBody>
                    <a:bodyPr/>
                    <a:lstStyle/>
                    <a:p>
                      <a:pPr algn="ctr" indent="0" marL="0">
                        <a:buNone/>
                      </a:pPr>
                      <a:r>
                        <a:rPr lang="en-US" sz="1500" b="1" dirty="0">
                          <a:solidFill>
                            <a:schemeClr val="tx1"/>
                          </a:solidFill>
                        </a:rPr>
                        <a:t>R24</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6"/>
                    </a:solidFill>
                  </a:tcPr>
                </a:tc>
                <a:tc>
                  <a:txBody>
                    <a:bodyPr/>
                    <a:lstStyle/>
                    <a:p>
                      <a:pPr indent="0" marL="0">
                        <a:buNone/>
                      </a:pPr>
                      <a:r>
                        <a:rPr lang="en-US" sz="1500" dirty="0">
                          <a:solidFill>
                            <a:schemeClr val="tx1"/>
                          </a:solidFill>
                        </a:rPr>
                        <a:t>tuổi &gt; 3 và số km &lt; 3.000 × tuổi</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6"/>
                    </a:solidFill>
                  </a:tcPr>
                </a:tc>
                <a:tc>
                  <a:txBody>
                    <a:bodyPr/>
                    <a:lstStyle/>
                    <a:p>
                      <a:pPr indent="0" marL="0">
                        <a:buNone/>
                      </a:pPr>
                      <a:r>
                        <a:rPr lang="en-US" sz="1500" dirty="0">
                          <a:solidFill>
                            <a:schemeClr val="tx1"/>
                          </a:solidFill>
                        </a:rPr>
                        <a:t>cảnh báo nghi tua công-tơ-mét, giảm độ tin cậy</a:t>
                      </a:r>
                      <a:endParaRPr lang="en-US" sz="1500" dirty="0"/>
                    </a:p>
                  </a:txBody>
                  <a:tcPr marL="109728" marR="109728"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6"/>
                    </a:solidFill>
                  </a:tcPr>
                </a:tc>
              </a:tr>
            </a:tbl>
          </a:graphicData>
        </a:graphic>
      </p:graphicFrame>
      <p:sp>
        <p:nvSpPr>
          <p:cNvPr id="5" name="Sieu luat 1"/>
          <p:cNvSpPr/>
          <p:nvPr/>
        </p:nvSpPr>
        <p:spPr>
          <a:xfrm>
            <a:off x="685800" y="5074920"/>
            <a:ext cx="3422904" cy="914400"/>
          </a:xfrm>
          <a:prstGeom prst="roundRect">
            <a:avLst>
              <a:gd name="adj" fmla="val 8000"/>
            </a:avLst>
          </a:prstGeom>
          <a:solidFill>
            <a:schemeClr val="accent5"/>
          </a:solidFill>
          <a:ln/>
        </p:spPr>
      </p:sp>
      <p:sp>
        <p:nvSpPr>
          <p:cNvPr id="6" name="Text 3"/>
          <p:cNvSpPr txBox="1"/>
          <p:nvPr/>
        </p:nvSpPr>
        <p:spPr>
          <a:xfrm>
            <a:off x="868680" y="5074920"/>
            <a:ext cx="3057144" cy="914400"/>
          </a:xfrm>
          <a:prstGeom prst="rect">
            <a:avLst/>
          </a:prstGeom>
          <a:noFill/>
          <a:ln/>
        </p:spPr>
        <p:txBody>
          <a:bodyPr wrap="square" lIns="0" tIns="0" rIns="0" bIns="0" rtlCol="0" anchor="ctr"/>
          <a:lstStyle/>
          <a:p>
            <a:pPr indent="0" marL="0">
              <a:buNone/>
            </a:pPr>
            <a:r>
              <a:rPr lang="en-US" sz="1400" b="1" dirty="0">
                <a:solidFill>
                  <a:schemeClr val="tx1"/>
                </a:solidFill>
              </a:rPr>
              <a:t>Loại trừ: </a:t>
            </a:r>
            <a:pPr indent="0" marL="0">
              <a:buNone/>
            </a:pPr>
            <a:r>
              <a:rPr lang="en-US" sz="1400" dirty="0">
                <a:solidFill>
                  <a:schemeClr val="tx1"/>
                </a:solidFill>
              </a:rPr>
              <a:t>nhóm Tuổi xe và Số km mỗi nhóm chỉ kích hoạt một luật</a:t>
            </a:r>
            <a:endParaRPr lang="en-US" sz="1400" dirty="0"/>
          </a:p>
        </p:txBody>
      </p:sp>
      <p:sp>
        <p:nvSpPr>
          <p:cNvPr id="7" name="Sieu luat 2"/>
          <p:cNvSpPr/>
          <p:nvPr/>
        </p:nvSpPr>
        <p:spPr>
          <a:xfrm>
            <a:off x="4383024" y="5074920"/>
            <a:ext cx="3422904" cy="914400"/>
          </a:xfrm>
          <a:prstGeom prst="roundRect">
            <a:avLst>
              <a:gd name="adj" fmla="val 8000"/>
            </a:avLst>
          </a:prstGeom>
          <a:solidFill>
            <a:schemeClr val="accent5"/>
          </a:solidFill>
          <a:ln/>
        </p:spPr>
      </p:sp>
      <p:sp>
        <p:nvSpPr>
          <p:cNvPr id="8" name="Text 5"/>
          <p:cNvSpPr txBox="1"/>
          <p:nvPr/>
        </p:nvSpPr>
        <p:spPr>
          <a:xfrm>
            <a:off x="4565904" y="5074920"/>
            <a:ext cx="3057144" cy="914400"/>
          </a:xfrm>
          <a:prstGeom prst="rect">
            <a:avLst/>
          </a:prstGeom>
          <a:noFill/>
          <a:ln/>
        </p:spPr>
        <p:txBody>
          <a:bodyPr wrap="square" lIns="0" tIns="0" rIns="0" bIns="0" rtlCol="0" anchor="ctr"/>
          <a:lstStyle/>
          <a:p>
            <a:pPr indent="0" marL="0">
              <a:buNone/>
            </a:pPr>
            <a:r>
              <a:rPr lang="en-US" sz="1400" b="1" dirty="0">
                <a:solidFill>
                  <a:schemeClr val="tx1"/>
                </a:solidFill>
              </a:rPr>
              <a:t>Ưu tiên: </a:t>
            </a:r>
            <a:pPr indent="0" marL="0">
              <a:buNone/>
            </a:pPr>
            <a:r>
              <a:rPr lang="en-US" sz="1400" dirty="0">
                <a:solidFill>
                  <a:schemeClr val="tx1"/>
                </a:solidFill>
              </a:rPr>
              <a:t>R18, R19 cao nhất; cùng kích hoạt thì lấy hệ số nhỏ nhất</a:t>
            </a:r>
            <a:endParaRPr lang="en-US" sz="1400" dirty="0"/>
          </a:p>
        </p:txBody>
      </p:sp>
      <p:sp>
        <p:nvSpPr>
          <p:cNvPr id="9" name="Sieu luat 3"/>
          <p:cNvSpPr/>
          <p:nvPr/>
        </p:nvSpPr>
        <p:spPr>
          <a:xfrm>
            <a:off x="8080248" y="5074920"/>
            <a:ext cx="3422904" cy="914400"/>
          </a:xfrm>
          <a:prstGeom prst="roundRect">
            <a:avLst>
              <a:gd name="adj" fmla="val 8000"/>
            </a:avLst>
          </a:prstGeom>
          <a:solidFill>
            <a:schemeClr val="accent5"/>
          </a:solidFill>
          <a:ln/>
        </p:spPr>
      </p:sp>
      <p:sp>
        <p:nvSpPr>
          <p:cNvPr id="10" name="Text 7"/>
          <p:cNvSpPr txBox="1"/>
          <p:nvPr/>
        </p:nvSpPr>
        <p:spPr>
          <a:xfrm>
            <a:off x="8263128" y="5074920"/>
            <a:ext cx="3057144" cy="914400"/>
          </a:xfrm>
          <a:prstGeom prst="rect">
            <a:avLst/>
          </a:prstGeom>
          <a:noFill/>
          <a:ln/>
        </p:spPr>
        <p:txBody>
          <a:bodyPr wrap="square" lIns="0" tIns="0" rIns="0" bIns="0" rtlCol="0" anchor="ctr"/>
          <a:lstStyle/>
          <a:p>
            <a:pPr indent="0" marL="0">
              <a:buNone/>
            </a:pPr>
            <a:r>
              <a:rPr lang="en-US" sz="1400" b="1" dirty="0">
                <a:solidFill>
                  <a:schemeClr val="tx1"/>
                </a:solidFill>
              </a:rPr>
              <a:t>Thứ tự: </a:t>
            </a:r>
            <a:pPr indent="0" marL="0">
              <a:buNone/>
            </a:pPr>
            <a:r>
              <a:rPr lang="en-US" sz="1400" dirty="0">
                <a:solidFill>
                  <a:schemeClr val="tx1"/>
                </a:solidFill>
              </a:rPr>
              <a:t>R23 xét sau cùng; luật lưu trong rules.json, sửa được</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411480"/>
            <a:ext cx="10817352" cy="36576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CHƯƠNG 2 · CƠ SỞ TÌNH HUỐNG</a:t>
            </a:r>
            <a:endParaRPr lang="en-US" sz="1200" dirty="0"/>
          </a:p>
        </p:txBody>
      </p:sp>
      <p:sp>
        <p:nvSpPr>
          <p:cNvPr id="3" name="Text 0"/>
          <p:cNvSpPr/>
          <p:nvPr>
            <p:ph idx="101" type="title" hasCustomPrompt="1"/>
          </p:nvPr>
        </p:nvSpPr>
        <p:spPr>
          <a:xfrm>
            <a:off x="685800" y="777240"/>
            <a:ext cx="10817352" cy="731520"/>
          </a:xfrm>
          <a:prstGeom prst="rect">
            <a:avLst/>
          </a:prstGeom>
          <a:noFill/>
          <a:ln/>
        </p:spPr>
        <p:txBody>
          <a:bodyPr wrap="square" lIns="0" tIns="0" rIns="0" bIns="0" rtlCol="0" anchor="ctr"/>
          <a:lstStyle/>
          <a:p>
            <a:pPr algn="l" indent="0" marL="0">
              <a:buNone/>
            </a:pPr>
            <a:r>
              <a:rPr lang="en-US" sz="3000" b="1" dirty="0">
                <a:solidFill>
                  <a:schemeClr val="tx1"/>
                </a:solidFill>
              </a:rPr>
              <a:t>CBR: 8 thuộc tính có trọng số, k = 5</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6492240" cy="914400"/>
        </p:xfrm>
        <a:graphic>
          <a:graphicData uri="http://schemas.openxmlformats.org/drawingml/2006/table">
            <a:tbl>
              <a:tblPr/>
              <a:tblGrid>
                <a:gridCol w="2286000"/>
                <a:gridCol w="731520"/>
                <a:gridCol w="3474720"/>
              </a:tblGrid>
              <a:tr h="457200">
                <a:tc>
                  <a:txBody>
                    <a:bodyPr/>
                    <a:lstStyle/>
                    <a:p>
                      <a:pPr algn="l" indent="0" marL="0">
                        <a:buNone/>
                      </a:pPr>
                      <a:r>
                        <a:rPr lang="en-US" sz="1400" b="1" dirty="0">
                          <a:solidFill>
                            <a:schemeClr val="bg1"/>
                          </a:solidFill>
                        </a:rPr>
                        <a:t>Thuộc tính</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w</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tx1"/>
                    </a:solidFill>
                  </a:tcPr>
                </a:tc>
                <a:tc>
                  <a:txBody>
                    <a:bodyPr/>
                    <a:lstStyle/>
                    <a:p>
                      <a:pPr algn="l" indent="0" marL="0">
                        <a:buNone/>
                      </a:pPr>
                      <a:r>
                        <a:rPr lang="en-US" sz="1400" b="1" dirty="0">
                          <a:solidFill>
                            <a:schemeClr val="bg1"/>
                          </a:solidFill>
                        </a:rPr>
                        <a:t>Độ tương tự cục bộ</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tx1"/>
                          </a:solidFill>
                        </a:rPr>
                        <a:t>Hãng – dòng – phiên bản</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400" dirty="0">
                          <a:solidFill>
                            <a:schemeClr val="tx1"/>
                          </a:solidFill>
                        </a:rPr>
                        <a:t>0,30</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phân cấp: 1 / 0,8 / 0,5 / 0,3 / 0</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457200">
                <a:tc>
                  <a:txBody>
                    <a:bodyPr/>
                    <a:lstStyle/>
                    <a:p>
                      <a:pPr indent="0" marL="0">
                        <a:buNone/>
                      </a:pPr>
                      <a:r>
                        <a:rPr lang="en-US" sz="1400" dirty="0">
                          <a:solidFill>
                            <a:schemeClr val="tx1"/>
                          </a:solidFill>
                        </a:rPr>
                        <a:t>Năm sản xuất</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400" dirty="0">
                          <a:solidFill>
                            <a:schemeClr val="tx1"/>
                          </a:solidFill>
                        </a:rPr>
                        <a:t>0,20</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1 − |Δnăm| / 5</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457200">
                <a:tc>
                  <a:txBody>
                    <a:bodyPr/>
                    <a:lstStyle/>
                    <a:p>
                      <a:pPr indent="0" marL="0">
                        <a:buNone/>
                      </a:pPr>
                      <a:r>
                        <a:rPr lang="en-US" sz="1400" dirty="0">
                          <a:solidFill>
                            <a:schemeClr val="tx1"/>
                          </a:solidFill>
                        </a:rPr>
                        <a:t>Số km</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400" dirty="0">
                          <a:solidFill>
                            <a:schemeClr val="tx1"/>
                          </a:solidFill>
                        </a:rPr>
                        <a:t>0,15</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1 − |Δkm| / 100.000</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457200">
                <a:tc>
                  <a:txBody>
                    <a:bodyPr/>
                    <a:lstStyle/>
                    <a:p>
                      <a:pPr indent="0" marL="0">
                        <a:buNone/>
                      </a:pPr>
                      <a:r>
                        <a:rPr lang="en-US" sz="1400" dirty="0">
                          <a:solidFill>
                            <a:schemeClr val="tx1"/>
                          </a:solidFill>
                        </a:rPr>
                        <a:t>Tình trạng</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400" dirty="0">
                          <a:solidFill>
                            <a:schemeClr val="tx1"/>
                          </a:solidFill>
                        </a:rPr>
                        <a:t>0,10</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1 − |Δbậc| / 2</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457200">
                <a:tc>
                  <a:txBody>
                    <a:bodyPr/>
                    <a:lstStyle/>
                    <a:p>
                      <a:pPr indent="0" marL="0">
                        <a:buNone/>
                      </a:pPr>
                      <a:r>
                        <a:rPr lang="en-US" sz="1400" dirty="0">
                          <a:solidFill>
                            <a:schemeClr val="tx1"/>
                          </a:solidFill>
                        </a:rPr>
                        <a:t>Hộp số</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400" dirty="0">
                          <a:solidFill>
                            <a:schemeClr val="tx1"/>
                          </a:solidFill>
                        </a:rPr>
                        <a:t>0,08</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trùng = 1, khác = 0</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457200">
                <a:tc>
                  <a:txBody>
                    <a:bodyPr/>
                    <a:lstStyle/>
                    <a:p>
                      <a:pPr indent="0" marL="0">
                        <a:buNone/>
                      </a:pPr>
                      <a:r>
                        <a:rPr lang="en-US" sz="1400" dirty="0">
                          <a:solidFill>
                            <a:schemeClr val="tx1"/>
                          </a:solidFill>
                        </a:rPr>
                        <a:t>Khu vực</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400" dirty="0">
                          <a:solidFill>
                            <a:schemeClr val="tx1"/>
                          </a:solidFill>
                        </a:rPr>
                        <a:t>0,07</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cùng tỉnh 1 / cùng miền 0,7 / khác 0,4</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457200">
                <a:tc>
                  <a:txBody>
                    <a:bodyPr/>
                    <a:lstStyle/>
                    <a:p>
                      <a:pPr indent="0" marL="0">
                        <a:buNone/>
                      </a:pPr>
                      <a:r>
                        <a:rPr lang="en-US" sz="1400" dirty="0">
                          <a:solidFill>
                            <a:schemeClr val="tx1"/>
                          </a:solidFill>
                        </a:rPr>
                        <a:t>Nhiên liệu</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400" dirty="0">
                          <a:solidFill>
                            <a:schemeClr val="tx1"/>
                          </a:solidFill>
                        </a:rPr>
                        <a:t>0,05</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trùng = 1, khác = 0</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457200">
                <a:tc>
                  <a:txBody>
                    <a:bodyPr/>
                    <a:lstStyle/>
                    <a:p>
                      <a:pPr indent="0" marL="0">
                        <a:buNone/>
                      </a:pPr>
                      <a:r>
                        <a:rPr lang="en-US" sz="1400" dirty="0">
                          <a:solidFill>
                            <a:schemeClr val="tx1"/>
                          </a:solidFill>
                        </a:rPr>
                        <a:t>Xuất xứ</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400" dirty="0">
                          <a:solidFill>
                            <a:schemeClr val="tx1"/>
                          </a:solidFill>
                        </a:rPr>
                        <a:t>0,05</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trùng = 1, khác = 0</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bl>
          </a:graphicData>
        </a:graphic>
      </p:graphicFrame>
      <p:sp>
        <p:nvSpPr>
          <p:cNvPr id="5" name="So 1"/>
          <p:cNvSpPr/>
          <p:nvPr/>
        </p:nvSpPr>
        <p:spPr>
          <a:xfrm>
            <a:off x="7589520" y="1828800"/>
            <a:ext cx="411480" cy="411480"/>
          </a:xfrm>
          <a:prstGeom prst="ellipse">
            <a:avLst/>
          </a:prstGeom>
          <a:solidFill>
            <a:schemeClr val="accent1"/>
          </a:solidFill>
          <a:ln/>
        </p:spPr>
      </p:sp>
      <p:sp>
        <p:nvSpPr>
          <p:cNvPr id="6" name="Text 3"/>
          <p:cNvSpPr txBox="1"/>
          <p:nvPr/>
        </p:nvSpPr>
        <p:spPr>
          <a:xfrm>
            <a:off x="7589520" y="1828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8183880" y="1783080"/>
            <a:ext cx="3319272" cy="731520"/>
          </a:xfrm>
          <a:prstGeom prst="rect">
            <a:avLst/>
          </a:prstGeom>
          <a:noFill/>
          <a:ln/>
        </p:spPr>
        <p:txBody>
          <a:bodyPr wrap="square" lIns="0" tIns="0" rIns="0" bIns="0" rtlCol="0" anchor="t"/>
          <a:lstStyle/>
          <a:p>
            <a:pPr indent="0" marL="0">
              <a:buNone/>
            </a:pPr>
            <a:r>
              <a:rPr lang="en-US" sz="1400" b="1" dirty="0">
                <a:solidFill>
                  <a:schemeClr val="tx1"/>
                </a:solidFill>
              </a:rPr>
              <a:t>Lọc trước: </a:t>
            </a:r>
            <a:pPr indent="0" marL="0">
              <a:buNone/>
            </a:pPr>
            <a:r>
              <a:rPr lang="en-US" sz="1400" dirty="0">
                <a:solidFill>
                  <a:schemeClr val="tx2"/>
                </a:solidFill>
              </a:rPr>
              <a:t>cùng phân khúc, năm ±3, tin trong 6 tháng</a:t>
            </a:r>
            <a:endParaRPr lang="en-US" sz="1400" dirty="0"/>
          </a:p>
        </p:txBody>
      </p:sp>
      <p:sp>
        <p:nvSpPr>
          <p:cNvPr id="8" name="So 2"/>
          <p:cNvSpPr/>
          <p:nvPr/>
        </p:nvSpPr>
        <p:spPr>
          <a:xfrm>
            <a:off x="7589520" y="2651760"/>
            <a:ext cx="411480" cy="411480"/>
          </a:xfrm>
          <a:prstGeom prst="ellipse">
            <a:avLst/>
          </a:prstGeom>
          <a:solidFill>
            <a:schemeClr val="accent1"/>
          </a:solidFill>
          <a:ln/>
        </p:spPr>
      </p:sp>
      <p:sp>
        <p:nvSpPr>
          <p:cNvPr id="9" name="Text 6"/>
          <p:cNvSpPr txBox="1"/>
          <p:nvPr/>
        </p:nvSpPr>
        <p:spPr>
          <a:xfrm>
            <a:off x="7589520" y="2651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8183880" y="2606040"/>
            <a:ext cx="3319272" cy="731520"/>
          </a:xfrm>
          <a:prstGeom prst="rect">
            <a:avLst/>
          </a:prstGeom>
          <a:noFill/>
          <a:ln/>
        </p:spPr>
        <p:txBody>
          <a:bodyPr wrap="square" lIns="0" tIns="0" rIns="0" bIns="0" rtlCol="0" anchor="t"/>
          <a:lstStyle/>
          <a:p>
            <a:pPr indent="0" marL="0">
              <a:buNone/>
            </a:pPr>
            <a:r>
              <a:rPr lang="en-US" sz="1400" b="1" dirty="0">
                <a:solidFill>
                  <a:schemeClr val="tx1"/>
                </a:solidFill>
              </a:rPr>
              <a:t>Truy hồi: </a:t>
            </a:r>
            <a:pPr indent="0" marL="0">
              <a:buNone/>
            </a:pPr>
            <a:r>
              <a:rPr lang="en-US" sz="1400" dirty="0">
                <a:solidFill>
                  <a:schemeClr val="tx2"/>
                </a:solidFill>
              </a:rPr>
              <a:t>5 xe có Sim cao nhất, Sim ≥ 0,6</a:t>
            </a:r>
            <a:endParaRPr lang="en-US" sz="1400" dirty="0"/>
          </a:p>
        </p:txBody>
      </p:sp>
      <p:sp>
        <p:nvSpPr>
          <p:cNvPr id="11" name="So 3"/>
          <p:cNvSpPr/>
          <p:nvPr/>
        </p:nvSpPr>
        <p:spPr>
          <a:xfrm>
            <a:off x="7589520" y="3474720"/>
            <a:ext cx="411480" cy="411480"/>
          </a:xfrm>
          <a:prstGeom prst="ellipse">
            <a:avLst/>
          </a:prstGeom>
          <a:solidFill>
            <a:schemeClr val="accent1"/>
          </a:solidFill>
          <a:ln/>
        </p:spPr>
      </p:sp>
      <p:sp>
        <p:nvSpPr>
          <p:cNvPr id="12" name="Text 9"/>
          <p:cNvSpPr txBox="1"/>
          <p:nvPr/>
        </p:nvSpPr>
        <p:spPr>
          <a:xfrm>
            <a:off x="7589520" y="34747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0"/>
          <p:cNvSpPr txBox="1"/>
          <p:nvPr/>
        </p:nvSpPr>
        <p:spPr>
          <a:xfrm>
            <a:off x="8183880" y="3429000"/>
            <a:ext cx="3319272" cy="731520"/>
          </a:xfrm>
          <a:prstGeom prst="rect">
            <a:avLst/>
          </a:prstGeom>
          <a:noFill/>
          <a:ln/>
        </p:spPr>
        <p:txBody>
          <a:bodyPr wrap="square" lIns="0" tIns="0" rIns="0" bIns="0" rtlCol="0" anchor="t"/>
          <a:lstStyle/>
          <a:p>
            <a:pPr indent="0" marL="0">
              <a:buNone/>
            </a:pPr>
            <a:r>
              <a:rPr lang="en-US" sz="1400" b="1" dirty="0">
                <a:solidFill>
                  <a:schemeClr val="tx1"/>
                </a:solidFill>
              </a:rPr>
              <a:t>Điều chỉnh: </a:t>
            </a:r>
            <a:pPr indent="0" marL="0">
              <a:buNone/>
            </a:pPr>
            <a:r>
              <a:rPr lang="en-US" sz="1400" dirty="0">
                <a:solidFill>
                  <a:schemeClr val="tx2"/>
                </a:solidFill>
              </a:rPr>
              <a:t>nhân tỷ số hệ số luật giữa xe cần định giá và xe tương tự</a:t>
            </a:r>
            <a:endParaRPr lang="en-US" sz="1400" dirty="0"/>
          </a:p>
        </p:txBody>
      </p:sp>
      <p:sp>
        <p:nvSpPr>
          <p:cNvPr id="14" name="So 4"/>
          <p:cNvSpPr/>
          <p:nvPr/>
        </p:nvSpPr>
        <p:spPr>
          <a:xfrm>
            <a:off x="7589520" y="4297680"/>
            <a:ext cx="411480" cy="411480"/>
          </a:xfrm>
          <a:prstGeom prst="ellipse">
            <a:avLst/>
          </a:prstGeom>
          <a:solidFill>
            <a:schemeClr val="accent1"/>
          </a:solidFill>
          <a:ln/>
        </p:spPr>
      </p:sp>
      <p:sp>
        <p:nvSpPr>
          <p:cNvPr id="15" name="Text 12"/>
          <p:cNvSpPr txBox="1"/>
          <p:nvPr/>
        </p:nvSpPr>
        <p:spPr>
          <a:xfrm>
            <a:off x="7589520" y="4297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 13"/>
          <p:cNvSpPr txBox="1"/>
          <p:nvPr/>
        </p:nvSpPr>
        <p:spPr>
          <a:xfrm>
            <a:off x="8183880" y="4251960"/>
            <a:ext cx="3319272" cy="731520"/>
          </a:xfrm>
          <a:prstGeom prst="rect">
            <a:avLst/>
          </a:prstGeom>
          <a:noFill/>
          <a:ln/>
        </p:spPr>
        <p:txBody>
          <a:bodyPr wrap="square" lIns="0" tIns="0" rIns="0" bIns="0" rtlCol="0" anchor="t"/>
          <a:lstStyle/>
          <a:p>
            <a:pPr indent="0" marL="0">
              <a:buNone/>
            </a:pPr>
            <a:r>
              <a:rPr lang="en-US" sz="1400" b="1" dirty="0">
                <a:solidFill>
                  <a:schemeClr val="tx1"/>
                </a:solidFill>
              </a:rPr>
              <a:t>Tổng hợp: </a:t>
            </a:r>
            <a:pPr indent="0" marL="0">
              <a:buNone/>
            </a:pPr>
            <a:r>
              <a:rPr lang="en-US" sz="1400" dirty="0">
                <a:solidFill>
                  <a:schemeClr val="tx2"/>
                </a:solidFill>
              </a:rPr>
              <a:t>trung bình có trọng số theo độ tương tự</a:t>
            </a:r>
            <a:endParaRPr lang="en-US" sz="1400" dirty="0"/>
          </a:p>
        </p:txBody>
      </p:sp>
      <p:sp>
        <p:nvSpPr>
          <p:cNvPr id="17" name="Cong thuc CBR"/>
          <p:cNvSpPr/>
          <p:nvPr/>
        </p:nvSpPr>
        <p:spPr>
          <a:xfrm>
            <a:off x="7589520" y="5257800"/>
            <a:ext cx="3913632" cy="685800"/>
          </a:xfrm>
          <a:prstGeom prst="roundRect">
            <a:avLst>
              <a:gd name="adj" fmla="val 10667"/>
            </a:avLst>
          </a:prstGeom>
          <a:solidFill>
            <a:schemeClr val="tx1"/>
          </a:solidFill>
          <a:ln/>
        </p:spPr>
      </p:sp>
      <p:sp>
        <p:nvSpPr>
          <p:cNvPr id="18" name="Text 15"/>
          <p:cNvSpPr txBox="1"/>
          <p:nvPr/>
        </p:nvSpPr>
        <p:spPr>
          <a:xfrm>
            <a:off x="7589520" y="5257800"/>
            <a:ext cx="3913632" cy="685800"/>
          </a:xfrm>
          <a:prstGeom prst="rect">
            <a:avLst/>
          </a:prstGeom>
          <a:noFill/>
          <a:ln/>
        </p:spPr>
        <p:txBody>
          <a:bodyPr wrap="square" lIns="0" tIns="0" rIns="0" bIns="0" rtlCol="0" anchor="ctr"/>
          <a:lstStyle/>
          <a:p>
            <a:pPr algn="ctr" indent="0" marL="0">
              <a:buNone/>
            </a:pPr>
            <a:r>
              <a:rPr lang="en-US" sz="1800" b="1" dirty="0">
                <a:solidFill>
                  <a:schemeClr val="bg1"/>
                </a:solidFill>
              </a:rPr>
              <a:t>P_CBR = Σ Sim · P′ / Σ Sim</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411480"/>
            <a:ext cx="10817352" cy="36576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CHƯƠNG 2 · MÁY SUY DIỄN VÀ RA QUYẾT ĐỊNH</a:t>
            </a:r>
            <a:endParaRPr lang="en-US" sz="1200" dirty="0"/>
          </a:p>
        </p:txBody>
      </p:sp>
      <p:sp>
        <p:nvSpPr>
          <p:cNvPr id="3" name="Text 0"/>
          <p:cNvSpPr/>
          <p:nvPr>
            <p:ph idx="101" type="title" hasCustomPrompt="1"/>
          </p:nvPr>
        </p:nvSpPr>
        <p:spPr>
          <a:xfrm>
            <a:off x="685800" y="777240"/>
            <a:ext cx="10817352" cy="731520"/>
          </a:xfrm>
          <a:prstGeom prst="rect">
            <a:avLst/>
          </a:prstGeom>
          <a:noFill/>
          <a:ln/>
        </p:spPr>
        <p:txBody>
          <a:bodyPr wrap="square" lIns="0" tIns="0" rIns="0" bIns="0" rtlCol="0" anchor="ctr"/>
          <a:lstStyle/>
          <a:p>
            <a:pPr algn="l" indent="0" marL="0">
              <a:buNone/>
            </a:pPr>
            <a:r>
              <a:rPr lang="en-US" sz="3000" b="1" dirty="0">
                <a:solidFill>
                  <a:schemeClr val="tx1"/>
                </a:solidFill>
              </a:rPr>
              <a:t>Hợp nhất giá, khoảng giá và độ tin cậy</a:t>
            </a:r>
            <a:endParaRPr lang="en-US" sz="3000" dirty="0"/>
          </a:p>
        </p:txBody>
      </p:sp>
      <p:sp>
        <p:nvSpPr>
          <p:cNvPr id="4" name="Cong thuc hop nhat"/>
          <p:cNvSpPr/>
          <p:nvPr/>
        </p:nvSpPr>
        <p:spPr>
          <a:xfrm>
            <a:off x="685800" y="1691640"/>
            <a:ext cx="10817352" cy="731520"/>
          </a:xfrm>
          <a:prstGeom prst="roundRect">
            <a:avLst>
              <a:gd name="adj" fmla="val 10000"/>
            </a:avLst>
          </a:prstGeom>
          <a:solidFill>
            <a:schemeClr val="tx1"/>
          </a:solidFill>
          <a:ln/>
        </p:spPr>
      </p:sp>
      <p:sp>
        <p:nvSpPr>
          <p:cNvPr id="5" name="Text 3"/>
          <p:cNvSpPr txBox="1"/>
          <p:nvPr/>
        </p:nvSpPr>
        <p:spPr>
          <a:xfrm>
            <a:off x="685800" y="1691640"/>
            <a:ext cx="10817352" cy="731520"/>
          </a:xfrm>
          <a:prstGeom prst="rect">
            <a:avLst/>
          </a:prstGeom>
          <a:noFill/>
          <a:ln/>
        </p:spPr>
        <p:txBody>
          <a:bodyPr wrap="square" lIns="0" tIns="0" rIns="0" bIns="0" rtlCol="0" anchor="ctr"/>
          <a:lstStyle/>
          <a:p>
            <a:pPr algn="ctr" indent="0" marL="0">
              <a:buNone/>
            </a:pPr>
            <a:r>
              <a:rPr lang="en-US" sz="2400" b="1" dirty="0">
                <a:solidFill>
                  <a:schemeClr val="bg1"/>
                </a:solidFill>
              </a:rPr>
              <a:t>P = α · P_luật + (1 − α) · P_CBR</a:t>
            </a:r>
            <a:endParaRPr lang="en-US" sz="2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2697480"/>
          <a:ext cx="5760720" cy="914400"/>
        </p:xfrm>
        <a:graphic>
          <a:graphicData uri="http://schemas.openxmlformats.org/drawingml/2006/table">
            <a:tbl>
              <a:tblPr/>
              <a:tblGrid>
                <a:gridCol w="2651760"/>
                <a:gridCol w="640080"/>
                <a:gridCol w="2468880"/>
              </a:tblGrid>
              <a:tr h="566928">
                <a:tc>
                  <a:txBody>
                    <a:bodyPr/>
                    <a:lstStyle/>
                    <a:p>
                      <a:pPr algn="l" indent="0" marL="0">
                        <a:buNone/>
                      </a:pPr>
                      <a:r>
                        <a:rPr lang="en-US" sz="1400" b="1" dirty="0">
                          <a:solidFill>
                            <a:schemeClr val="tx1"/>
                          </a:solidFill>
                        </a:rPr>
                        <a:t>Điều kiện</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5"/>
                    </a:solidFill>
                  </a:tcPr>
                </a:tc>
                <a:tc>
                  <a:txBody>
                    <a:bodyPr/>
                    <a:lstStyle/>
                    <a:p>
                      <a:pPr algn="ctr" indent="0" marL="0">
                        <a:buNone/>
                      </a:pPr>
                      <a:r>
                        <a:rPr lang="en-US" sz="1400" b="1" dirty="0">
                          <a:solidFill>
                            <a:schemeClr val="tx1"/>
                          </a:solidFill>
                        </a:rPr>
                        <a:t>α</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5"/>
                    </a:solidFill>
                  </a:tcPr>
                </a:tc>
                <a:tc>
                  <a:txBody>
                    <a:bodyPr/>
                    <a:lstStyle/>
                    <a:p>
                      <a:pPr algn="l" indent="0" marL="0">
                        <a:buNone/>
                      </a:pPr>
                      <a:r>
                        <a:rPr lang="en-US" sz="1400" b="1" dirty="0">
                          <a:solidFill>
                            <a:schemeClr val="tx1"/>
                          </a:solidFill>
                        </a:rPr>
                        <a:t>Ý nghĩa</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5"/>
                    </a:solidFill>
                  </a:tcPr>
                </a:tc>
              </a:tr>
              <a:tr h="566928">
                <a:tc>
                  <a:txBody>
                    <a:bodyPr/>
                    <a:lstStyle/>
                    <a:p>
                      <a:pPr indent="0" marL="0">
                        <a:buNone/>
                      </a:pPr>
                      <a:r>
                        <a:rPr lang="en-US" sz="1400" dirty="0">
                          <a:solidFill>
                            <a:schemeClr val="tx1"/>
                          </a:solidFill>
                        </a:rPr>
                        <a:t>Sim_tb ≥ 0,85</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400" dirty="0">
                          <a:solidFill>
                            <a:schemeClr val="tx1"/>
                          </a:solidFill>
                        </a:rPr>
                        <a:t>0,4</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Ưu tiên dữ liệu thị trường</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566928">
                <a:tc>
                  <a:txBody>
                    <a:bodyPr/>
                    <a:lstStyle/>
                    <a:p>
                      <a:pPr indent="0" marL="0">
                        <a:buNone/>
                      </a:pPr>
                      <a:r>
                        <a:rPr lang="en-US" sz="1400" dirty="0">
                          <a:solidFill>
                            <a:schemeClr val="tx1"/>
                          </a:solidFill>
                        </a:rPr>
                        <a:t>0,70 ≤ Sim_tb &lt; 0,85</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400" dirty="0">
                          <a:solidFill>
                            <a:schemeClr val="tx1"/>
                          </a:solidFill>
                        </a:rPr>
                        <a:t>0,6</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Cân bằng luật và tình huống</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566928">
                <a:tc>
                  <a:txBody>
                    <a:bodyPr/>
                    <a:lstStyle/>
                    <a:p>
                      <a:pPr indent="0" marL="0">
                        <a:buNone/>
                      </a:pPr>
                      <a:r>
                        <a:rPr lang="en-US" sz="1400" dirty="0">
                          <a:solidFill>
                            <a:schemeClr val="tx1"/>
                          </a:solidFill>
                        </a:rPr>
                        <a:t>Sim_tb &lt; 0,70 hoặc &lt; 3 tình huống</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400" dirty="0">
                          <a:solidFill>
                            <a:schemeClr val="tx1"/>
                          </a:solidFill>
                        </a:rPr>
                        <a:t>0,8</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Dựa chủ yếu vào luật</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566928">
                <a:tc>
                  <a:txBody>
                    <a:bodyPr/>
                    <a:lstStyle/>
                    <a:p>
                      <a:pPr indent="0" marL="0">
                        <a:buNone/>
                      </a:pPr>
                      <a:r>
                        <a:rPr lang="en-US" sz="1400" dirty="0">
                          <a:solidFill>
                            <a:schemeClr val="tx1"/>
                          </a:solidFill>
                        </a:rPr>
                        <a:t>Không có tình huống đạt ngưỡng</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ctr" indent="0" marL="0">
                        <a:buNone/>
                      </a:pPr>
                      <a:r>
                        <a:rPr lang="en-US" sz="1400" dirty="0">
                          <a:solidFill>
                            <a:schemeClr val="tx1"/>
                          </a:solidFill>
                        </a:rPr>
                        <a:t>1,0</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Chỉ dùng tập luật</a:t>
                      </a:r>
                      <a:endParaRPr lang="en-US" sz="1400" dirty="0"/>
                    </a:p>
                  </a:txBody>
                  <a:tcPr marL="91440" marR="91440" marT="0" marB="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bl>
          </a:graphicData>
        </a:graphic>
      </p:graphicFrame>
      <p:sp>
        <p:nvSpPr>
          <p:cNvPr id="7" name="Khoang gia"/>
          <p:cNvSpPr/>
          <p:nvPr/>
        </p:nvSpPr>
        <p:spPr>
          <a:xfrm>
            <a:off x="6812280" y="2697480"/>
            <a:ext cx="4690872" cy="914400"/>
          </a:xfrm>
          <a:prstGeom prst="roundRect">
            <a:avLst>
              <a:gd name="adj" fmla="val 8000"/>
            </a:avLst>
          </a:prstGeom>
          <a:solidFill>
            <a:schemeClr val="bg2"/>
          </a:solidFill>
          <a:ln/>
        </p:spPr>
      </p:sp>
      <p:sp>
        <p:nvSpPr>
          <p:cNvPr id="8" name="Text 5"/>
          <p:cNvSpPr txBox="1"/>
          <p:nvPr/>
        </p:nvSpPr>
        <p:spPr>
          <a:xfrm>
            <a:off x="7040880" y="2761488"/>
            <a:ext cx="4233672" cy="804672"/>
          </a:xfrm>
          <a:prstGeom prst="rect">
            <a:avLst/>
          </a:prstGeom>
          <a:noFill/>
          <a:ln/>
        </p:spPr>
        <p:txBody>
          <a:bodyPr wrap="square" lIns="0" tIns="0" rIns="0" bIns="0" rtlCol="0" anchor="ctr"/>
          <a:lstStyle/>
          <a:p>
            <a:pPr indent="0" marL="0">
              <a:buNone/>
            </a:pPr>
            <a:r>
              <a:rPr lang="en-US" sz="1700" b="1" dirty="0">
                <a:solidFill>
                  <a:schemeClr val="accent2"/>
                </a:solidFill>
              </a:rPr>
              <a:t>Khoảng giá</a:t>
            </a:r>
            <a:endParaRPr lang="en-US" sz="1400" dirty="0"/>
          </a:p>
          <a:p>
            <a:pPr indent="0" marL="0">
              <a:buNone/>
            </a:pPr>
            <a:r>
              <a:rPr lang="en-US" sz="1400" dirty="0">
                <a:solidFill>
                  <a:schemeClr val="tx2"/>
                </a:solidFill>
              </a:rPr>
              <a:t>P × (1 ± δ), với δ = max(5%; CV của các giá đã điều chỉnh)</a:t>
            </a:r>
            <a:endParaRPr lang="en-US" sz="1400" dirty="0"/>
          </a:p>
        </p:txBody>
      </p:sp>
      <p:sp>
        <p:nvSpPr>
          <p:cNvPr id="9" name="Do tin cay"/>
          <p:cNvSpPr/>
          <p:nvPr/>
        </p:nvSpPr>
        <p:spPr>
          <a:xfrm>
            <a:off x="6812280" y="3749040"/>
            <a:ext cx="4690872" cy="1371600"/>
          </a:xfrm>
          <a:prstGeom prst="roundRect">
            <a:avLst>
              <a:gd name="adj" fmla="val 5333"/>
            </a:avLst>
          </a:prstGeom>
          <a:solidFill>
            <a:schemeClr val="bg2"/>
          </a:solidFill>
          <a:ln/>
        </p:spPr>
      </p:sp>
      <p:sp>
        <p:nvSpPr>
          <p:cNvPr id="10" name="Text 7"/>
          <p:cNvSpPr txBox="1"/>
          <p:nvPr/>
        </p:nvSpPr>
        <p:spPr>
          <a:xfrm>
            <a:off x="7040880" y="3813048"/>
            <a:ext cx="4233672" cy="1243584"/>
          </a:xfrm>
          <a:prstGeom prst="rect">
            <a:avLst/>
          </a:prstGeom>
          <a:noFill/>
          <a:ln/>
        </p:spPr>
        <p:txBody>
          <a:bodyPr wrap="square" lIns="0" tIns="0" rIns="0" bIns="0" rtlCol="0" anchor="ctr"/>
          <a:lstStyle/>
          <a:p>
            <a:pPr indent="0" marL="0">
              <a:buNone/>
            </a:pPr>
            <a:r>
              <a:rPr lang="en-US" sz="1700" b="1" dirty="0">
                <a:solidFill>
                  <a:schemeClr val="accent2"/>
                </a:solidFill>
              </a:rPr>
              <a:t>Mức độ tin cậy</a:t>
            </a:r>
            <a:endParaRPr lang="en-US" sz="1400" dirty="0"/>
          </a:p>
          <a:p>
            <a:pPr indent="0" marL="0">
              <a:buNone/>
            </a:pPr>
            <a:r>
              <a:rPr lang="en-US" sz="1400" b="1" dirty="0">
                <a:solidFill>
                  <a:schemeClr val="tx1"/>
                </a:solidFill>
              </a:rPr>
              <a:t>Cao: </a:t>
            </a:r>
            <a:pPr indent="0" marL="0">
              <a:buNone/>
            </a:pPr>
            <a:r>
              <a:rPr lang="en-US" sz="1400" dirty="0">
                <a:solidFill>
                  <a:schemeClr val="tx2"/>
                </a:solidFill>
              </a:rPr>
              <a:t>Sim_tb ≥ 0,85, CV ≤ 8%, không cảnh báo</a:t>
            </a:r>
            <a:endParaRPr lang="en-US" sz="1400" dirty="0"/>
          </a:p>
          <a:p>
            <a:pPr indent="0" marL="0">
              <a:buNone/>
            </a:pPr>
            <a:r>
              <a:rPr lang="en-US" sz="1400" b="1" dirty="0">
                <a:solidFill>
                  <a:schemeClr val="tx1"/>
                </a:solidFill>
              </a:rPr>
              <a:t>Thấp: </a:t>
            </a:r>
            <a:pPr indent="0" marL="0">
              <a:buNone/>
            </a:pPr>
            <a:r>
              <a:rPr lang="en-US" sz="1400" dirty="0">
                <a:solidFill>
                  <a:schemeClr val="tx2"/>
                </a:solidFill>
              </a:rPr>
              <a:t>Sim_tb &lt; 0,70 hoặc có cảnh báo</a:t>
            </a:r>
            <a:endParaRPr lang="en-US" sz="1400" dirty="0"/>
          </a:p>
          <a:p>
            <a:pPr indent="0" marL="0">
              <a:buNone/>
            </a:pPr>
            <a:r>
              <a:rPr lang="en-US" sz="1400" b="1" dirty="0">
                <a:solidFill>
                  <a:schemeClr val="tx1"/>
                </a:solidFill>
              </a:rPr>
              <a:t>Trung bình: </a:t>
            </a:r>
            <a:pPr indent="0" marL="0">
              <a:buNone/>
            </a:pPr>
            <a:r>
              <a:rPr lang="en-US" sz="1400" dirty="0">
                <a:solidFill>
                  <a:schemeClr val="tx2"/>
                </a:solidFill>
              </a:rPr>
              <a:t>các trường hợp còn lại</a:t>
            </a:r>
            <a:endParaRPr lang="en-US" sz="1400" dirty="0"/>
          </a:p>
        </p:txBody>
      </p:sp>
      <p:sp>
        <p:nvSpPr>
          <p:cNvPr id="11" name="Kiem chung cheo"/>
          <p:cNvSpPr/>
          <p:nvPr/>
        </p:nvSpPr>
        <p:spPr>
          <a:xfrm>
            <a:off x="6812280" y="5257800"/>
            <a:ext cx="4690872" cy="731520"/>
          </a:xfrm>
          <a:prstGeom prst="roundRect">
            <a:avLst>
              <a:gd name="adj" fmla="val 10000"/>
            </a:avLst>
          </a:prstGeom>
          <a:solidFill>
            <a:schemeClr val="accent6"/>
          </a:solidFill>
          <a:ln/>
        </p:spPr>
      </p:sp>
      <p:sp>
        <p:nvSpPr>
          <p:cNvPr id="12" name="Text 9"/>
          <p:cNvSpPr txBox="1"/>
          <p:nvPr/>
        </p:nvSpPr>
        <p:spPr>
          <a:xfrm>
            <a:off x="7040880" y="5257800"/>
            <a:ext cx="4233672" cy="731520"/>
          </a:xfrm>
          <a:prstGeom prst="rect">
            <a:avLst/>
          </a:prstGeom>
          <a:noFill/>
          <a:ln/>
        </p:spPr>
        <p:txBody>
          <a:bodyPr wrap="square" lIns="0" tIns="0" rIns="0" bIns="0" rtlCol="0" anchor="ctr"/>
          <a:lstStyle/>
          <a:p>
            <a:pPr indent="0" marL="0">
              <a:buNone/>
            </a:pPr>
            <a:r>
              <a:rPr lang="en-US" sz="1400" b="1" dirty="0">
                <a:solidFill>
                  <a:schemeClr val="tx1"/>
                </a:solidFill>
              </a:rPr>
              <a:t>Kiểm chứng chéo: </a:t>
            </a:r>
            <a:pPr indent="0" marL="0">
              <a:buNone/>
            </a:pPr>
            <a:r>
              <a:rPr lang="en-US" sz="1400" dirty="0">
                <a:solidFill>
                  <a:schemeClr val="tx1"/>
                </a:solidFill>
              </a:rPr>
              <a:t>|P_ML − P| / P &gt; 15% → cảnh báo, hạ một bậc tin cậy</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411480"/>
            <a:ext cx="10817352" cy="36576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CHƯƠNG 2 · VÍ DỤ MINH HỌA</a:t>
            </a:r>
            <a:endParaRPr lang="en-US" sz="1200" dirty="0"/>
          </a:p>
        </p:txBody>
      </p:sp>
      <p:sp>
        <p:nvSpPr>
          <p:cNvPr id="3" name="Text 0"/>
          <p:cNvSpPr/>
          <p:nvPr>
            <p:ph idx="101" type="title" hasCustomPrompt="1"/>
          </p:nvPr>
        </p:nvSpPr>
        <p:spPr>
          <a:xfrm>
            <a:off x="685800" y="777240"/>
            <a:ext cx="10817352" cy="731520"/>
          </a:xfrm>
          <a:prstGeom prst="rect">
            <a:avLst/>
          </a:prstGeom>
          <a:noFill/>
          <a:ln/>
        </p:spPr>
        <p:txBody>
          <a:bodyPr wrap="square" lIns="0" tIns="0" rIns="0" bIns="0" rtlCol="0" anchor="ctr"/>
          <a:lstStyle/>
          <a:p>
            <a:pPr algn="l" indent="0" marL="0">
              <a:buNone/>
            </a:pPr>
            <a:r>
              <a:rPr lang="en-US" sz="3000" b="1" dirty="0">
                <a:solidFill>
                  <a:schemeClr val="tx1"/>
                </a:solidFill>
              </a:rPr>
              <a:t>Ví dụ: Toyota Vios 1.5G CVT 2019</a:t>
            </a:r>
            <a:endParaRPr lang="en-US" sz="3000" dirty="0"/>
          </a:p>
        </p:txBody>
      </p:sp>
      <p:sp>
        <p:nvSpPr>
          <p:cNvPr id="4" name="Text 2"/>
          <p:cNvSpPr txBox="1"/>
          <p:nvPr/>
        </p:nvSpPr>
        <p:spPr>
          <a:xfrm>
            <a:off x="685800" y="1691640"/>
            <a:ext cx="10817352" cy="411480"/>
          </a:xfrm>
          <a:prstGeom prst="rect">
            <a:avLst/>
          </a:prstGeom>
          <a:noFill/>
          <a:ln/>
        </p:spPr>
        <p:txBody>
          <a:bodyPr wrap="square" lIns="0" tIns="0" rIns="0" bIns="0" rtlCol="0" anchor="t"/>
          <a:lstStyle/>
          <a:p>
            <a:pPr indent="0" marL="0">
              <a:buNone/>
            </a:pPr>
            <a:r>
              <a:rPr lang="en-US" sz="1500" dirty="0">
                <a:solidFill>
                  <a:schemeClr val="tx2"/>
                </a:solidFill>
              </a:rPr>
              <a:t>95.000 km · 1 chủ · bảo dưỡng tại hãng · tình trạng tốt · Hà Nội · giá xe mới tham chiếu 545 triệu đồng (số liệu giả định)</a:t>
            </a:r>
            <a:endParaRPr lang="en-US" sz="1500" dirty="0"/>
          </a:p>
        </p:txBody>
      </p:sp>
      <p:sp>
        <p:nvSpPr>
          <p:cNvPr id="5" name="So lieu 1"/>
          <p:cNvSpPr/>
          <p:nvPr/>
        </p:nvSpPr>
        <p:spPr>
          <a:xfrm>
            <a:off x="685800" y="2331720"/>
            <a:ext cx="2498598" cy="2743200"/>
          </a:xfrm>
          <a:prstGeom prst="roundRect">
            <a:avLst>
              <a:gd name="adj" fmla="val 2928"/>
            </a:avLst>
          </a:prstGeom>
          <a:solidFill>
            <a:schemeClr val="bg1"/>
          </a:solidFill>
          <a:ln/>
          <a:effectLst>
            <a:outerShdw sx="100000" sy="100000" kx="0" ky="0" algn="bl" rotWithShape="0" blurRad="76200" dist="25400" dir="5400000">
              <a:srgbClr val="14213D">
                <a:alpha val="12000"/>
              </a:srgbClr>
            </a:outerShdw>
          </a:effectLst>
        </p:spPr>
      </p:sp>
      <p:sp>
        <p:nvSpPr>
          <p:cNvPr id="6" name="Text 4"/>
          <p:cNvSpPr txBox="1"/>
          <p:nvPr/>
        </p:nvSpPr>
        <p:spPr>
          <a:xfrm>
            <a:off x="914400" y="2560320"/>
            <a:ext cx="2041398" cy="731520"/>
          </a:xfrm>
          <a:prstGeom prst="rect">
            <a:avLst/>
          </a:prstGeom>
          <a:noFill/>
          <a:ln/>
        </p:spPr>
        <p:txBody>
          <a:bodyPr wrap="square" lIns="0" tIns="0" rIns="0" bIns="0" rtlCol="0" anchor="ctr"/>
          <a:lstStyle/>
          <a:p>
            <a:pPr indent="0" marL="0">
              <a:buNone/>
            </a:pPr>
            <a:r>
              <a:rPr lang="en-US" sz="3600" b="1" dirty="0">
                <a:solidFill>
                  <a:schemeClr val="accent2"/>
                </a:solidFill>
              </a:rPr>
              <a:t>353,7</a:t>
            </a:r>
            <a:endParaRPr lang="en-US" sz="3600" dirty="0"/>
          </a:p>
        </p:txBody>
      </p:sp>
      <p:sp>
        <p:nvSpPr>
          <p:cNvPr id="7" name="Text 5"/>
          <p:cNvSpPr txBox="1"/>
          <p:nvPr/>
        </p:nvSpPr>
        <p:spPr>
          <a:xfrm>
            <a:off x="914400" y="3383280"/>
            <a:ext cx="2041398" cy="548640"/>
          </a:xfrm>
          <a:prstGeom prst="rect">
            <a:avLst/>
          </a:prstGeom>
          <a:noFill/>
          <a:ln/>
        </p:spPr>
        <p:txBody>
          <a:bodyPr wrap="square" lIns="0" tIns="0" rIns="0" bIns="0" rtlCol="0" anchor="t"/>
          <a:lstStyle/>
          <a:p>
            <a:pPr indent="0" marL="0">
              <a:buNone/>
            </a:pPr>
            <a:r>
              <a:rPr lang="en-US" sz="1500" b="1" dirty="0">
                <a:solidFill>
                  <a:schemeClr val="tx1"/>
                </a:solidFill>
              </a:rPr>
              <a:t>Giá theo luật (triệu đồng)</a:t>
            </a:r>
            <a:endParaRPr lang="en-US" sz="1500" dirty="0"/>
          </a:p>
        </p:txBody>
      </p:sp>
      <p:sp>
        <p:nvSpPr>
          <p:cNvPr id="8" name="Text 6"/>
          <p:cNvSpPr txBox="1"/>
          <p:nvPr/>
        </p:nvSpPr>
        <p:spPr>
          <a:xfrm>
            <a:off x="914400" y="3977640"/>
            <a:ext cx="2041398" cy="1005840"/>
          </a:xfrm>
          <a:prstGeom prst="rect">
            <a:avLst/>
          </a:prstGeom>
          <a:noFill/>
          <a:ln/>
        </p:spPr>
        <p:txBody>
          <a:bodyPr wrap="square" lIns="0" tIns="0" rIns="0" bIns="0" rtlCol="0" anchor="t"/>
          <a:lstStyle/>
          <a:p>
            <a:pPr indent="0" marL="0">
              <a:buNone/>
            </a:pPr>
            <a:r>
              <a:rPr lang="en-US" sz="1400" dirty="0">
                <a:solidFill>
                  <a:schemeClr val="tx2"/>
                </a:solidFill>
              </a:rPr>
              <a:t>R03, R06, R09, R17, R21: 545 × 0,60 × 1,05 × 1,03</a:t>
            </a:r>
            <a:endParaRPr lang="en-US" sz="1400" dirty="0"/>
          </a:p>
        </p:txBody>
      </p:sp>
      <p:sp>
        <p:nvSpPr>
          <p:cNvPr id="9" name="So lieu 2"/>
          <p:cNvSpPr/>
          <p:nvPr/>
        </p:nvSpPr>
        <p:spPr>
          <a:xfrm>
            <a:off x="3458718" y="2331720"/>
            <a:ext cx="2498598" cy="2743200"/>
          </a:xfrm>
          <a:prstGeom prst="roundRect">
            <a:avLst>
              <a:gd name="adj" fmla="val 2928"/>
            </a:avLst>
          </a:prstGeom>
          <a:solidFill>
            <a:schemeClr val="bg1"/>
          </a:solidFill>
          <a:ln/>
          <a:effectLst>
            <a:outerShdw sx="100000" sy="100000" kx="0" ky="0" algn="bl" rotWithShape="0" blurRad="76200" dist="25400" dir="5400000">
              <a:srgbClr val="14213D">
                <a:alpha val="12000"/>
              </a:srgbClr>
            </a:outerShdw>
          </a:effectLst>
        </p:spPr>
      </p:sp>
      <p:sp>
        <p:nvSpPr>
          <p:cNvPr id="10" name="Text 8"/>
          <p:cNvSpPr txBox="1"/>
          <p:nvPr/>
        </p:nvSpPr>
        <p:spPr>
          <a:xfrm>
            <a:off x="3687318" y="2560320"/>
            <a:ext cx="2041398" cy="731520"/>
          </a:xfrm>
          <a:prstGeom prst="rect">
            <a:avLst/>
          </a:prstGeom>
          <a:noFill/>
          <a:ln/>
        </p:spPr>
        <p:txBody>
          <a:bodyPr wrap="square" lIns="0" tIns="0" rIns="0" bIns="0" rtlCol="0" anchor="ctr"/>
          <a:lstStyle/>
          <a:p>
            <a:pPr indent="0" marL="0">
              <a:buNone/>
            </a:pPr>
            <a:r>
              <a:rPr lang="en-US" sz="3600" b="1" dirty="0">
                <a:solidFill>
                  <a:schemeClr val="accent2"/>
                </a:solidFill>
              </a:rPr>
              <a:t>364,1</a:t>
            </a:r>
            <a:endParaRPr lang="en-US" sz="3600" dirty="0"/>
          </a:p>
        </p:txBody>
      </p:sp>
      <p:sp>
        <p:nvSpPr>
          <p:cNvPr id="11" name="Text 9"/>
          <p:cNvSpPr txBox="1"/>
          <p:nvPr/>
        </p:nvSpPr>
        <p:spPr>
          <a:xfrm>
            <a:off x="3687318" y="3383280"/>
            <a:ext cx="2041398" cy="548640"/>
          </a:xfrm>
          <a:prstGeom prst="rect">
            <a:avLst/>
          </a:prstGeom>
          <a:noFill/>
          <a:ln/>
        </p:spPr>
        <p:txBody>
          <a:bodyPr wrap="square" lIns="0" tIns="0" rIns="0" bIns="0" rtlCol="0" anchor="t"/>
          <a:lstStyle/>
          <a:p>
            <a:pPr indent="0" marL="0">
              <a:buNone/>
            </a:pPr>
            <a:r>
              <a:rPr lang="en-US" sz="1500" b="1" dirty="0">
                <a:solidFill>
                  <a:schemeClr val="tx1"/>
                </a:solidFill>
              </a:rPr>
              <a:t>Giá theo CBR (triệu đồng)</a:t>
            </a:r>
            <a:endParaRPr lang="en-US" sz="1500" dirty="0"/>
          </a:p>
        </p:txBody>
      </p:sp>
      <p:sp>
        <p:nvSpPr>
          <p:cNvPr id="12" name="Text 10"/>
          <p:cNvSpPr txBox="1"/>
          <p:nvPr/>
        </p:nvSpPr>
        <p:spPr>
          <a:xfrm>
            <a:off x="3687318" y="3977640"/>
            <a:ext cx="2041398" cy="1005840"/>
          </a:xfrm>
          <a:prstGeom prst="rect">
            <a:avLst/>
          </a:prstGeom>
          <a:noFill/>
          <a:ln/>
        </p:spPr>
        <p:txBody>
          <a:bodyPr wrap="square" lIns="0" tIns="0" rIns="0" bIns="0" rtlCol="0" anchor="t"/>
          <a:lstStyle/>
          <a:p>
            <a:pPr indent="0" marL="0">
              <a:buNone/>
            </a:pPr>
            <a:r>
              <a:rPr lang="en-US" sz="1400" dirty="0">
                <a:solidFill>
                  <a:schemeClr val="tx2"/>
                </a:solidFill>
              </a:rPr>
              <a:t>5 xe tương tự đã điều chỉnh giá, Sim_tb = 0,93</a:t>
            </a:r>
            <a:endParaRPr lang="en-US" sz="1400" dirty="0"/>
          </a:p>
        </p:txBody>
      </p:sp>
      <p:sp>
        <p:nvSpPr>
          <p:cNvPr id="13" name="So lieu 3"/>
          <p:cNvSpPr/>
          <p:nvPr/>
        </p:nvSpPr>
        <p:spPr>
          <a:xfrm>
            <a:off x="6231636" y="2331720"/>
            <a:ext cx="2498598" cy="2743200"/>
          </a:xfrm>
          <a:prstGeom prst="roundRect">
            <a:avLst>
              <a:gd name="adj" fmla="val 2928"/>
            </a:avLst>
          </a:prstGeom>
          <a:solidFill>
            <a:schemeClr val="tx1"/>
          </a:solidFill>
          <a:ln/>
        </p:spPr>
      </p:sp>
      <p:sp>
        <p:nvSpPr>
          <p:cNvPr id="14" name="Text 12"/>
          <p:cNvSpPr txBox="1"/>
          <p:nvPr/>
        </p:nvSpPr>
        <p:spPr>
          <a:xfrm>
            <a:off x="6460236" y="2560320"/>
            <a:ext cx="2041398" cy="731520"/>
          </a:xfrm>
          <a:prstGeom prst="rect">
            <a:avLst/>
          </a:prstGeom>
          <a:noFill/>
          <a:ln/>
        </p:spPr>
        <p:txBody>
          <a:bodyPr wrap="square" lIns="0" tIns="0" rIns="0" bIns="0" rtlCol="0" anchor="ctr"/>
          <a:lstStyle/>
          <a:p>
            <a:pPr indent="0" marL="0">
              <a:buNone/>
            </a:pPr>
            <a:r>
              <a:rPr lang="en-US" sz="3600" b="1" dirty="0">
                <a:solidFill>
                  <a:schemeClr val="accent4"/>
                </a:solidFill>
              </a:rPr>
              <a:t>≈ 360</a:t>
            </a:r>
            <a:endParaRPr lang="en-US" sz="3600" dirty="0"/>
          </a:p>
        </p:txBody>
      </p:sp>
      <p:sp>
        <p:nvSpPr>
          <p:cNvPr id="15" name="Text 13"/>
          <p:cNvSpPr txBox="1"/>
          <p:nvPr/>
        </p:nvSpPr>
        <p:spPr>
          <a:xfrm>
            <a:off x="6460236" y="3383280"/>
            <a:ext cx="2041398" cy="548640"/>
          </a:xfrm>
          <a:prstGeom prst="rect">
            <a:avLst/>
          </a:prstGeom>
          <a:noFill/>
          <a:ln/>
        </p:spPr>
        <p:txBody>
          <a:bodyPr wrap="square" lIns="0" tIns="0" rIns="0" bIns="0" rtlCol="0" anchor="t"/>
          <a:lstStyle/>
          <a:p>
            <a:pPr indent="0" marL="0">
              <a:buNone/>
            </a:pPr>
            <a:r>
              <a:rPr lang="en-US" sz="1500" b="1" dirty="0">
                <a:solidFill>
                  <a:schemeClr val="bg1"/>
                </a:solidFill>
              </a:rPr>
              <a:t>Giá đề xuất (triệu đồng)</a:t>
            </a:r>
            <a:endParaRPr lang="en-US" sz="1500" dirty="0"/>
          </a:p>
        </p:txBody>
      </p:sp>
      <p:sp>
        <p:nvSpPr>
          <p:cNvPr id="16" name="Text 14"/>
          <p:cNvSpPr txBox="1"/>
          <p:nvPr/>
        </p:nvSpPr>
        <p:spPr>
          <a:xfrm>
            <a:off x="6460236" y="3977640"/>
            <a:ext cx="2041398" cy="1005840"/>
          </a:xfrm>
          <a:prstGeom prst="rect">
            <a:avLst/>
          </a:prstGeom>
          <a:noFill/>
          <a:ln/>
        </p:spPr>
        <p:txBody>
          <a:bodyPr wrap="square" lIns="0" tIns="0" rIns="0" bIns="0" rtlCol="0" anchor="t"/>
          <a:lstStyle/>
          <a:p>
            <a:pPr indent="0" marL="0">
              <a:buNone/>
            </a:pPr>
            <a:r>
              <a:rPr lang="en-US" sz="1400" dirty="0">
                <a:solidFill>
                  <a:schemeClr val="accent5"/>
                </a:solidFill>
              </a:rPr>
              <a:t>α = 0,4 vì Sim_tb ≥ 0,85: 0,4 × 353,7 + 0,6 × 364,1</a:t>
            </a:r>
            <a:endParaRPr lang="en-US" sz="1400" dirty="0"/>
          </a:p>
        </p:txBody>
      </p:sp>
      <p:sp>
        <p:nvSpPr>
          <p:cNvPr id="17" name="So lieu 4"/>
          <p:cNvSpPr/>
          <p:nvPr/>
        </p:nvSpPr>
        <p:spPr>
          <a:xfrm>
            <a:off x="9004554" y="2331720"/>
            <a:ext cx="2498598" cy="2743200"/>
          </a:xfrm>
          <a:prstGeom prst="roundRect">
            <a:avLst>
              <a:gd name="adj" fmla="val 2928"/>
            </a:avLst>
          </a:prstGeom>
          <a:solidFill>
            <a:schemeClr val="bg1"/>
          </a:solidFill>
          <a:ln/>
          <a:effectLst>
            <a:outerShdw sx="100000" sy="100000" kx="0" ky="0" algn="bl" rotWithShape="0" blurRad="76200" dist="25400" dir="5400000">
              <a:srgbClr val="14213D">
                <a:alpha val="12000"/>
              </a:srgbClr>
            </a:outerShdw>
          </a:effectLst>
        </p:spPr>
      </p:sp>
      <p:sp>
        <p:nvSpPr>
          <p:cNvPr id="18" name="Text 16"/>
          <p:cNvSpPr txBox="1"/>
          <p:nvPr/>
        </p:nvSpPr>
        <p:spPr>
          <a:xfrm>
            <a:off x="9233154" y="2560320"/>
            <a:ext cx="2041398" cy="731520"/>
          </a:xfrm>
          <a:prstGeom prst="rect">
            <a:avLst/>
          </a:prstGeom>
          <a:noFill/>
          <a:ln/>
        </p:spPr>
        <p:txBody>
          <a:bodyPr wrap="square" lIns="0" tIns="0" rIns="0" bIns="0" rtlCol="0" anchor="ctr"/>
          <a:lstStyle/>
          <a:p>
            <a:pPr indent="0" marL="0">
              <a:buNone/>
            </a:pPr>
            <a:r>
              <a:rPr lang="en-US" sz="3600" b="1" dirty="0">
                <a:solidFill>
                  <a:schemeClr val="accent2"/>
                </a:solidFill>
              </a:rPr>
              <a:t>342–378</a:t>
            </a:r>
            <a:endParaRPr lang="en-US" sz="3600" dirty="0"/>
          </a:p>
        </p:txBody>
      </p:sp>
      <p:sp>
        <p:nvSpPr>
          <p:cNvPr id="19" name="Text 17"/>
          <p:cNvSpPr txBox="1"/>
          <p:nvPr/>
        </p:nvSpPr>
        <p:spPr>
          <a:xfrm>
            <a:off x="9233154" y="3383280"/>
            <a:ext cx="2041398" cy="548640"/>
          </a:xfrm>
          <a:prstGeom prst="rect">
            <a:avLst/>
          </a:prstGeom>
          <a:noFill/>
          <a:ln/>
        </p:spPr>
        <p:txBody>
          <a:bodyPr wrap="square" lIns="0" tIns="0" rIns="0" bIns="0" rtlCol="0" anchor="t"/>
          <a:lstStyle/>
          <a:p>
            <a:pPr indent="0" marL="0">
              <a:buNone/>
            </a:pPr>
            <a:r>
              <a:rPr lang="en-US" sz="1500" b="1" dirty="0">
                <a:solidFill>
                  <a:schemeClr val="tx1"/>
                </a:solidFill>
              </a:rPr>
              <a:t>Khoảng giá · tin cậy Cao</a:t>
            </a:r>
            <a:endParaRPr lang="en-US" sz="1500" dirty="0"/>
          </a:p>
        </p:txBody>
      </p:sp>
      <p:sp>
        <p:nvSpPr>
          <p:cNvPr id="20" name="Text 18"/>
          <p:cNvSpPr txBox="1"/>
          <p:nvPr/>
        </p:nvSpPr>
        <p:spPr>
          <a:xfrm>
            <a:off x="9233154" y="3977640"/>
            <a:ext cx="2041398" cy="1005840"/>
          </a:xfrm>
          <a:prstGeom prst="rect">
            <a:avLst/>
          </a:prstGeom>
          <a:noFill/>
          <a:ln/>
        </p:spPr>
        <p:txBody>
          <a:bodyPr wrap="square" lIns="0" tIns="0" rIns="0" bIns="0" rtlCol="0" anchor="t"/>
          <a:lstStyle/>
          <a:p>
            <a:pPr indent="0" marL="0">
              <a:buNone/>
            </a:pPr>
            <a:r>
              <a:rPr lang="en-US" sz="1400" dirty="0">
                <a:solidFill>
                  <a:schemeClr val="tx2"/>
                </a:solidFill>
              </a:rPr>
              <a:t>CV ≈ 1,6% nên δ = 5%; không có luật cảnh báo</a:t>
            </a:r>
            <a:endParaRPr lang="en-US" sz="1400" dirty="0"/>
          </a:p>
        </p:txBody>
      </p:sp>
      <p:sp>
        <p:nvSpPr>
          <p:cNvPr id="21" name="Text 19"/>
          <p:cNvSpPr txBox="1"/>
          <p:nvPr/>
        </p:nvSpPr>
        <p:spPr>
          <a:xfrm>
            <a:off x="685800" y="5349240"/>
            <a:ext cx="10817352" cy="548640"/>
          </a:xfrm>
          <a:prstGeom prst="rect">
            <a:avLst/>
          </a:prstGeom>
          <a:noFill/>
          <a:ln/>
        </p:spPr>
        <p:txBody>
          <a:bodyPr wrap="square" lIns="0" tIns="0" rIns="0" bIns="0" rtlCol="0" anchor="t"/>
          <a:lstStyle/>
          <a:p>
            <a:pPr indent="0" marL="0">
              <a:buNone/>
            </a:pPr>
            <a:r>
              <a:rPr lang="en-US" sz="1400" dirty="0">
                <a:solidFill>
                  <a:schemeClr val="tx2"/>
                </a:solidFill>
              </a:rPr>
              <a:t>Random Forest đối chứng: 371 triệu, chênh 3,1% &lt; 15% nên không cảnh báo. Kết quả kèm 5 luật đã kích hoạt và 5 xe tương tự.</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411480"/>
            <a:ext cx="10817352" cy="36576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CHƯƠNG 2 · LUỒNG XỬ LÝ</a:t>
            </a:r>
            <a:endParaRPr lang="en-US" sz="1200" dirty="0"/>
          </a:p>
        </p:txBody>
      </p:sp>
      <p:sp>
        <p:nvSpPr>
          <p:cNvPr id="3" name="Text 0"/>
          <p:cNvSpPr/>
          <p:nvPr>
            <p:ph idx="101" type="title" hasCustomPrompt="1"/>
          </p:nvPr>
        </p:nvSpPr>
        <p:spPr>
          <a:xfrm>
            <a:off x="685800" y="777240"/>
            <a:ext cx="10817352" cy="731520"/>
          </a:xfrm>
          <a:prstGeom prst="rect">
            <a:avLst/>
          </a:prstGeom>
          <a:noFill/>
          <a:ln/>
        </p:spPr>
        <p:txBody>
          <a:bodyPr wrap="square" lIns="0" tIns="0" rIns="0" bIns="0" rtlCol="0" anchor="ctr"/>
          <a:lstStyle/>
          <a:p>
            <a:pPr algn="l" indent="0" marL="0">
              <a:buNone/>
            </a:pPr>
            <a:r>
              <a:rPr lang="en-US" sz="3000" b="1" dirty="0">
                <a:solidFill>
                  <a:schemeClr val="tx1"/>
                </a:solidFill>
              </a:rPr>
              <a:t>Luồng định giá một chiếc xe</a:t>
            </a:r>
            <a:endParaRPr lang="en-US" sz="3000" dirty="0"/>
          </a:p>
        </p:txBody>
      </p:sp>
      <p:sp>
        <p:nvSpPr>
          <p:cNvPr id="4" name="Buoc 1"/>
          <p:cNvSpPr/>
          <p:nvPr/>
        </p:nvSpPr>
        <p:spPr>
          <a:xfrm>
            <a:off x="685800" y="2011680"/>
            <a:ext cx="1629918" cy="2377440"/>
          </a:xfrm>
          <a:prstGeom prst="roundRect">
            <a:avLst>
              <a:gd name="adj" fmla="val 4488"/>
            </a:avLst>
          </a:prstGeom>
          <a:solidFill>
            <a:schemeClr val="bg2"/>
          </a:solidFill>
          <a:ln/>
        </p:spPr>
      </p:sp>
      <p:sp>
        <p:nvSpPr>
          <p:cNvPr id="5" name="So 1"/>
          <p:cNvSpPr/>
          <p:nvPr/>
        </p:nvSpPr>
        <p:spPr>
          <a:xfrm>
            <a:off x="868680" y="2240280"/>
            <a:ext cx="411480" cy="411480"/>
          </a:xfrm>
          <a:prstGeom prst="ellipse">
            <a:avLst/>
          </a:prstGeom>
          <a:solidFill>
            <a:schemeClr val="accent1"/>
          </a:solidFill>
          <a:ln/>
        </p:spPr>
      </p:sp>
      <p:sp>
        <p:nvSpPr>
          <p:cNvPr id="6" name="Text 4"/>
          <p:cNvSpPr txBox="1"/>
          <p:nvPr/>
        </p:nvSpPr>
        <p:spPr>
          <a:xfrm>
            <a:off x="868680" y="22402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868680" y="2834640"/>
            <a:ext cx="1264158" cy="1371600"/>
          </a:xfrm>
          <a:prstGeom prst="rect">
            <a:avLst/>
          </a:prstGeom>
          <a:noFill/>
          <a:ln/>
        </p:spPr>
        <p:txBody>
          <a:bodyPr wrap="square" lIns="0" tIns="0" rIns="0" bIns="0" rtlCol="0" anchor="t"/>
          <a:lstStyle/>
          <a:p>
            <a:pPr indent="0" marL="0">
              <a:buNone/>
            </a:pPr>
            <a:r>
              <a:rPr lang="en-US" sz="1500" dirty="0">
                <a:solidFill>
                  <a:schemeClr val="tx1"/>
                </a:solidFill>
              </a:rPr>
              <a:t>Nhập và kiểm tra thông tin xe</a:t>
            </a:r>
            <a:endParaRPr lang="en-US" sz="1500" dirty="0"/>
          </a:p>
        </p:txBody>
      </p:sp>
      <p:sp>
        <p:nvSpPr>
          <p:cNvPr id="8" name="Mui ten"/>
          <p:cNvSpPr/>
          <p:nvPr/>
        </p:nvSpPr>
        <p:spPr>
          <a:xfrm>
            <a:off x="2407158" y="3063240"/>
            <a:ext cx="365760" cy="274320"/>
          </a:xfrm>
          <a:prstGeom prst="rightArrow">
            <a:avLst/>
          </a:prstGeom>
          <a:solidFill>
            <a:schemeClr val="accent1"/>
          </a:solidFill>
          <a:ln/>
        </p:spPr>
      </p:sp>
      <p:sp>
        <p:nvSpPr>
          <p:cNvPr id="9" name="Buoc 2"/>
          <p:cNvSpPr/>
          <p:nvPr/>
        </p:nvSpPr>
        <p:spPr>
          <a:xfrm>
            <a:off x="2864358" y="2011680"/>
            <a:ext cx="1629918" cy="2377440"/>
          </a:xfrm>
          <a:prstGeom prst="roundRect">
            <a:avLst>
              <a:gd name="adj" fmla="val 4488"/>
            </a:avLst>
          </a:prstGeom>
          <a:solidFill>
            <a:schemeClr val="bg2"/>
          </a:solidFill>
          <a:ln/>
        </p:spPr>
      </p:sp>
      <p:sp>
        <p:nvSpPr>
          <p:cNvPr id="10" name="So 2"/>
          <p:cNvSpPr/>
          <p:nvPr/>
        </p:nvSpPr>
        <p:spPr>
          <a:xfrm>
            <a:off x="3047238" y="2240280"/>
            <a:ext cx="411480" cy="411480"/>
          </a:xfrm>
          <a:prstGeom prst="ellipse">
            <a:avLst/>
          </a:prstGeom>
          <a:solidFill>
            <a:schemeClr val="accent1"/>
          </a:solidFill>
          <a:ln/>
        </p:spPr>
      </p:sp>
      <p:sp>
        <p:nvSpPr>
          <p:cNvPr id="11" name="Text 9"/>
          <p:cNvSpPr txBox="1"/>
          <p:nvPr/>
        </p:nvSpPr>
        <p:spPr>
          <a:xfrm>
            <a:off x="3047238" y="22402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3047238" y="2834640"/>
            <a:ext cx="1264158" cy="1371600"/>
          </a:xfrm>
          <a:prstGeom prst="rect">
            <a:avLst/>
          </a:prstGeom>
          <a:noFill/>
          <a:ln/>
        </p:spPr>
        <p:txBody>
          <a:bodyPr wrap="square" lIns="0" tIns="0" rIns="0" bIns="0" rtlCol="0" anchor="t"/>
          <a:lstStyle/>
          <a:p>
            <a:pPr indent="0" marL="0">
              <a:buNone/>
            </a:pPr>
            <a:r>
              <a:rPr lang="en-US" sz="1500" dirty="0">
                <a:solidFill>
                  <a:schemeClr val="tx1"/>
                </a:solidFill>
              </a:rPr>
              <a:t>Tra khung tri thức, suy ra tuổi xe, km chuẩn</a:t>
            </a:r>
            <a:endParaRPr lang="en-US" sz="1500" dirty="0"/>
          </a:p>
        </p:txBody>
      </p:sp>
      <p:sp>
        <p:nvSpPr>
          <p:cNvPr id="13" name="Mui ten"/>
          <p:cNvSpPr/>
          <p:nvPr/>
        </p:nvSpPr>
        <p:spPr>
          <a:xfrm>
            <a:off x="4585716" y="3063240"/>
            <a:ext cx="365760" cy="274320"/>
          </a:xfrm>
          <a:prstGeom prst="rightArrow">
            <a:avLst/>
          </a:prstGeom>
          <a:solidFill>
            <a:schemeClr val="accent1"/>
          </a:solidFill>
          <a:ln/>
        </p:spPr>
      </p:sp>
      <p:sp>
        <p:nvSpPr>
          <p:cNvPr id="14" name="Buoc 3"/>
          <p:cNvSpPr/>
          <p:nvPr/>
        </p:nvSpPr>
        <p:spPr>
          <a:xfrm>
            <a:off x="5042916" y="2011680"/>
            <a:ext cx="2103120" cy="2377440"/>
          </a:xfrm>
          <a:prstGeom prst="roundRect">
            <a:avLst>
              <a:gd name="adj" fmla="val 3478"/>
            </a:avLst>
          </a:prstGeom>
          <a:solidFill>
            <a:schemeClr val="tx1"/>
          </a:solidFill>
          <a:ln/>
        </p:spPr>
      </p:sp>
      <p:sp>
        <p:nvSpPr>
          <p:cNvPr id="15" name="Text 13"/>
          <p:cNvSpPr txBox="1"/>
          <p:nvPr/>
        </p:nvSpPr>
        <p:spPr>
          <a:xfrm>
            <a:off x="5225796" y="2194560"/>
            <a:ext cx="1737360" cy="365760"/>
          </a:xfrm>
          <a:prstGeom prst="rect">
            <a:avLst/>
          </a:prstGeom>
          <a:noFill/>
          <a:ln/>
        </p:spPr>
        <p:txBody>
          <a:bodyPr wrap="square" lIns="0" tIns="0" rIns="0" bIns="0" rtlCol="0" anchor="t"/>
          <a:lstStyle/>
          <a:p>
            <a:pPr indent="0" marL="0">
              <a:buNone/>
            </a:pPr>
            <a:r>
              <a:rPr lang="en-US" sz="1400" b="1" dirty="0">
                <a:solidFill>
                  <a:schemeClr val="accent4"/>
                </a:solidFill>
              </a:rPr>
              <a:t>3 · song song</a:t>
            </a:r>
            <a:endParaRPr lang="en-US" sz="1400" dirty="0"/>
          </a:p>
        </p:txBody>
      </p:sp>
      <p:sp>
        <p:nvSpPr>
          <p:cNvPr id="16" name="Kenh song song 1"/>
          <p:cNvSpPr/>
          <p:nvPr/>
        </p:nvSpPr>
        <p:spPr>
          <a:xfrm>
            <a:off x="5225796" y="2697480"/>
            <a:ext cx="1737360" cy="438912"/>
          </a:xfrm>
          <a:prstGeom prst="roundRect">
            <a:avLst>
              <a:gd name="adj" fmla="val 16667"/>
            </a:avLst>
          </a:prstGeom>
          <a:solidFill>
            <a:schemeClr val="accent4"/>
          </a:solidFill>
          <a:ln/>
        </p:spPr>
      </p:sp>
      <p:sp>
        <p:nvSpPr>
          <p:cNvPr id="17" name="Text 15"/>
          <p:cNvSpPr txBox="1"/>
          <p:nvPr/>
        </p:nvSpPr>
        <p:spPr>
          <a:xfrm>
            <a:off x="5362956" y="2697480"/>
            <a:ext cx="1463040" cy="438912"/>
          </a:xfrm>
          <a:prstGeom prst="rect">
            <a:avLst/>
          </a:prstGeom>
          <a:noFill/>
          <a:ln/>
        </p:spPr>
        <p:txBody>
          <a:bodyPr wrap="square" lIns="0" tIns="0" rIns="0" bIns="0" rtlCol="0" anchor="ctr"/>
          <a:lstStyle/>
          <a:p>
            <a:pPr indent="0" marL="0">
              <a:buNone/>
            </a:pPr>
            <a:r>
              <a:rPr lang="en-US" sz="1400" dirty="0">
                <a:solidFill>
                  <a:schemeClr val="tx1"/>
                </a:solidFill>
              </a:rPr>
              <a:t>Suy diễn luật</a:t>
            </a:r>
            <a:endParaRPr lang="en-US" sz="1400" dirty="0"/>
          </a:p>
        </p:txBody>
      </p:sp>
      <p:sp>
        <p:nvSpPr>
          <p:cNvPr id="18" name="Kenh song song 2"/>
          <p:cNvSpPr/>
          <p:nvPr/>
        </p:nvSpPr>
        <p:spPr>
          <a:xfrm>
            <a:off x="5225796" y="3246120"/>
            <a:ext cx="1737360" cy="438912"/>
          </a:xfrm>
          <a:prstGeom prst="roundRect">
            <a:avLst>
              <a:gd name="adj" fmla="val 16667"/>
            </a:avLst>
          </a:prstGeom>
          <a:solidFill>
            <a:schemeClr val="accent4"/>
          </a:solidFill>
          <a:ln/>
        </p:spPr>
      </p:sp>
      <p:sp>
        <p:nvSpPr>
          <p:cNvPr id="19" name="Text 17"/>
          <p:cNvSpPr txBox="1"/>
          <p:nvPr/>
        </p:nvSpPr>
        <p:spPr>
          <a:xfrm>
            <a:off x="5362956" y="3246120"/>
            <a:ext cx="1463040" cy="438912"/>
          </a:xfrm>
          <a:prstGeom prst="rect">
            <a:avLst/>
          </a:prstGeom>
          <a:noFill/>
          <a:ln/>
        </p:spPr>
        <p:txBody>
          <a:bodyPr wrap="square" lIns="0" tIns="0" rIns="0" bIns="0" rtlCol="0" anchor="ctr"/>
          <a:lstStyle/>
          <a:p>
            <a:pPr indent="0" marL="0">
              <a:buNone/>
            </a:pPr>
            <a:r>
              <a:rPr lang="en-US" sz="1400" dirty="0">
                <a:solidFill>
                  <a:schemeClr val="tx1"/>
                </a:solidFill>
              </a:rPr>
              <a:t>CBR (k = 5)</a:t>
            </a:r>
            <a:endParaRPr lang="en-US" sz="1400" dirty="0"/>
          </a:p>
        </p:txBody>
      </p:sp>
      <p:sp>
        <p:nvSpPr>
          <p:cNvPr id="20" name="Kenh song song 3"/>
          <p:cNvSpPr/>
          <p:nvPr/>
        </p:nvSpPr>
        <p:spPr>
          <a:xfrm>
            <a:off x="5225796" y="3794760"/>
            <a:ext cx="1737360" cy="438912"/>
          </a:xfrm>
          <a:prstGeom prst="roundRect">
            <a:avLst>
              <a:gd name="adj" fmla="val 16667"/>
            </a:avLst>
          </a:prstGeom>
          <a:solidFill>
            <a:schemeClr val="accent5"/>
          </a:solidFill>
          <a:ln/>
        </p:spPr>
      </p:sp>
      <p:sp>
        <p:nvSpPr>
          <p:cNvPr id="21" name="Text 19"/>
          <p:cNvSpPr txBox="1"/>
          <p:nvPr/>
        </p:nvSpPr>
        <p:spPr>
          <a:xfrm>
            <a:off x="5362956" y="3794760"/>
            <a:ext cx="1463040" cy="438912"/>
          </a:xfrm>
          <a:prstGeom prst="rect">
            <a:avLst/>
          </a:prstGeom>
          <a:noFill/>
          <a:ln/>
        </p:spPr>
        <p:txBody>
          <a:bodyPr wrap="square" lIns="0" tIns="0" rIns="0" bIns="0" rtlCol="0" anchor="ctr"/>
          <a:lstStyle/>
          <a:p>
            <a:pPr indent="0" marL="0">
              <a:buNone/>
            </a:pPr>
            <a:r>
              <a:rPr lang="en-US" sz="1400" dirty="0">
                <a:solidFill>
                  <a:schemeClr val="tx1"/>
                </a:solidFill>
              </a:rPr>
              <a:t>Random Forest</a:t>
            </a:r>
            <a:endParaRPr lang="en-US" sz="1400" dirty="0"/>
          </a:p>
        </p:txBody>
      </p:sp>
      <p:sp>
        <p:nvSpPr>
          <p:cNvPr id="22" name="Mui ten"/>
          <p:cNvSpPr/>
          <p:nvPr/>
        </p:nvSpPr>
        <p:spPr>
          <a:xfrm>
            <a:off x="7237476" y="3063240"/>
            <a:ext cx="365760" cy="274320"/>
          </a:xfrm>
          <a:prstGeom prst="rightArrow">
            <a:avLst/>
          </a:prstGeom>
          <a:solidFill>
            <a:schemeClr val="accent1"/>
          </a:solidFill>
          <a:ln/>
        </p:spPr>
      </p:sp>
      <p:sp>
        <p:nvSpPr>
          <p:cNvPr id="23" name="Buoc 4"/>
          <p:cNvSpPr/>
          <p:nvPr/>
        </p:nvSpPr>
        <p:spPr>
          <a:xfrm>
            <a:off x="7694676" y="2011680"/>
            <a:ext cx="1629918" cy="2377440"/>
          </a:xfrm>
          <a:prstGeom prst="roundRect">
            <a:avLst>
              <a:gd name="adj" fmla="val 4488"/>
            </a:avLst>
          </a:prstGeom>
          <a:solidFill>
            <a:schemeClr val="bg2"/>
          </a:solidFill>
          <a:ln/>
        </p:spPr>
      </p:sp>
      <p:sp>
        <p:nvSpPr>
          <p:cNvPr id="24" name="So 4"/>
          <p:cNvSpPr/>
          <p:nvPr/>
        </p:nvSpPr>
        <p:spPr>
          <a:xfrm>
            <a:off x="7877556" y="2240280"/>
            <a:ext cx="411480" cy="411480"/>
          </a:xfrm>
          <a:prstGeom prst="ellipse">
            <a:avLst/>
          </a:prstGeom>
          <a:solidFill>
            <a:schemeClr val="accent1"/>
          </a:solidFill>
          <a:ln/>
        </p:spPr>
      </p:sp>
      <p:sp>
        <p:nvSpPr>
          <p:cNvPr id="25" name="Text 23"/>
          <p:cNvSpPr txBox="1"/>
          <p:nvPr/>
        </p:nvSpPr>
        <p:spPr>
          <a:xfrm>
            <a:off x="7877556" y="22402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6" name="Text 24"/>
          <p:cNvSpPr txBox="1"/>
          <p:nvPr/>
        </p:nvSpPr>
        <p:spPr>
          <a:xfrm>
            <a:off x="7877556" y="2834640"/>
            <a:ext cx="1264158" cy="1371600"/>
          </a:xfrm>
          <a:prstGeom prst="rect">
            <a:avLst/>
          </a:prstGeom>
          <a:noFill/>
          <a:ln/>
        </p:spPr>
        <p:txBody>
          <a:bodyPr wrap="square" lIns="0" tIns="0" rIns="0" bIns="0" rtlCol="0" anchor="t"/>
          <a:lstStyle/>
          <a:p>
            <a:pPr indent="0" marL="0">
              <a:buNone/>
            </a:pPr>
            <a:r>
              <a:rPr lang="en-US" sz="1500" dirty="0">
                <a:solidFill>
                  <a:schemeClr val="tx1"/>
                </a:solidFill>
              </a:rPr>
              <a:t>Tổng hợp giá, khoảng giá, độ tin cậy, cảnh báo</a:t>
            </a:r>
            <a:endParaRPr lang="en-US" sz="1500" dirty="0"/>
          </a:p>
        </p:txBody>
      </p:sp>
      <p:sp>
        <p:nvSpPr>
          <p:cNvPr id="27" name="Mui ten"/>
          <p:cNvSpPr/>
          <p:nvPr/>
        </p:nvSpPr>
        <p:spPr>
          <a:xfrm>
            <a:off x="9416034" y="3063240"/>
            <a:ext cx="365760" cy="274320"/>
          </a:xfrm>
          <a:prstGeom prst="rightArrow">
            <a:avLst/>
          </a:prstGeom>
          <a:solidFill>
            <a:schemeClr val="accent1"/>
          </a:solidFill>
          <a:ln/>
        </p:spPr>
      </p:sp>
      <p:sp>
        <p:nvSpPr>
          <p:cNvPr id="28" name="Buoc 5"/>
          <p:cNvSpPr/>
          <p:nvPr/>
        </p:nvSpPr>
        <p:spPr>
          <a:xfrm>
            <a:off x="9873234" y="2011680"/>
            <a:ext cx="1629918" cy="2377440"/>
          </a:xfrm>
          <a:prstGeom prst="roundRect">
            <a:avLst>
              <a:gd name="adj" fmla="val 4488"/>
            </a:avLst>
          </a:prstGeom>
          <a:solidFill>
            <a:schemeClr val="bg2"/>
          </a:solidFill>
          <a:ln/>
        </p:spPr>
      </p:sp>
      <p:sp>
        <p:nvSpPr>
          <p:cNvPr id="29" name="So 5"/>
          <p:cNvSpPr/>
          <p:nvPr/>
        </p:nvSpPr>
        <p:spPr>
          <a:xfrm>
            <a:off x="10056114" y="2240280"/>
            <a:ext cx="411480" cy="411480"/>
          </a:xfrm>
          <a:prstGeom prst="ellipse">
            <a:avLst/>
          </a:prstGeom>
          <a:solidFill>
            <a:schemeClr val="accent1"/>
          </a:solidFill>
          <a:ln/>
        </p:spPr>
      </p:sp>
      <p:sp>
        <p:nvSpPr>
          <p:cNvPr id="30" name="Text 28"/>
          <p:cNvSpPr txBox="1"/>
          <p:nvPr/>
        </p:nvSpPr>
        <p:spPr>
          <a:xfrm>
            <a:off x="10056114" y="22402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1" name="Text 29"/>
          <p:cNvSpPr txBox="1"/>
          <p:nvPr/>
        </p:nvSpPr>
        <p:spPr>
          <a:xfrm>
            <a:off x="10056114" y="2834640"/>
            <a:ext cx="1264158" cy="1371600"/>
          </a:xfrm>
          <a:prstGeom prst="rect">
            <a:avLst/>
          </a:prstGeom>
          <a:noFill/>
          <a:ln/>
        </p:spPr>
        <p:txBody>
          <a:bodyPr wrap="square" lIns="0" tIns="0" rIns="0" bIns="0" rtlCol="0" anchor="t"/>
          <a:lstStyle/>
          <a:p>
            <a:pPr indent="0" marL="0">
              <a:buNone/>
            </a:pPr>
            <a:r>
              <a:rPr lang="en-US" sz="1500" dirty="0">
                <a:solidFill>
                  <a:schemeClr val="tx1"/>
                </a:solidFill>
              </a:rPr>
              <a:t>Giải thích và hiển thị kết quả</a:t>
            </a:r>
            <a:endParaRPr lang="en-US" sz="1500" dirty="0"/>
          </a:p>
        </p:txBody>
      </p:sp>
      <p:sp>
        <p:nvSpPr>
          <p:cNvPr id="32" name="Ghi chu suy dien lui"/>
          <p:cNvSpPr/>
          <p:nvPr/>
        </p:nvSpPr>
        <p:spPr>
          <a:xfrm>
            <a:off x="685800" y="4892040"/>
            <a:ext cx="4937760" cy="731520"/>
          </a:xfrm>
          <a:prstGeom prst="roundRect">
            <a:avLst>
              <a:gd name="adj" fmla="val 10000"/>
            </a:avLst>
          </a:prstGeom>
          <a:solidFill>
            <a:schemeClr val="bg1"/>
          </a:solidFill>
          <a:ln w="19050">
            <a:solidFill>
              <a:schemeClr val="accent2"/>
            </a:solidFill>
            <a:prstDash val="dash"/>
          </a:ln>
        </p:spPr>
      </p:sp>
      <p:sp>
        <p:nvSpPr>
          <p:cNvPr id="33" name="Text 31"/>
          <p:cNvSpPr txBox="1"/>
          <p:nvPr/>
        </p:nvSpPr>
        <p:spPr>
          <a:xfrm>
            <a:off x="914400" y="4892040"/>
            <a:ext cx="4480560" cy="731520"/>
          </a:xfrm>
          <a:prstGeom prst="rect">
            <a:avLst/>
          </a:prstGeom>
          <a:noFill/>
          <a:ln/>
        </p:spPr>
        <p:txBody>
          <a:bodyPr wrap="square" lIns="0" tIns="0" rIns="0" bIns="0" rtlCol="0" anchor="ctr"/>
          <a:lstStyle/>
          <a:p>
            <a:pPr indent="0" marL="0">
              <a:buNone/>
            </a:pPr>
            <a:r>
              <a:rPr lang="en-US" sz="1500" dirty="0">
                <a:solidFill>
                  <a:schemeClr val="tx1"/>
                </a:solidFill>
              </a:rPr>
              <a:t>Thiếu dữ liệu → hỏi bổ sung (suy diễn lùi)</a:t>
            </a:r>
            <a:endParaRPr lang="en-US" sz="1500" dirty="0"/>
          </a:p>
        </p:txBody>
      </p:sp>
      <p:sp>
        <p:nvSpPr>
          <p:cNvPr id="34" name="Ghi chu Retain"/>
          <p:cNvSpPr/>
          <p:nvPr/>
        </p:nvSpPr>
        <p:spPr>
          <a:xfrm>
            <a:off x="6108192" y="4892040"/>
            <a:ext cx="5394960" cy="731520"/>
          </a:xfrm>
          <a:prstGeom prst="roundRect">
            <a:avLst>
              <a:gd name="adj" fmla="val 10000"/>
            </a:avLst>
          </a:prstGeom>
          <a:solidFill>
            <a:schemeClr val="bg1"/>
          </a:solidFill>
          <a:ln w="19050">
            <a:solidFill>
              <a:schemeClr val="accent3"/>
            </a:solidFill>
            <a:prstDash val="dash"/>
          </a:ln>
        </p:spPr>
      </p:sp>
      <p:sp>
        <p:nvSpPr>
          <p:cNvPr id="35" name="Text 33"/>
          <p:cNvSpPr txBox="1"/>
          <p:nvPr/>
        </p:nvSpPr>
        <p:spPr>
          <a:xfrm>
            <a:off x="6336792" y="4892040"/>
            <a:ext cx="4937760" cy="731520"/>
          </a:xfrm>
          <a:prstGeom prst="rect">
            <a:avLst/>
          </a:prstGeom>
          <a:noFill/>
          <a:ln/>
        </p:spPr>
        <p:txBody>
          <a:bodyPr wrap="square" lIns="0" tIns="0" rIns="0" bIns="0" rtlCol="0" anchor="ctr"/>
          <a:lstStyle/>
          <a:p>
            <a:pPr indent="0" marL="0">
              <a:buNone/>
            </a:pPr>
            <a:r>
              <a:rPr lang="en-US" sz="1500" dirty="0">
                <a:solidFill>
                  <a:schemeClr val="tx1"/>
                </a:solidFill>
              </a:rPr>
              <a:t>Có giá giao dịch thực tế → lưu tình huống mới (Retain)</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411480"/>
            <a:ext cx="10817352" cy="36576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KẾ HOẠCH TIẾP THEO</a:t>
            </a:r>
            <a:endParaRPr lang="en-US" sz="1200" dirty="0"/>
          </a:p>
        </p:txBody>
      </p:sp>
      <p:sp>
        <p:nvSpPr>
          <p:cNvPr id="3" name="Text 0"/>
          <p:cNvSpPr/>
          <p:nvPr>
            <p:ph idx="101" type="title" hasCustomPrompt="1"/>
          </p:nvPr>
        </p:nvSpPr>
        <p:spPr>
          <a:xfrm>
            <a:off x="685800" y="777240"/>
            <a:ext cx="10817352" cy="731520"/>
          </a:xfrm>
          <a:prstGeom prst="rect">
            <a:avLst/>
          </a:prstGeom>
          <a:noFill/>
          <a:ln/>
        </p:spPr>
        <p:txBody>
          <a:bodyPr wrap="square" lIns="0" tIns="0" rIns="0" bIns="0" rtlCol="0" anchor="ctr"/>
          <a:lstStyle/>
          <a:p>
            <a:pPr algn="l" indent="0" marL="0">
              <a:buNone/>
            </a:pPr>
            <a:r>
              <a:rPr lang="en-US" sz="3000" b="1" dirty="0">
                <a:solidFill>
                  <a:schemeClr val="tx1"/>
                </a:solidFill>
              </a:rPr>
              <a:t>Công nghệ và kế hoạch Chương 3</a:t>
            </a:r>
            <a:endParaRPr lang="en-US" sz="3000" dirty="0"/>
          </a:p>
        </p:txBody>
      </p:sp>
      <p:sp>
        <p:nvSpPr>
          <p:cNvPr id="4" name="Text 2"/>
          <p:cNvSpPr txBox="1"/>
          <p:nvPr/>
        </p:nvSpPr>
        <p:spPr>
          <a:xfrm>
            <a:off x="685800" y="1737360"/>
            <a:ext cx="5394960" cy="365760"/>
          </a:xfrm>
          <a:prstGeom prst="rect">
            <a:avLst/>
          </a:prstGeom>
          <a:noFill/>
          <a:ln/>
        </p:spPr>
        <p:txBody>
          <a:bodyPr wrap="square" lIns="0" tIns="0" rIns="0" bIns="0" rtlCol="0" anchor="t"/>
          <a:lstStyle/>
          <a:p>
            <a:pPr indent="0" marL="0">
              <a:buNone/>
            </a:pPr>
            <a:r>
              <a:rPr lang="en-US" sz="1800" b="1" dirty="0">
                <a:solidFill>
                  <a:schemeClr val="accent2"/>
                </a:solidFill>
              </a:rPr>
              <a:t>Công nghệ sử dụng</a:t>
            </a:r>
            <a:endParaRPr lang="en-US" sz="1800" dirty="0"/>
          </a:p>
        </p:txBody>
      </p:sp>
      <p:sp>
        <p:nvSpPr>
          <p:cNvPr id="5" name="Cong nghe 1"/>
          <p:cNvSpPr/>
          <p:nvPr/>
        </p:nvSpPr>
        <p:spPr>
          <a:xfrm>
            <a:off x="685800" y="2240280"/>
            <a:ext cx="2606040" cy="512064"/>
          </a:xfrm>
          <a:prstGeom prst="roundRect">
            <a:avLst>
              <a:gd name="adj" fmla="val 14286"/>
            </a:avLst>
          </a:prstGeom>
          <a:solidFill>
            <a:schemeClr val="accent5"/>
          </a:solidFill>
          <a:ln/>
        </p:spPr>
      </p:sp>
      <p:sp>
        <p:nvSpPr>
          <p:cNvPr id="6" name="Text 4"/>
          <p:cNvSpPr txBox="1"/>
          <p:nvPr/>
        </p:nvSpPr>
        <p:spPr>
          <a:xfrm>
            <a:off x="868680" y="2240280"/>
            <a:ext cx="2240280" cy="512064"/>
          </a:xfrm>
          <a:prstGeom prst="rect">
            <a:avLst/>
          </a:prstGeom>
          <a:noFill/>
          <a:ln/>
        </p:spPr>
        <p:txBody>
          <a:bodyPr wrap="square" lIns="0" tIns="0" rIns="0" bIns="0" rtlCol="0" anchor="ctr"/>
          <a:lstStyle/>
          <a:p>
            <a:pPr indent="0" marL="0">
              <a:buNone/>
            </a:pPr>
            <a:r>
              <a:rPr lang="en-US" sz="1500" dirty="0">
                <a:solidFill>
                  <a:schemeClr val="tx1"/>
                </a:solidFill>
              </a:rPr>
              <a:t>Python 3.11</a:t>
            </a:r>
            <a:endParaRPr lang="en-US" sz="1500" dirty="0"/>
          </a:p>
        </p:txBody>
      </p:sp>
      <p:sp>
        <p:nvSpPr>
          <p:cNvPr id="7" name="Cong nghe 2"/>
          <p:cNvSpPr/>
          <p:nvPr/>
        </p:nvSpPr>
        <p:spPr>
          <a:xfrm>
            <a:off x="3429000" y="2240280"/>
            <a:ext cx="2606040" cy="512064"/>
          </a:xfrm>
          <a:prstGeom prst="roundRect">
            <a:avLst>
              <a:gd name="adj" fmla="val 14286"/>
            </a:avLst>
          </a:prstGeom>
          <a:solidFill>
            <a:schemeClr val="accent5"/>
          </a:solidFill>
          <a:ln/>
        </p:spPr>
      </p:sp>
      <p:sp>
        <p:nvSpPr>
          <p:cNvPr id="8" name="Text 6"/>
          <p:cNvSpPr txBox="1"/>
          <p:nvPr/>
        </p:nvSpPr>
        <p:spPr>
          <a:xfrm>
            <a:off x="3611880" y="2240280"/>
            <a:ext cx="2240280" cy="512064"/>
          </a:xfrm>
          <a:prstGeom prst="rect">
            <a:avLst/>
          </a:prstGeom>
          <a:noFill/>
          <a:ln/>
        </p:spPr>
        <p:txBody>
          <a:bodyPr wrap="square" lIns="0" tIns="0" rIns="0" bIns="0" rtlCol="0" anchor="ctr"/>
          <a:lstStyle/>
          <a:p>
            <a:pPr indent="0" marL="0">
              <a:buNone/>
            </a:pPr>
            <a:r>
              <a:rPr lang="en-US" sz="1500" dirty="0">
                <a:solidFill>
                  <a:schemeClr val="tx1"/>
                </a:solidFill>
              </a:rPr>
              <a:t>Pandas, NumPy</a:t>
            </a:r>
            <a:endParaRPr lang="en-US" sz="1500" dirty="0"/>
          </a:p>
        </p:txBody>
      </p:sp>
      <p:sp>
        <p:nvSpPr>
          <p:cNvPr id="9" name="Cong nghe 3"/>
          <p:cNvSpPr/>
          <p:nvPr/>
        </p:nvSpPr>
        <p:spPr>
          <a:xfrm>
            <a:off x="685800" y="2880360"/>
            <a:ext cx="2606040" cy="512064"/>
          </a:xfrm>
          <a:prstGeom prst="roundRect">
            <a:avLst>
              <a:gd name="adj" fmla="val 14286"/>
            </a:avLst>
          </a:prstGeom>
          <a:solidFill>
            <a:schemeClr val="accent5"/>
          </a:solidFill>
          <a:ln/>
        </p:spPr>
      </p:sp>
      <p:sp>
        <p:nvSpPr>
          <p:cNvPr id="10" name="Text 8"/>
          <p:cNvSpPr txBox="1"/>
          <p:nvPr/>
        </p:nvSpPr>
        <p:spPr>
          <a:xfrm>
            <a:off x="868680" y="2880360"/>
            <a:ext cx="2240280" cy="512064"/>
          </a:xfrm>
          <a:prstGeom prst="rect">
            <a:avLst/>
          </a:prstGeom>
          <a:noFill/>
          <a:ln/>
        </p:spPr>
        <p:txBody>
          <a:bodyPr wrap="square" lIns="0" tIns="0" rIns="0" bIns="0" rtlCol="0" anchor="ctr"/>
          <a:lstStyle/>
          <a:p>
            <a:pPr indent="0" marL="0">
              <a:buNone/>
            </a:pPr>
            <a:r>
              <a:rPr lang="en-US" sz="1500" dirty="0">
                <a:solidFill>
                  <a:schemeClr val="tx1"/>
                </a:solidFill>
              </a:rPr>
              <a:t>scikit-learn</a:t>
            </a:r>
            <a:endParaRPr lang="en-US" sz="1500" dirty="0"/>
          </a:p>
        </p:txBody>
      </p:sp>
      <p:sp>
        <p:nvSpPr>
          <p:cNvPr id="11" name="Cong nghe 4"/>
          <p:cNvSpPr/>
          <p:nvPr/>
        </p:nvSpPr>
        <p:spPr>
          <a:xfrm>
            <a:off x="3429000" y="2880360"/>
            <a:ext cx="2606040" cy="512064"/>
          </a:xfrm>
          <a:prstGeom prst="roundRect">
            <a:avLst>
              <a:gd name="adj" fmla="val 14286"/>
            </a:avLst>
          </a:prstGeom>
          <a:solidFill>
            <a:schemeClr val="accent5"/>
          </a:solidFill>
          <a:ln/>
        </p:spPr>
      </p:sp>
      <p:sp>
        <p:nvSpPr>
          <p:cNvPr id="12" name="Text 10"/>
          <p:cNvSpPr txBox="1"/>
          <p:nvPr/>
        </p:nvSpPr>
        <p:spPr>
          <a:xfrm>
            <a:off x="3611880" y="2880360"/>
            <a:ext cx="2240280" cy="512064"/>
          </a:xfrm>
          <a:prstGeom prst="rect">
            <a:avLst/>
          </a:prstGeom>
          <a:noFill/>
          <a:ln/>
        </p:spPr>
        <p:txBody>
          <a:bodyPr wrap="square" lIns="0" tIns="0" rIns="0" bIns="0" rtlCol="0" anchor="ctr"/>
          <a:lstStyle/>
          <a:p>
            <a:pPr indent="0" marL="0">
              <a:buNone/>
            </a:pPr>
            <a:r>
              <a:rPr lang="en-US" sz="1500" dirty="0">
                <a:solidFill>
                  <a:schemeClr val="tx1"/>
                </a:solidFill>
              </a:rPr>
              <a:t>requests, BeautifulSoup</a:t>
            </a:r>
            <a:endParaRPr lang="en-US" sz="1500" dirty="0"/>
          </a:p>
        </p:txBody>
      </p:sp>
      <p:sp>
        <p:nvSpPr>
          <p:cNvPr id="13" name="Cong nghe 5"/>
          <p:cNvSpPr/>
          <p:nvPr/>
        </p:nvSpPr>
        <p:spPr>
          <a:xfrm>
            <a:off x="685800" y="3520440"/>
            <a:ext cx="2606040" cy="512064"/>
          </a:xfrm>
          <a:prstGeom prst="roundRect">
            <a:avLst>
              <a:gd name="adj" fmla="val 14286"/>
            </a:avLst>
          </a:prstGeom>
          <a:solidFill>
            <a:schemeClr val="accent5"/>
          </a:solidFill>
          <a:ln/>
        </p:spPr>
      </p:sp>
      <p:sp>
        <p:nvSpPr>
          <p:cNvPr id="14" name="Text 12"/>
          <p:cNvSpPr txBox="1"/>
          <p:nvPr/>
        </p:nvSpPr>
        <p:spPr>
          <a:xfrm>
            <a:off x="868680" y="3520440"/>
            <a:ext cx="2240280" cy="512064"/>
          </a:xfrm>
          <a:prstGeom prst="rect">
            <a:avLst/>
          </a:prstGeom>
          <a:noFill/>
          <a:ln/>
        </p:spPr>
        <p:txBody>
          <a:bodyPr wrap="square" lIns="0" tIns="0" rIns="0" bIns="0" rtlCol="0" anchor="ctr"/>
          <a:lstStyle/>
          <a:p>
            <a:pPr indent="0" marL="0">
              <a:buNone/>
            </a:pPr>
            <a:r>
              <a:rPr lang="en-US" sz="1500" dirty="0">
                <a:solidFill>
                  <a:schemeClr val="tx1"/>
                </a:solidFill>
              </a:rPr>
              <a:t>JSON, SQLite</a:t>
            </a:r>
            <a:endParaRPr lang="en-US" sz="1500" dirty="0"/>
          </a:p>
        </p:txBody>
      </p:sp>
      <p:sp>
        <p:nvSpPr>
          <p:cNvPr id="15" name="Cong nghe 6"/>
          <p:cNvSpPr/>
          <p:nvPr/>
        </p:nvSpPr>
        <p:spPr>
          <a:xfrm>
            <a:off x="3429000" y="3520440"/>
            <a:ext cx="2606040" cy="512064"/>
          </a:xfrm>
          <a:prstGeom prst="roundRect">
            <a:avLst>
              <a:gd name="adj" fmla="val 14286"/>
            </a:avLst>
          </a:prstGeom>
          <a:solidFill>
            <a:schemeClr val="accent5"/>
          </a:solidFill>
          <a:ln/>
        </p:spPr>
      </p:sp>
      <p:sp>
        <p:nvSpPr>
          <p:cNvPr id="16" name="Text 14"/>
          <p:cNvSpPr txBox="1"/>
          <p:nvPr/>
        </p:nvSpPr>
        <p:spPr>
          <a:xfrm>
            <a:off x="3611880" y="3520440"/>
            <a:ext cx="2240280" cy="512064"/>
          </a:xfrm>
          <a:prstGeom prst="rect">
            <a:avLst/>
          </a:prstGeom>
          <a:noFill/>
          <a:ln/>
        </p:spPr>
        <p:txBody>
          <a:bodyPr wrap="square" lIns="0" tIns="0" rIns="0" bIns="0" rtlCol="0" anchor="ctr"/>
          <a:lstStyle/>
          <a:p>
            <a:pPr indent="0" marL="0">
              <a:buNone/>
            </a:pPr>
            <a:r>
              <a:rPr lang="en-US" sz="1500" dirty="0">
                <a:solidFill>
                  <a:schemeClr val="tx1"/>
                </a:solidFill>
              </a:rPr>
              <a:t>Streamlit, Plotly</a:t>
            </a:r>
            <a:endParaRPr lang="en-US" sz="1500" dirty="0"/>
          </a:p>
        </p:txBody>
      </p:sp>
      <p:sp>
        <p:nvSpPr>
          <p:cNvPr id="17" name="Text 15"/>
          <p:cNvSpPr txBox="1"/>
          <p:nvPr/>
        </p:nvSpPr>
        <p:spPr>
          <a:xfrm>
            <a:off x="685800" y="4343400"/>
            <a:ext cx="5394960" cy="365760"/>
          </a:xfrm>
          <a:prstGeom prst="rect">
            <a:avLst/>
          </a:prstGeom>
          <a:noFill/>
          <a:ln/>
        </p:spPr>
        <p:txBody>
          <a:bodyPr wrap="square" lIns="0" tIns="0" rIns="0" bIns="0" rtlCol="0" anchor="t"/>
          <a:lstStyle/>
          <a:p>
            <a:pPr indent="0" marL="0">
              <a:buNone/>
            </a:pPr>
            <a:r>
              <a:rPr lang="en-US" sz="1800" b="1" dirty="0">
                <a:solidFill>
                  <a:schemeClr val="accent2"/>
                </a:solidFill>
              </a:rPr>
              <a:t>Chỉ tiêu</a:t>
            </a:r>
            <a:endParaRPr lang="en-US" sz="1800" dirty="0"/>
          </a:p>
        </p:txBody>
      </p:sp>
      <p:sp>
        <p:nvSpPr>
          <p:cNvPr id="18" name="Chi tieu 1"/>
          <p:cNvSpPr/>
          <p:nvPr/>
        </p:nvSpPr>
        <p:spPr>
          <a:xfrm>
            <a:off x="685800" y="4846320"/>
            <a:ext cx="1700784" cy="685800"/>
          </a:xfrm>
          <a:prstGeom prst="roundRect">
            <a:avLst>
              <a:gd name="adj" fmla="val 10667"/>
            </a:avLst>
          </a:prstGeom>
          <a:solidFill>
            <a:schemeClr val="tx1"/>
          </a:solidFill>
          <a:ln/>
        </p:spPr>
      </p:sp>
      <p:sp>
        <p:nvSpPr>
          <p:cNvPr id="19" name="Text 17"/>
          <p:cNvSpPr txBox="1"/>
          <p:nvPr/>
        </p:nvSpPr>
        <p:spPr>
          <a:xfrm>
            <a:off x="685800" y="4846320"/>
            <a:ext cx="1700784" cy="685800"/>
          </a:xfrm>
          <a:prstGeom prst="rect">
            <a:avLst/>
          </a:prstGeom>
          <a:noFill/>
          <a:ln/>
        </p:spPr>
        <p:txBody>
          <a:bodyPr wrap="square" lIns="0" tIns="0" rIns="0" bIns="0" rtlCol="0" anchor="ctr"/>
          <a:lstStyle/>
          <a:p>
            <a:pPr algn="ctr" indent="0" marL="0">
              <a:buNone/>
            </a:pPr>
            <a:r>
              <a:rPr lang="en-US" sz="1400" b="1" dirty="0">
                <a:solidFill>
                  <a:schemeClr val="bg1"/>
                </a:solidFill>
              </a:rPr>
              <a:t>MAPE &lt; 12%</a:t>
            </a:r>
            <a:endParaRPr lang="en-US" sz="1400" dirty="0"/>
          </a:p>
        </p:txBody>
      </p:sp>
      <p:sp>
        <p:nvSpPr>
          <p:cNvPr id="20" name="Chi tieu 2"/>
          <p:cNvSpPr/>
          <p:nvPr/>
        </p:nvSpPr>
        <p:spPr>
          <a:xfrm>
            <a:off x="2496312" y="4846320"/>
            <a:ext cx="1700784" cy="685800"/>
          </a:xfrm>
          <a:prstGeom prst="roundRect">
            <a:avLst>
              <a:gd name="adj" fmla="val 10667"/>
            </a:avLst>
          </a:prstGeom>
          <a:solidFill>
            <a:schemeClr val="tx1"/>
          </a:solidFill>
          <a:ln/>
        </p:spPr>
      </p:sp>
      <p:sp>
        <p:nvSpPr>
          <p:cNvPr id="21" name="Text 19"/>
          <p:cNvSpPr txBox="1"/>
          <p:nvPr/>
        </p:nvSpPr>
        <p:spPr>
          <a:xfrm>
            <a:off x="2496312" y="4846320"/>
            <a:ext cx="1700784" cy="685800"/>
          </a:xfrm>
          <a:prstGeom prst="rect">
            <a:avLst/>
          </a:prstGeom>
          <a:noFill/>
          <a:ln/>
        </p:spPr>
        <p:txBody>
          <a:bodyPr wrap="square" lIns="0" tIns="0" rIns="0" bIns="0" rtlCol="0" anchor="ctr"/>
          <a:lstStyle/>
          <a:p>
            <a:pPr algn="ctr" indent="0" marL="0">
              <a:buNone/>
            </a:pPr>
            <a:r>
              <a:rPr lang="en-US" sz="1400" b="1" dirty="0">
                <a:solidFill>
                  <a:schemeClr val="bg1"/>
                </a:solidFill>
              </a:rPr>
              <a:t>100% có giải thích</a:t>
            </a:r>
            <a:endParaRPr lang="en-US" sz="1400" dirty="0"/>
          </a:p>
        </p:txBody>
      </p:sp>
      <p:sp>
        <p:nvSpPr>
          <p:cNvPr id="22" name="Chi tieu 3"/>
          <p:cNvSpPr/>
          <p:nvPr/>
        </p:nvSpPr>
        <p:spPr>
          <a:xfrm>
            <a:off x="4306824" y="4846320"/>
            <a:ext cx="1700784" cy="685800"/>
          </a:xfrm>
          <a:prstGeom prst="roundRect">
            <a:avLst>
              <a:gd name="adj" fmla="val 10667"/>
            </a:avLst>
          </a:prstGeom>
          <a:solidFill>
            <a:schemeClr val="tx1"/>
          </a:solidFill>
          <a:ln/>
        </p:spPr>
      </p:sp>
      <p:sp>
        <p:nvSpPr>
          <p:cNvPr id="23" name="Text 21"/>
          <p:cNvSpPr txBox="1"/>
          <p:nvPr/>
        </p:nvSpPr>
        <p:spPr>
          <a:xfrm>
            <a:off x="4306824" y="4846320"/>
            <a:ext cx="1700784" cy="685800"/>
          </a:xfrm>
          <a:prstGeom prst="rect">
            <a:avLst/>
          </a:prstGeom>
          <a:noFill/>
          <a:ln/>
        </p:spPr>
        <p:txBody>
          <a:bodyPr wrap="square" lIns="0" tIns="0" rIns="0" bIns="0" rtlCol="0" anchor="ctr"/>
          <a:lstStyle/>
          <a:p>
            <a:pPr algn="ctr" indent="0" marL="0">
              <a:buNone/>
            </a:pPr>
            <a:r>
              <a:rPr lang="en-US" sz="1400" b="1" dirty="0">
                <a:solidFill>
                  <a:schemeClr val="bg1"/>
                </a:solidFill>
              </a:rPr>
              <a:t>&lt; 2 giây</a:t>
            </a:r>
            <a:endParaRPr lang="en-US" sz="1400" dirty="0"/>
          </a:p>
        </p:txBody>
      </p:sp>
      <p:sp>
        <p:nvSpPr>
          <p:cNvPr id="24" name="Text 22"/>
          <p:cNvSpPr txBox="1"/>
          <p:nvPr/>
        </p:nvSpPr>
        <p:spPr>
          <a:xfrm>
            <a:off x="6583680" y="1737360"/>
            <a:ext cx="4919472" cy="365760"/>
          </a:xfrm>
          <a:prstGeom prst="rect">
            <a:avLst/>
          </a:prstGeom>
          <a:noFill/>
          <a:ln/>
        </p:spPr>
        <p:txBody>
          <a:bodyPr wrap="square" lIns="0" tIns="0" rIns="0" bIns="0" rtlCol="0" anchor="t"/>
          <a:lstStyle/>
          <a:p>
            <a:pPr indent="0" marL="0">
              <a:buNone/>
            </a:pPr>
            <a:r>
              <a:rPr lang="en-US" sz="1800" b="1" dirty="0">
                <a:solidFill>
                  <a:schemeClr val="accent2"/>
                </a:solidFill>
              </a:rPr>
              <a:t>Các bước thực hiện</a:t>
            </a:r>
            <a:endParaRPr lang="en-US" sz="1800" dirty="0"/>
          </a:p>
        </p:txBody>
      </p:sp>
      <p:sp>
        <p:nvSpPr>
          <p:cNvPr id="25" name="So 1"/>
          <p:cNvSpPr/>
          <p:nvPr/>
        </p:nvSpPr>
        <p:spPr>
          <a:xfrm>
            <a:off x="6583680" y="2286000"/>
            <a:ext cx="411480" cy="411480"/>
          </a:xfrm>
          <a:prstGeom prst="ellipse">
            <a:avLst/>
          </a:prstGeom>
          <a:solidFill>
            <a:schemeClr val="accent1"/>
          </a:solidFill>
          <a:ln/>
        </p:spPr>
      </p:sp>
      <p:sp>
        <p:nvSpPr>
          <p:cNvPr id="26" name="Text 24"/>
          <p:cNvSpPr txBox="1"/>
          <p:nvPr/>
        </p:nvSpPr>
        <p:spPr>
          <a:xfrm>
            <a:off x="6583680" y="2286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7" name="Text 25"/>
          <p:cNvSpPr txBox="1"/>
          <p:nvPr/>
        </p:nvSpPr>
        <p:spPr>
          <a:xfrm>
            <a:off x="7178040" y="2240280"/>
            <a:ext cx="4325112" cy="640080"/>
          </a:xfrm>
          <a:prstGeom prst="rect">
            <a:avLst/>
          </a:prstGeom>
          <a:noFill/>
          <a:ln/>
        </p:spPr>
        <p:txBody>
          <a:bodyPr wrap="square" lIns="0" tIns="0" rIns="0" bIns="0" rtlCol="0" anchor="t"/>
          <a:lstStyle/>
          <a:p>
            <a:pPr indent="0" marL="0">
              <a:buNone/>
            </a:pPr>
            <a:r>
              <a:rPr lang="en-US" sz="1500" dirty="0">
                <a:solidFill>
                  <a:schemeClr val="tx1"/>
                </a:solidFill>
              </a:rPr>
              <a:t>Thu thập, làm sạch dữ liệu tin rao</a:t>
            </a:r>
            <a:endParaRPr lang="en-US" sz="1500" dirty="0"/>
          </a:p>
        </p:txBody>
      </p:sp>
      <p:sp>
        <p:nvSpPr>
          <p:cNvPr id="28" name="So 2"/>
          <p:cNvSpPr/>
          <p:nvPr/>
        </p:nvSpPr>
        <p:spPr>
          <a:xfrm>
            <a:off x="6583680" y="3017520"/>
            <a:ext cx="411480" cy="411480"/>
          </a:xfrm>
          <a:prstGeom prst="ellipse">
            <a:avLst/>
          </a:prstGeom>
          <a:solidFill>
            <a:schemeClr val="accent1"/>
          </a:solidFill>
          <a:ln/>
        </p:spPr>
      </p:sp>
      <p:sp>
        <p:nvSpPr>
          <p:cNvPr id="29" name="Text 27"/>
          <p:cNvSpPr txBox="1"/>
          <p:nvPr/>
        </p:nvSpPr>
        <p:spPr>
          <a:xfrm>
            <a:off x="6583680" y="30175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0" name="Text 28"/>
          <p:cNvSpPr txBox="1"/>
          <p:nvPr/>
        </p:nvSpPr>
        <p:spPr>
          <a:xfrm>
            <a:off x="7178040" y="2971800"/>
            <a:ext cx="4325112" cy="640080"/>
          </a:xfrm>
          <a:prstGeom prst="rect">
            <a:avLst/>
          </a:prstGeom>
          <a:noFill/>
          <a:ln/>
        </p:spPr>
        <p:txBody>
          <a:bodyPr wrap="square" lIns="0" tIns="0" rIns="0" bIns="0" rtlCol="0" anchor="t"/>
          <a:lstStyle/>
          <a:p>
            <a:pPr indent="0" marL="0">
              <a:buNone/>
            </a:pPr>
            <a:r>
              <a:rPr lang="en-US" sz="1500" dirty="0">
                <a:solidFill>
                  <a:schemeClr val="tx1"/>
                </a:solidFill>
              </a:rPr>
              <a:t>Cài đặt khung, tập luật; hiệu chỉnh hệ số bằng dữ liệu</a:t>
            </a:r>
            <a:endParaRPr lang="en-US" sz="1500" dirty="0"/>
          </a:p>
        </p:txBody>
      </p:sp>
      <p:sp>
        <p:nvSpPr>
          <p:cNvPr id="31" name="So 3"/>
          <p:cNvSpPr/>
          <p:nvPr/>
        </p:nvSpPr>
        <p:spPr>
          <a:xfrm>
            <a:off x="6583680" y="3749040"/>
            <a:ext cx="411480" cy="411480"/>
          </a:xfrm>
          <a:prstGeom prst="ellipse">
            <a:avLst/>
          </a:prstGeom>
          <a:solidFill>
            <a:schemeClr val="accent1"/>
          </a:solidFill>
          <a:ln/>
        </p:spPr>
      </p:sp>
      <p:sp>
        <p:nvSpPr>
          <p:cNvPr id="32" name="Text 30"/>
          <p:cNvSpPr txBox="1"/>
          <p:nvPr/>
        </p:nvSpPr>
        <p:spPr>
          <a:xfrm>
            <a:off x="6583680" y="37490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3" name="Text 31"/>
          <p:cNvSpPr txBox="1"/>
          <p:nvPr/>
        </p:nvSpPr>
        <p:spPr>
          <a:xfrm>
            <a:off x="7178040" y="3703320"/>
            <a:ext cx="4325112" cy="640080"/>
          </a:xfrm>
          <a:prstGeom prst="rect">
            <a:avLst/>
          </a:prstGeom>
          <a:noFill/>
          <a:ln/>
        </p:spPr>
        <p:txBody>
          <a:bodyPr wrap="square" lIns="0" tIns="0" rIns="0" bIns="0" rtlCol="0" anchor="t"/>
          <a:lstStyle/>
          <a:p>
            <a:pPr indent="0" marL="0">
              <a:buNone/>
            </a:pPr>
            <a:r>
              <a:rPr lang="en-US" sz="1500" dirty="0">
                <a:solidFill>
                  <a:schemeClr val="tx1"/>
                </a:solidFill>
              </a:rPr>
              <a:t>Cài đặt máy suy diễn, mô-đun CBR, Random Forest</a:t>
            </a:r>
            <a:endParaRPr lang="en-US" sz="1500" dirty="0"/>
          </a:p>
        </p:txBody>
      </p:sp>
      <p:sp>
        <p:nvSpPr>
          <p:cNvPr id="34" name="So 4"/>
          <p:cNvSpPr/>
          <p:nvPr/>
        </p:nvSpPr>
        <p:spPr>
          <a:xfrm>
            <a:off x="6583680" y="4480560"/>
            <a:ext cx="411480" cy="411480"/>
          </a:xfrm>
          <a:prstGeom prst="ellipse">
            <a:avLst/>
          </a:prstGeom>
          <a:solidFill>
            <a:schemeClr val="accent1"/>
          </a:solidFill>
          <a:ln/>
        </p:spPr>
      </p:sp>
      <p:sp>
        <p:nvSpPr>
          <p:cNvPr id="35" name="Text 33"/>
          <p:cNvSpPr txBox="1"/>
          <p:nvPr/>
        </p:nvSpPr>
        <p:spPr>
          <a:xfrm>
            <a:off x="6583680" y="44805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6" name="Text 34"/>
          <p:cNvSpPr txBox="1"/>
          <p:nvPr/>
        </p:nvSpPr>
        <p:spPr>
          <a:xfrm>
            <a:off x="7178040" y="4434840"/>
            <a:ext cx="4325112" cy="640080"/>
          </a:xfrm>
          <a:prstGeom prst="rect">
            <a:avLst/>
          </a:prstGeom>
          <a:noFill/>
          <a:ln/>
        </p:spPr>
        <p:txBody>
          <a:bodyPr wrap="square" lIns="0" tIns="0" rIns="0" bIns="0" rtlCol="0" anchor="t"/>
          <a:lstStyle/>
          <a:p>
            <a:pPr indent="0" marL="0">
              <a:buNone/>
            </a:pPr>
            <a:r>
              <a:rPr lang="en-US" sz="1500" dirty="0">
                <a:solidFill>
                  <a:schemeClr val="tx1"/>
                </a:solidFill>
              </a:rPr>
              <a:t>Đánh giá MAE, MAPE, R²; so sánh luật, CBR, RF và kết hợp</a:t>
            </a:r>
            <a:endParaRPr lang="en-US" sz="1500" dirty="0"/>
          </a:p>
        </p:txBody>
      </p:sp>
      <p:sp>
        <p:nvSpPr>
          <p:cNvPr id="37" name="So 5"/>
          <p:cNvSpPr/>
          <p:nvPr/>
        </p:nvSpPr>
        <p:spPr>
          <a:xfrm>
            <a:off x="6583680" y="5212080"/>
            <a:ext cx="411480" cy="411480"/>
          </a:xfrm>
          <a:prstGeom prst="ellipse">
            <a:avLst/>
          </a:prstGeom>
          <a:solidFill>
            <a:schemeClr val="accent1"/>
          </a:solidFill>
          <a:ln/>
        </p:spPr>
      </p:sp>
      <p:sp>
        <p:nvSpPr>
          <p:cNvPr id="38" name="Text 36"/>
          <p:cNvSpPr txBox="1"/>
          <p:nvPr/>
        </p:nvSpPr>
        <p:spPr>
          <a:xfrm>
            <a:off x="6583680" y="52120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9" name="Text 37"/>
          <p:cNvSpPr txBox="1"/>
          <p:nvPr/>
        </p:nvSpPr>
        <p:spPr>
          <a:xfrm>
            <a:off x="7178040" y="5166360"/>
            <a:ext cx="4325112" cy="640080"/>
          </a:xfrm>
          <a:prstGeom prst="rect">
            <a:avLst/>
          </a:prstGeom>
          <a:noFill/>
          <a:ln/>
        </p:spPr>
        <p:txBody>
          <a:bodyPr wrap="square" lIns="0" tIns="0" rIns="0" bIns="0" rtlCol="0" anchor="t"/>
          <a:lstStyle/>
          <a:p>
            <a:pPr indent="0" marL="0">
              <a:buNone/>
            </a:pPr>
            <a:r>
              <a:rPr lang="en-US" sz="1500" dirty="0">
                <a:solidFill>
                  <a:schemeClr val="tx1"/>
                </a:solidFill>
              </a:rPr>
              <a:t>Hoàn thiện giao diện, demo sản phẩm</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85800" y="1371600"/>
            <a:ext cx="10817352" cy="365760"/>
          </a:xfrm>
          <a:prstGeom prst="rect">
            <a:avLst/>
          </a:prstGeom>
          <a:noFill/>
          <a:ln/>
        </p:spPr>
        <p:txBody>
          <a:bodyPr wrap="square" lIns="0" tIns="0" rIns="0" bIns="0" rtlCol="0" anchor="t"/>
          <a:lstStyle/>
          <a:p>
            <a:pPr indent="0" marL="0">
              <a:buNone/>
            </a:pPr>
            <a:r>
              <a:rPr lang="en-US" sz="1300" b="1" spc="200" kern="0" dirty="0">
                <a:solidFill>
                  <a:schemeClr val="accent4"/>
                </a:solidFill>
              </a:rPr>
              <a:t>HỆ HỖ TRỢ QUYẾT ĐỊNH ĐỊNH GIÁ XE Ô TÔ CŨ</a:t>
            </a:r>
            <a:endParaRPr lang="en-US" sz="1300" dirty="0"/>
          </a:p>
        </p:txBody>
      </p:sp>
      <p:sp>
        <p:nvSpPr>
          <p:cNvPr id="3" name="Text 0"/>
          <p:cNvSpPr/>
          <p:nvPr>
            <p:ph idx="100" type="title" hasCustomPrompt="1"/>
          </p:nvPr>
        </p:nvSpPr>
        <p:spPr>
          <a:xfrm>
            <a:off x="685800" y="1828800"/>
            <a:ext cx="10817352" cy="2011680"/>
          </a:xfrm>
          <a:prstGeom prst="rect">
            <a:avLst/>
          </a:prstGeom>
          <a:noFill/>
          <a:ln/>
        </p:spPr>
        <p:txBody>
          <a:bodyPr wrap="square" lIns="0" tIns="0" rIns="0" bIns="0" rtlCol="0" anchor="ctr"/>
          <a:lstStyle/>
          <a:p>
            <a:pPr algn="l" indent="0" marL="0">
              <a:buNone/>
            </a:pPr>
            <a:r>
              <a:rPr lang="en-US" sz="4000" b="1" dirty="0">
                <a:solidFill>
                  <a:schemeClr val="bg1"/>
                </a:solidFill>
              </a:rPr>
              <a:t>Cảm ơn Cô và các bạn đã lắng nghe</a:t>
            </a:r>
            <a:endParaRPr lang="en-US" sz="4000" dirty="0"/>
          </a:p>
        </p:txBody>
      </p:sp>
      <p:sp>
        <p:nvSpPr>
          <p:cNvPr id="4" name="Text 2"/>
          <p:cNvSpPr txBox="1"/>
          <p:nvPr/>
        </p:nvSpPr>
        <p:spPr>
          <a:xfrm>
            <a:off x="685800" y="4023360"/>
            <a:ext cx="10817352" cy="548640"/>
          </a:xfrm>
          <a:prstGeom prst="rect">
            <a:avLst/>
          </a:prstGeom>
          <a:noFill/>
          <a:ln/>
        </p:spPr>
        <p:txBody>
          <a:bodyPr wrap="square" lIns="0" tIns="0" rIns="0" bIns="0" rtlCol="0" anchor="t"/>
          <a:lstStyle/>
          <a:p>
            <a:pPr indent="0" marL="0">
              <a:buNone/>
            </a:pPr>
            <a:r>
              <a:rPr lang="en-US" sz="2200" dirty="0">
                <a:solidFill>
                  <a:schemeClr val="accent5"/>
                </a:solidFill>
              </a:rPr>
              <a:t>Hỏi và đáp</a:t>
            </a:r>
            <a:endParaRPr lang="en-US" sz="2200" dirty="0"/>
          </a:p>
        </p:txBody>
      </p:sp>
    </p:spTree>
  </p:cSld>
  <p:clrMapOvr>
    <a:masterClrMapping/>
  </p:clrMapOvr>
</p:sld>
</file>

<file path=ppt/theme/theme1.xml><?xml version="1.0" encoding="utf-8"?>
<a:theme xmlns:a="http://schemas.openxmlformats.org/drawingml/2006/main" name="Dinh gia xe">
  <a:themeElements>
    <a:clrScheme name="Dinh gia xe">
      <a:dk1>
        <a:srgbClr val="14213D"/>
      </a:dk1>
      <a:lt1>
        <a:srgbClr val="FFFFFF"/>
      </a:lt1>
      <a:dk2>
        <a:srgbClr val="3D4757"/>
      </a:dk2>
      <a:lt2>
        <a:srgbClr val="F2F4F8"/>
      </a:lt2>
      <a:accent1>
        <a:srgbClr val="B5530E"/>
      </a:accent1>
      <a:accent2>
        <a:srgbClr val="2F5597"/>
      </a:accent2>
      <a:accent3>
        <a:srgbClr val="548235"/>
      </a:accent3>
      <a:accent4>
        <a:srgbClr val="F2A65A"/>
      </a:accent4>
      <a:accent5>
        <a:srgbClr val="E4EBF5"/>
      </a:accent5>
      <a:accent6>
        <a:srgbClr val="FBE9DC"/>
      </a:accent6>
      <a:hlink>
        <a:srgbClr val="2F5597"/>
      </a:hlink>
      <a:folHlink>
        <a:srgbClr val="6B4E9B"/>
      </a:folHlink>
    </a:clrScheme>
    <a:fontScheme name="Dinh gia x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hỗ trợ quyết định định giá xe ô tô cũ</dc:title>
  <dc:subject>PptxGenJS Presentation</dc:subject>
  <dc:creator>PptxGenJS</dc:creator>
  <cp:lastModifiedBy>PptxGenJS</cp:lastModifiedBy>
  <cp:revision>1</cp:revision>
  <dcterms:created xsi:type="dcterms:W3CDTF">2026-10-22T11:07:09Z</dcterms:created>
  <dcterms:modified xsi:type="dcterms:W3CDTF">2026-10-22T11:07:09Z</dcterms:modified>
</cp:coreProperties>
</file>